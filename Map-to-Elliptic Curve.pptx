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1.xml" ContentType="application/vnd.openxmlformats-officedocument.presentationml.comments+xml"/>
  <Override PartName="/ppt/notesSlides/notesSlide5.xml" ContentType="application/vnd.openxmlformats-officedocument.presentationml.notesSlide+xml"/>
  <Override PartName="/ppt/comments/comment2.xml" ContentType="application/vnd.openxmlformats-officedocument.presentationml.comments+xml"/>
  <Override PartName="/ppt/notesSlides/notesSlide6.xml" ContentType="application/vnd.openxmlformats-officedocument.presentationml.notesSlide+xml"/>
  <Override PartName="/ppt/comments/comment3.xml" ContentType="application/vnd.openxmlformats-officedocument.presentationml.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4.xml" ContentType="application/vnd.openxmlformats-officedocument.presentationml.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5.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6.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7.xml" ContentType="application/vnd.openxmlformats-officedocument.presentationml.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comment8.xml" ContentType="application/vnd.openxmlformats-officedocument.presentationml.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7"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9144000" cy="5143500" type="screen16x9"/>
  <p:notesSz cx="6858000" cy="9144000"/>
  <p:embeddedFontLst>
    <p:embeddedFont>
      <p:font typeface="Alfa Slab One" pitchFamily="2" charset="77"/>
      <p:regular r:id="rId35"/>
    </p:embeddedFont>
    <p:embeddedFont>
      <p:font typeface="Cambria Math" panose="02040503050406030204" pitchFamily="18" charset="0"/>
      <p:regular r:id="rId36"/>
    </p:embeddedFont>
    <p:embeddedFont>
      <p:font typeface="Proxima Nova" panose="02000506030000020004"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i-Nuo Zhang" initials="" lastIdx="7" clrIdx="0"/>
  <p:cmAuthor id="1" name="Harjasleen Malvai" initials="" lastIdx="4"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A832BE-3CD2-4282-82B5-36E73DAF2A56}">
  <a:tblStyle styleId="{FEA832BE-3CD2-4282-82B5-36E73DAF2A5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4CC306E-BBAB-4992-8190-F750539B131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30"/>
    <p:restoredTop sz="82151"/>
  </p:normalViewPr>
  <p:slideViewPr>
    <p:cSldViewPr snapToGrid="0">
      <p:cViewPr varScale="1">
        <p:scale>
          <a:sx n="164" d="100"/>
          <a:sy n="164" d="100"/>
        </p:scale>
        <p:origin x="1232"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11-28T19:06:56.512" idx="1">
    <p:pos x="196" y="280"/>
    <p:text>In this slide, give the construction, and do mention what is a hash to gorup?</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5-11-28T19:07:46.786" idx="2">
    <p:pos x="196" y="280"/>
    <p:text>In this slide, talk about why this is secure (collision resistant). you may want to rearrange the slides so that the workflow is def+construction+security proof</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5-12-04T16:33:17.235" idx="2">
    <p:pos x="196" y="280"/>
    <p:text>@yinuo.yz@gmail.com did you have more things in mind re:cost model without going into too much detail?</p:text>
  </p:cm>
  <p:cm authorId="1" dt="2025-12-04T17:44:51.641" idx="1">
    <p:pos x="196" y="280"/>
    <p:text>Will add some scale here to show what is good and bad in terms of constraint cost.</p:text>
  </p:cm>
  <p:cm authorId="0" dt="2025-12-04T17:44:51.641" idx="3">
    <p:pos x="196" y="280"/>
    <p:text>For examples, you can just use R1CS alone.</p:text>
  </p:cm>
</p:cmLst>
</file>

<file path=ppt/comments/comment4.xml><?xml version="1.0" encoding="utf-8"?>
<p:cmLst xmlns:a="http://schemas.openxmlformats.org/drawingml/2006/main" xmlns:r="http://schemas.openxmlformats.org/officeDocument/2006/relationships" xmlns:p="http://schemas.openxmlformats.org/presentationml/2006/main">
  <p:cm authorId="0" dt="2025-11-28T18:53:51.248" idx="4">
    <p:pos x="149" y="2658"/>
    <p:text>Here make teh conclusion to be if the mylit hash is not constraint friendly, the zkVM will be slow</p:text>
  </p:cm>
</p:cmLst>
</file>

<file path=ppt/comments/comment5.xml><?xml version="1.0" encoding="utf-8"?>
<p:cmLst xmlns:a="http://schemas.openxmlformats.org/drawingml/2006/main" xmlns:r="http://schemas.openxmlformats.org/officeDocument/2006/relationships" xmlns:p="http://schemas.openxmlformats.org/presentationml/2006/main">
  <p:cm authorId="0" dt="2025-11-28T18:55:19.886" idx="5">
    <p:pos x="196" y="280"/>
    <p:text>In this slide, meniotn hash to group int he classical consturciotn as just hash + map to group</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5-12-04T18:12:22.464" idx="3">
    <p:pos x="196" y="725"/>
    <p:text>@yinuo.yz@gmail.com when the order of the group is not prime, then we use a cyclic subgroup with small cofactor, and only map to that subgroup, is this accurate to say?
Does map to curve ensure the subgroup membership on its own? No, right? How do we deal with this?
_Reassigned to yinuo.yz@gmail.com_</p:text>
  </p:cm>
  <p:cm authorId="1" dt="2025-12-04T18:12:22.464" idx="4">
    <p:pos x="196" y="725"/>
    <p:text>There's a clear the cofactor operation to go from full group to subgroup</p:text>
  </p:cm>
</p:cmLst>
</file>

<file path=ppt/comments/comment7.xml><?xml version="1.0" encoding="utf-8"?>
<p:cmLst xmlns:a="http://schemas.openxmlformats.org/drawingml/2006/main" xmlns:r="http://schemas.openxmlformats.org/officeDocument/2006/relationships" xmlns:p="http://schemas.openxmlformats.org/presentationml/2006/main">
  <p:cm authorId="0" dt="2025-11-28T19:11:31.244" idx="6">
    <p:pos x="196" y="280"/>
    <p:text>Meniton that this is the construction originally given in BLS01</p:text>
  </p:cm>
</p:cmLst>
</file>

<file path=ppt/comments/comment8.xml><?xml version="1.0" encoding="utf-8"?>
<p:cmLst xmlns:a="http://schemas.openxmlformats.org/drawingml/2006/main" xmlns:r="http://schemas.openxmlformats.org/officeDocument/2006/relationships" xmlns:p="http://schemas.openxmlformats.org/presentationml/2006/main">
  <p:cm authorId="0" dt="2025-11-28T19:11:56.540" idx="7">
    <p:pos x="196" y="280"/>
    <p:text>Specify the underlying Field of plonk constraints.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a756703ee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a756703ee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Hello everyone, I am Jasleen </a:t>
            </a:r>
            <a:r>
              <a:rPr lang="en" sz="1600" dirty="0" err="1"/>
              <a:t>Malvai</a:t>
            </a:r>
            <a:r>
              <a:rPr lang="en" sz="1600" dirty="0"/>
              <a:t> and I’m a PhD candidate at UIUC, today I will be presenting our work on constraint friendly map-to-elliptic curve group relations, which is joint work with </a:t>
            </a:r>
            <a:r>
              <a:rPr lang="en" sz="1600" dirty="0" err="1"/>
              <a:t>Yinuo</a:t>
            </a:r>
            <a:r>
              <a:rPr lang="en" sz="1600" dirty="0"/>
              <a:t> Zhang, Andrew Miller and </a:t>
            </a:r>
            <a:r>
              <a:rPr lang="en" sz="1600" dirty="0">
                <a:solidFill>
                  <a:schemeClr val="dk1"/>
                </a:solidFill>
              </a:rPr>
              <a:t>Jens </a:t>
            </a:r>
            <a:r>
              <a:rPr lang="en" sz="1600" dirty="0" err="1">
                <a:solidFill>
                  <a:schemeClr val="dk1"/>
                </a:solidFill>
              </a:rPr>
              <a:t>Groth</a:t>
            </a:r>
            <a:r>
              <a:rPr lang="en" sz="1600" dirty="0">
                <a:solidFill>
                  <a:schemeClr val="dk1"/>
                </a:solidFill>
              </a:rPr>
              <a:t>. </a:t>
            </a:r>
            <a:r>
              <a:rPr lang="en" sz="1600" dirty="0"/>
              <a:t> </a:t>
            </a:r>
            <a:endParaRPr sz="16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a756703e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a756703ee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To motivate map-to-curve relations, I’ll first introduce something called a multiset hash function,</a:t>
            </a:r>
            <a:endParaRPr sz="1600" dirty="0"/>
          </a:p>
          <a:p>
            <a:pPr marL="457200" lvl="0" indent="-298450" algn="l" rtl="0">
              <a:spcBef>
                <a:spcPts val="0"/>
              </a:spcBef>
              <a:spcAft>
                <a:spcPts val="0"/>
              </a:spcAft>
              <a:buSzPts val="1100"/>
              <a:buAutoNum type="arabicPeriod"/>
            </a:pPr>
            <a:r>
              <a:rPr lang="en" sz="1600" dirty="0"/>
              <a:t>The name is pretty self-explanatory, a multiset hash consists of a message space M,</a:t>
            </a:r>
            <a:endParaRPr sz="1600" dirty="0"/>
          </a:p>
          <a:p>
            <a:pPr marL="457200" lvl="0" indent="-298450" algn="l" rtl="0">
              <a:spcBef>
                <a:spcPts val="0"/>
              </a:spcBef>
              <a:spcAft>
                <a:spcPts val="0"/>
              </a:spcAft>
              <a:buSzPts val="1100"/>
              <a:buAutoNum type="arabicPeriod"/>
            </a:pPr>
            <a:r>
              <a:rPr lang="en" sz="1600" dirty="0"/>
              <a:t>A digest space D and it maps subsets of M to D.</a:t>
            </a:r>
            <a:endParaRPr sz="1600" dirty="0"/>
          </a:p>
          <a:p>
            <a:pPr marL="457200" lvl="0" indent="-298450" algn="l" rtl="0">
              <a:spcBef>
                <a:spcPts val="0"/>
              </a:spcBef>
              <a:spcAft>
                <a:spcPts val="0"/>
              </a:spcAft>
              <a:buSzPts val="1100"/>
              <a:buAutoNum type="arabicPeriod"/>
            </a:pPr>
            <a:r>
              <a:rPr lang="en" sz="1600" dirty="0"/>
              <a:t>What properties do you want, now?</a:t>
            </a:r>
            <a:endParaRPr sz="1600" dirty="0"/>
          </a:p>
          <a:p>
            <a:pPr marL="457200" lvl="0" indent="-298450" algn="l" rtl="0">
              <a:spcBef>
                <a:spcPts val="0"/>
              </a:spcBef>
              <a:spcAft>
                <a:spcPts val="0"/>
              </a:spcAft>
              <a:buSzPts val="1100"/>
              <a:buAutoNum type="arabicPeriod"/>
            </a:pPr>
            <a:r>
              <a:rPr lang="en" sz="1600" dirty="0"/>
              <a:t>Similar to usual hash function properties:</a:t>
            </a:r>
            <a:endParaRPr sz="1600" dirty="0"/>
          </a:p>
          <a:p>
            <a:pPr marL="914400" lvl="1" indent="-298450" algn="l" rtl="0">
              <a:spcBef>
                <a:spcPts val="0"/>
              </a:spcBef>
              <a:spcAft>
                <a:spcPts val="0"/>
              </a:spcAft>
              <a:buSzPts val="1100"/>
              <a:buAutoNum type="alphaLcPeriod"/>
            </a:pPr>
            <a:r>
              <a:rPr lang="en" sz="1600" dirty="0"/>
              <a:t>Collision resistance and compression.</a:t>
            </a:r>
          </a:p>
          <a:p>
            <a:pPr marL="914400" lvl="1" indent="-298450" algn="l" rtl="0">
              <a:spcBef>
                <a:spcPts val="0"/>
              </a:spcBef>
              <a:spcAft>
                <a:spcPts val="0"/>
              </a:spcAft>
              <a:buSzPts val="1100"/>
              <a:buAutoNum type="alphaLcPeriod"/>
            </a:pPr>
            <a:r>
              <a:rPr lang="en" sz="1600" dirty="0"/>
              <a:t>Note that one additional property compared to regular hashes is that ordering does not matter. </a:t>
            </a:r>
            <a:endParaRPr sz="16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91577e3b2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91577e3b2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motivate map-to-curve relations, I’ll first introduce something called a multiset hash function,</a:t>
            </a:r>
            <a:endParaRPr/>
          </a:p>
          <a:p>
            <a:pPr marL="457200" lvl="0" indent="-298450" algn="l" rtl="0">
              <a:spcBef>
                <a:spcPts val="0"/>
              </a:spcBef>
              <a:spcAft>
                <a:spcPts val="0"/>
              </a:spcAft>
              <a:buSzPts val="1100"/>
              <a:buAutoNum type="arabicPeriod"/>
            </a:pPr>
            <a:r>
              <a:rPr lang="en"/>
              <a:t>The name is pretty self-explanatory, a multiset hash consists of a message space M,</a:t>
            </a:r>
            <a:endParaRPr/>
          </a:p>
          <a:p>
            <a:pPr marL="457200" lvl="0" indent="-298450" algn="l" rtl="0">
              <a:spcBef>
                <a:spcPts val="0"/>
              </a:spcBef>
              <a:spcAft>
                <a:spcPts val="0"/>
              </a:spcAft>
              <a:buSzPts val="1100"/>
              <a:buAutoNum type="arabicPeriod"/>
            </a:pPr>
            <a:r>
              <a:rPr lang="en"/>
              <a:t>A digest space D and it maps subsets of M to D.</a:t>
            </a:r>
            <a:endParaRPr/>
          </a:p>
          <a:p>
            <a:pPr marL="457200" lvl="0" indent="-298450" algn="l" rtl="0">
              <a:spcBef>
                <a:spcPts val="0"/>
              </a:spcBef>
              <a:spcAft>
                <a:spcPts val="0"/>
              </a:spcAft>
              <a:buSzPts val="1100"/>
              <a:buAutoNum type="arabicPeriod"/>
            </a:pPr>
            <a:r>
              <a:rPr lang="en"/>
              <a:t>So a classical construction goes like this: D is a group which is DLOG hard,</a:t>
            </a:r>
            <a:endParaRPr/>
          </a:p>
          <a:p>
            <a:pPr marL="457200" lvl="0" indent="-298450" algn="l" rtl="0">
              <a:spcBef>
                <a:spcPts val="0"/>
              </a:spcBef>
              <a:spcAft>
                <a:spcPts val="0"/>
              </a:spcAft>
              <a:buSzPts val="1100"/>
              <a:buAutoNum type="arabicPeriod"/>
            </a:pPr>
            <a:r>
              <a:rPr lang="en"/>
              <a:t>You have HashToGroup which maps from the message space to the digest space and we assume it’s a random oracle.</a:t>
            </a:r>
            <a:endParaRPr/>
          </a:p>
          <a:p>
            <a:pPr marL="457200" lvl="0" indent="-298450" algn="l" rtl="0">
              <a:spcBef>
                <a:spcPts val="0"/>
              </a:spcBef>
              <a:spcAft>
                <a:spcPts val="0"/>
              </a:spcAft>
              <a:buSzPts val="1100"/>
              <a:buAutoNum type="arabicPeriod"/>
            </a:pPr>
            <a:r>
              <a:rPr lang="en"/>
              <a:t>The multiset hash is just the summation of the hashes of each message m to the group. </a:t>
            </a:r>
            <a:endParaRPr/>
          </a:p>
          <a:p>
            <a:pPr marL="457200" lvl="0" indent="-298450" algn="l" rtl="0">
              <a:spcBef>
                <a:spcPts val="0"/>
              </a:spcBef>
              <a:spcAft>
                <a:spcPts val="0"/>
              </a:spcAft>
              <a:buSzPts val="1100"/>
              <a:buAutoNum type="arabicPeriod"/>
            </a:pPr>
            <a:r>
              <a:rPr lang="en"/>
              <a:t>So you ask why is this a collision resistant multiset hash?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a756703ee3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a756703ee3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AutoNum type="arabicPeriod"/>
            </a:pPr>
            <a:r>
              <a:rPr lang="en" sz="1200" dirty="0">
                <a:solidFill>
                  <a:schemeClr val="dk1"/>
                </a:solidFill>
              </a:rPr>
              <a:t>A classical construction goes like this: D is a group which is DLOG hard,</a:t>
            </a:r>
            <a:endParaRPr sz="1200" dirty="0">
              <a:solidFill>
                <a:schemeClr val="dk1"/>
              </a:solidFill>
            </a:endParaRPr>
          </a:p>
          <a:p>
            <a:pPr marL="457200" lvl="0" indent="-298450" algn="l" rtl="0">
              <a:spcBef>
                <a:spcPts val="0"/>
              </a:spcBef>
              <a:spcAft>
                <a:spcPts val="0"/>
              </a:spcAft>
              <a:buClr>
                <a:schemeClr val="dk1"/>
              </a:buClr>
              <a:buSzPts val="1100"/>
              <a:buAutoNum type="arabicPeriod"/>
            </a:pPr>
            <a:r>
              <a:rPr lang="en" sz="1200" dirty="0">
                <a:solidFill>
                  <a:schemeClr val="dk1"/>
                </a:solidFill>
              </a:rPr>
              <a:t>You have </a:t>
            </a:r>
            <a:r>
              <a:rPr lang="en" sz="1200" dirty="0" err="1">
                <a:solidFill>
                  <a:schemeClr val="dk1"/>
                </a:solidFill>
              </a:rPr>
              <a:t>HashToGroup</a:t>
            </a:r>
            <a:r>
              <a:rPr lang="en" sz="1200" dirty="0">
                <a:solidFill>
                  <a:schemeClr val="dk1"/>
                </a:solidFill>
              </a:rPr>
              <a:t> which maps from the message space to the digest space and we assume it’s a random oracle.</a:t>
            </a:r>
            <a:endParaRPr sz="1200" dirty="0">
              <a:solidFill>
                <a:schemeClr val="dk1"/>
              </a:solidFill>
            </a:endParaRPr>
          </a:p>
          <a:p>
            <a:pPr marL="457200" lvl="0" indent="-298450" algn="l" rtl="0">
              <a:spcBef>
                <a:spcPts val="0"/>
              </a:spcBef>
              <a:spcAft>
                <a:spcPts val="0"/>
              </a:spcAft>
              <a:buClr>
                <a:schemeClr val="dk1"/>
              </a:buClr>
              <a:buSzPts val="1100"/>
              <a:buAutoNum type="arabicPeriod"/>
            </a:pPr>
            <a:r>
              <a:rPr lang="en" sz="1200" dirty="0">
                <a:solidFill>
                  <a:schemeClr val="dk1"/>
                </a:solidFill>
              </a:rPr>
              <a:t>The multiset hash is just the summation of the hashes of each message m to the group. </a:t>
            </a:r>
            <a:endParaRPr sz="1200" dirty="0">
              <a:solidFill>
                <a:schemeClr val="dk1"/>
              </a:solidFill>
            </a:endParaRPr>
          </a:p>
          <a:p>
            <a:pPr marL="457200" lvl="0" indent="-298450" algn="l" rtl="0">
              <a:spcBef>
                <a:spcPts val="0"/>
              </a:spcBef>
              <a:spcAft>
                <a:spcPts val="0"/>
              </a:spcAft>
              <a:buClr>
                <a:schemeClr val="dk1"/>
              </a:buClr>
              <a:buSzPts val="1100"/>
              <a:buAutoNum type="arabicPeriod"/>
            </a:pPr>
            <a:r>
              <a:rPr lang="en" sz="1200" dirty="0">
                <a:solidFill>
                  <a:schemeClr val="dk1"/>
                </a:solidFill>
              </a:rPr>
              <a:t>So you ask why is this a collision resistant multiset hash?</a:t>
            </a:r>
            <a:endParaRPr sz="1200" dirty="0">
              <a:solidFill>
                <a:schemeClr val="dk1"/>
              </a:solidFill>
            </a:endParaRPr>
          </a:p>
          <a:p>
            <a:pPr marL="0" lvl="0" indent="0" algn="l" rtl="0">
              <a:spcBef>
                <a:spcPts val="0"/>
              </a:spcBef>
              <a:spcAft>
                <a:spcPts val="0"/>
              </a:spcAft>
              <a:buNone/>
            </a:pPr>
            <a:endParaRPr sz="1200" dirty="0"/>
          </a:p>
          <a:p>
            <a:pPr marL="0" lvl="0" indent="0" algn="l" rtl="0">
              <a:spcBef>
                <a:spcPts val="0"/>
              </a:spcBef>
              <a:spcAft>
                <a:spcPts val="0"/>
              </a:spcAft>
              <a:buNone/>
            </a:pPr>
            <a:r>
              <a:rPr lang="en" sz="1200" dirty="0"/>
              <a:t>So to argue the collision resistance in the random oracle model, the argument goes like this:</a:t>
            </a:r>
            <a:endParaRPr sz="1200" dirty="0"/>
          </a:p>
          <a:p>
            <a:pPr marL="457200" lvl="0" indent="-298450" algn="l" rtl="0">
              <a:spcBef>
                <a:spcPts val="0"/>
              </a:spcBef>
              <a:spcAft>
                <a:spcPts val="0"/>
              </a:spcAft>
              <a:buSzPts val="1100"/>
              <a:buAutoNum type="arabicPeriod"/>
            </a:pPr>
            <a:r>
              <a:rPr lang="en" sz="1200" dirty="0"/>
              <a:t>Suppose you have two multisets S_1 and S_2 which are unequal. </a:t>
            </a:r>
            <a:endParaRPr sz="1200" dirty="0"/>
          </a:p>
          <a:p>
            <a:pPr marL="457200" lvl="0" indent="-298450" algn="l" rtl="0">
              <a:spcBef>
                <a:spcPts val="0"/>
              </a:spcBef>
              <a:spcAft>
                <a:spcPts val="0"/>
              </a:spcAft>
              <a:buSzPts val="1100"/>
              <a:buAutoNum type="arabicPeriod"/>
            </a:pPr>
            <a:r>
              <a:rPr lang="en" sz="1200" dirty="0"/>
              <a:t>But their multiset hashes are equal. </a:t>
            </a:r>
            <a:endParaRPr sz="1200" dirty="0"/>
          </a:p>
          <a:p>
            <a:pPr marL="457200" lvl="0" indent="-298450" algn="l" rtl="0">
              <a:spcBef>
                <a:spcPts val="0"/>
              </a:spcBef>
              <a:spcAft>
                <a:spcPts val="0"/>
              </a:spcAft>
              <a:buSzPts val="1100"/>
              <a:buAutoNum type="arabicPeriod"/>
            </a:pPr>
            <a:r>
              <a:rPr lang="en" sz="1200" dirty="0"/>
              <a:t>This means that the summations of the hashes of the items in the two sets are equal. </a:t>
            </a:r>
            <a:endParaRPr sz="1200" dirty="0"/>
          </a:p>
          <a:p>
            <a:pPr marL="457200" lvl="0" indent="-298450" algn="l" rtl="0">
              <a:spcBef>
                <a:spcPts val="0"/>
              </a:spcBef>
              <a:spcAft>
                <a:spcPts val="0"/>
              </a:spcAft>
              <a:buSzPts val="1100"/>
              <a:buAutoNum type="arabicPeriod"/>
            </a:pPr>
            <a:r>
              <a:rPr lang="en" sz="1200" dirty="0"/>
              <a:t>This means the adversary must have found some multiplicities such that the sum is 0. </a:t>
            </a:r>
            <a:endParaRPr sz="1200" dirty="0"/>
          </a:p>
          <a:p>
            <a:pPr marL="457200" lvl="0" indent="-298450" algn="l" rtl="0">
              <a:spcBef>
                <a:spcPts val="0"/>
              </a:spcBef>
              <a:spcAft>
                <a:spcPts val="0"/>
              </a:spcAft>
              <a:buSzPts val="1100"/>
              <a:buAutoNum type="arabicPeriod"/>
            </a:pPr>
            <a:r>
              <a:rPr lang="en" sz="1200" dirty="0"/>
              <a:t>Now, if </a:t>
            </a:r>
            <a:r>
              <a:rPr lang="en" sz="1200" dirty="0" err="1"/>
              <a:t>hashtogroup</a:t>
            </a:r>
            <a:r>
              <a:rPr lang="en" sz="1200" dirty="0"/>
              <a:t> is a random oracle, this would break </a:t>
            </a:r>
            <a:r>
              <a:rPr lang="en" sz="1200" dirty="0" err="1"/>
              <a:t>dlog</a:t>
            </a:r>
            <a:r>
              <a:rPr lang="en" sz="1200" dirty="0"/>
              <a:t>. </a:t>
            </a:r>
            <a:endParaRPr sz="1200" dirty="0"/>
          </a:p>
          <a:p>
            <a:pPr marL="0" lvl="0" indent="0" algn="l" rtl="0">
              <a:spcBef>
                <a:spcPts val="0"/>
              </a:spcBef>
              <a:spcAft>
                <a:spcPts val="0"/>
              </a:spcAft>
              <a:buNone/>
            </a:pPr>
            <a:r>
              <a:rPr lang="en" sz="1200" dirty="0"/>
              <a:t>BTW this is an older result, it first appeared in 1997 in the work of </a:t>
            </a:r>
            <a:r>
              <a:rPr lang="en" sz="1200" dirty="0" err="1"/>
              <a:t>Bellare</a:t>
            </a:r>
            <a:r>
              <a:rPr lang="en" sz="1200" dirty="0"/>
              <a:t> and </a:t>
            </a:r>
            <a:r>
              <a:rPr lang="en" sz="1200" dirty="0" err="1"/>
              <a:t>Micciancio</a:t>
            </a:r>
            <a:endParaRPr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a756703ee3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a756703ee3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So this construction is not only collision resistant, but also has a few other nice properties,</a:t>
            </a:r>
            <a:endParaRPr sz="1200" dirty="0">
              <a:solidFill>
                <a:schemeClr val="dk1"/>
              </a:solidFill>
            </a:endParaRPr>
          </a:p>
          <a:p>
            <a:pPr marL="457200" lvl="0" indent="-304800" algn="l" rtl="0">
              <a:spcBef>
                <a:spcPts val="0"/>
              </a:spcBef>
              <a:spcAft>
                <a:spcPts val="0"/>
              </a:spcAft>
              <a:buClr>
                <a:schemeClr val="dk1"/>
              </a:buClr>
              <a:buSzPts val="1200"/>
              <a:buAutoNum type="arabicPeriod"/>
            </a:pPr>
            <a:r>
              <a:rPr lang="en" sz="1200" dirty="0">
                <a:solidFill>
                  <a:schemeClr val="dk1"/>
                </a:solidFill>
              </a:rPr>
              <a:t>The first is compression, since the multiset hash is small, regardless of the size of S – just one group element.</a:t>
            </a:r>
            <a:endParaRPr sz="1200" dirty="0">
              <a:solidFill>
                <a:schemeClr val="dk1"/>
              </a:solidFill>
            </a:endParaRPr>
          </a:p>
          <a:p>
            <a:pPr marL="457200" lvl="0" indent="-304800" algn="l" rtl="0">
              <a:spcBef>
                <a:spcPts val="0"/>
              </a:spcBef>
              <a:spcAft>
                <a:spcPts val="0"/>
              </a:spcAft>
              <a:buClr>
                <a:schemeClr val="dk1"/>
              </a:buClr>
              <a:buSzPts val="1200"/>
              <a:buAutoNum type="arabicPeriod"/>
            </a:pPr>
            <a:r>
              <a:rPr lang="en" sz="1200" dirty="0">
                <a:solidFill>
                  <a:schemeClr val="dk1"/>
                </a:solidFill>
              </a:rPr>
              <a:t>The second is incrementality, so if you have the multiset hash of two sets, you can efficiently compute the hash of their union by just adding the individual hashes.</a:t>
            </a:r>
            <a:endParaRPr sz="1200" dirty="0">
              <a:solidFill>
                <a:schemeClr val="dk1"/>
              </a:solidFill>
            </a:endParaRPr>
          </a:p>
          <a:p>
            <a:pPr marL="457200" lvl="0" indent="-304800" algn="l" rtl="0">
              <a:spcBef>
                <a:spcPts val="0"/>
              </a:spcBef>
              <a:spcAft>
                <a:spcPts val="0"/>
              </a:spcAft>
              <a:buClr>
                <a:schemeClr val="dk1"/>
              </a:buClr>
              <a:buSzPts val="1200"/>
              <a:buAutoNum type="arabicPeriod"/>
            </a:pPr>
            <a:r>
              <a:rPr lang="en" sz="1200" dirty="0">
                <a:solidFill>
                  <a:schemeClr val="dk1"/>
                </a:solidFill>
              </a:rPr>
              <a:t>This also has a nice corollary, which is you can just use one hash and an addition to add on one more item. </a:t>
            </a:r>
            <a:endParaRPr sz="1200" dirty="0">
              <a:solidFill>
                <a:schemeClr val="dk1"/>
              </a:solidFill>
            </a:endParaRPr>
          </a:p>
          <a:p>
            <a:pPr marL="45720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r>
              <a:rPr lang="en" sz="1200" dirty="0">
                <a:solidFill>
                  <a:schemeClr val="dk1"/>
                </a:solidFill>
              </a:rPr>
              <a:t>Initially this was mostly used to build hash functions. </a:t>
            </a:r>
            <a:endParaRPr sz="1200" dirty="0">
              <a:solidFill>
                <a:schemeClr val="dk1"/>
              </a:solidFill>
            </a:endParaRPr>
          </a:p>
          <a:p>
            <a:pPr marL="0" lvl="0" indent="0" algn="l" rtl="0">
              <a:spcBef>
                <a:spcPts val="0"/>
              </a:spcBef>
              <a:spcAft>
                <a:spcPts val="0"/>
              </a:spcAft>
              <a:buNone/>
            </a:pPr>
            <a:r>
              <a:rPr lang="en" sz="1200" dirty="0">
                <a:solidFill>
                  <a:schemeClr val="dk2"/>
                </a:solidFill>
              </a:rPr>
              <a:t>This last property is useful for applications like recursive SNARKs! </a:t>
            </a:r>
            <a:endParaRPr sz="5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91577e3b2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91577e3b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sz="1400" dirty="0"/>
          </a:p>
          <a:p>
            <a:pPr marL="0" lvl="0" indent="0" algn="l" rtl="0">
              <a:spcBef>
                <a:spcPts val="0"/>
              </a:spcBef>
              <a:spcAft>
                <a:spcPts val="0"/>
              </a:spcAft>
              <a:buNone/>
            </a:pPr>
            <a:r>
              <a:rPr lang="en" sz="1400" dirty="0"/>
              <a:t>Since I mentioned proof systems, I’ll take a quick aside and mention that the programming model for proof systems is different from regular programming</a:t>
            </a:r>
            <a:r>
              <a:rPr lang="en" sz="1400"/>
              <a:t>. </a:t>
            </a:r>
            <a:endParaRPr lang="en" dirty="0">
              <a:solidFill>
                <a:srgbClr val="000000"/>
              </a:solidFill>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rgbClr val="666666"/>
                </a:solidFill>
                <a:latin typeface="Proxima Nova"/>
                <a:ea typeface="Proxima Nova"/>
                <a:cs typeface="Proxima Nova"/>
                <a:sym typeface="Proxima Nova"/>
              </a:rPr>
              <a:t>A way to represent RAM can also be done through constraints</a:t>
            </a:r>
          </a:p>
          <a:p>
            <a:pPr marL="0" lvl="0" indent="0" algn="l" rtl="0">
              <a:spcBef>
                <a:spcPts val="0"/>
              </a:spcBef>
              <a:spcAft>
                <a:spcPts val="0"/>
              </a:spcAft>
              <a:buNone/>
            </a:pPr>
            <a:endParaRPr lang="en" dirty="0">
              <a:solidFill>
                <a:srgbClr val="000000"/>
              </a:solidFill>
              <a:latin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a756703ee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a756703ee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big recent motivation is memory consistency in proof systems. </a:t>
            </a:r>
            <a:endParaRPr/>
          </a:p>
          <a:p>
            <a:pPr marL="0" lvl="0" indent="0" algn="l" rtl="0">
              <a:spcBef>
                <a:spcPts val="0"/>
              </a:spcBef>
              <a:spcAft>
                <a:spcPts val="0"/>
              </a:spcAft>
              <a:buNone/>
            </a:pPr>
            <a:endParaRPr/>
          </a:p>
          <a:p>
            <a:pPr marL="0" lvl="0" indent="0" algn="l" rtl="0">
              <a:spcBef>
                <a:spcPts val="0"/>
              </a:spcBef>
              <a:spcAft>
                <a:spcPts val="0"/>
              </a:spcAft>
              <a:buNone/>
            </a:pPr>
            <a:r>
              <a:rPr lang="en"/>
              <a:t>So what functionality are we looking for? We’re basically looking for a RAM solution. </a:t>
            </a:r>
            <a:endParaRPr/>
          </a:p>
          <a:p>
            <a:pPr marL="0" lvl="0" indent="0" algn="l" rtl="0">
              <a:spcBef>
                <a:spcPts val="0"/>
              </a:spcBef>
              <a:spcAft>
                <a:spcPts val="0"/>
              </a:spcAft>
              <a:buNone/>
            </a:pPr>
            <a:endParaRPr/>
          </a:p>
          <a:p>
            <a:pPr marL="0" lvl="0" indent="0" algn="l" rtl="0">
              <a:spcBef>
                <a:spcPts val="0"/>
              </a:spcBef>
              <a:spcAft>
                <a:spcPts val="0"/>
              </a:spcAft>
              <a:buNone/>
            </a:pPr>
            <a:r>
              <a:rPr lang="en"/>
              <a:t>What you do here is you initialize the memory, for illustration we’ll only have a tiny memory with 2 addresses, and after that you do some memory operations. </a:t>
            </a:r>
            <a:endParaRPr/>
          </a:p>
          <a:p>
            <a:pPr marL="0" lvl="0" indent="0" algn="l" rtl="0">
              <a:spcBef>
                <a:spcPts val="0"/>
              </a:spcBef>
              <a:spcAft>
                <a:spcPts val="0"/>
              </a:spcAft>
              <a:buNone/>
            </a:pPr>
            <a:endParaRPr/>
          </a:p>
          <a:p>
            <a:pPr marL="0" lvl="0" indent="0" algn="l" rtl="0">
              <a:spcBef>
                <a:spcPts val="0"/>
              </a:spcBef>
              <a:spcAft>
                <a:spcPts val="0"/>
              </a:spcAft>
              <a:buNone/>
            </a:pPr>
            <a:r>
              <a:rPr lang="en"/>
              <a:t>Each time I do a read, I’ll write it back and each time I do a write, I’ll read beforehand. This ends up being necessary for building a solution you can prove efficiently using multiset hashing, but also, you could think of this as “hiding” or being oblivious in the operation you’re doing. </a:t>
            </a:r>
            <a:endParaRPr/>
          </a:p>
          <a:p>
            <a:pPr marL="0" lvl="0" indent="0" algn="l" rtl="0">
              <a:spcBef>
                <a:spcPts val="0"/>
              </a:spcBef>
              <a:spcAft>
                <a:spcPts val="0"/>
              </a:spcAft>
              <a:buNone/>
            </a:pPr>
            <a:endParaRPr/>
          </a:p>
          <a:p>
            <a:pPr marL="0" lvl="0" indent="0" algn="l" rtl="0">
              <a:spcBef>
                <a:spcPts val="0"/>
              </a:spcBef>
              <a:spcAft>
                <a:spcPts val="0"/>
              </a:spcAft>
              <a:buNone/>
            </a:pPr>
            <a:r>
              <a:rPr lang="en"/>
              <a:t>At the end we do one final “read” of each location, to correct the asymmetry from the initialization step. </a:t>
            </a:r>
            <a:endParaRPr/>
          </a:p>
          <a:p>
            <a:pPr marL="0" lvl="0" indent="0" algn="l" rtl="0">
              <a:spcBef>
                <a:spcPts val="0"/>
              </a:spcBef>
              <a:spcAft>
                <a:spcPts val="0"/>
              </a:spcAft>
              <a:buNone/>
            </a:pPr>
            <a:endParaRPr/>
          </a:p>
          <a:p>
            <a:pPr marL="0" lvl="0" indent="0" algn="l" rtl="0">
              <a:spcBef>
                <a:spcPts val="0"/>
              </a:spcBef>
              <a:spcAft>
                <a:spcPts val="0"/>
              </a:spcAft>
              <a:buNone/>
            </a:pPr>
            <a:r>
              <a:rPr lang="en" b="1"/>
              <a:t>Now notice that the read set and the write set are equal as multisets. ← This is our final constraint regarding the RAM. </a:t>
            </a:r>
            <a:endParaRPr b="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a756703ee3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a756703ee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we can use our incremental multiset hash at each read and write to show multiset equality!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756703ee3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a756703ee3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b="1">
                <a:solidFill>
                  <a:srgbClr val="666666"/>
                </a:solidFill>
              </a:rPr>
              <a:t>Note 1:</a:t>
            </a:r>
            <a:r>
              <a:rPr lang="en" sz="1800">
                <a:solidFill>
                  <a:srgbClr val="666666"/>
                </a:solidFill>
              </a:rPr>
              <a:t> The multiset hash needs to be computed inside the proof system’s constraint system! </a:t>
            </a:r>
            <a:endParaRPr sz="1800">
              <a:solidFill>
                <a:srgbClr val="666666"/>
              </a:solidFill>
            </a:endParaRPr>
          </a:p>
          <a:p>
            <a:pPr marL="0" lvl="0" indent="0" algn="l" rtl="0">
              <a:spcBef>
                <a:spcPts val="0"/>
              </a:spcBef>
              <a:spcAft>
                <a:spcPts val="0"/>
              </a:spcAft>
              <a:buClr>
                <a:schemeClr val="dk1"/>
              </a:buClr>
              <a:buSzPts val="1100"/>
              <a:buFont typeface="Arial"/>
              <a:buNone/>
            </a:pPr>
            <a:r>
              <a:rPr lang="en" sz="1800" b="1">
                <a:solidFill>
                  <a:srgbClr val="666666"/>
                </a:solidFill>
              </a:rPr>
              <a:t>Corollary: </a:t>
            </a:r>
            <a:r>
              <a:rPr lang="en" sz="1800">
                <a:solidFill>
                  <a:srgbClr val="666666"/>
                </a:solidFill>
              </a:rPr>
              <a:t>If the multiset hash is not constraint-friendly, the zkVM will be slow!</a:t>
            </a:r>
            <a:endParaRPr sz="1800" b="1">
              <a:solidFill>
                <a:srgbClr val="666666"/>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a756703ee3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a756703ee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 dirty="0"/>
              <a:t>Remember </a:t>
            </a:r>
            <a:r>
              <a:rPr lang="en" dirty="0" err="1"/>
              <a:t>MultisetHash</a:t>
            </a:r>
            <a:r>
              <a:rPr lang="en" dirty="0"/>
              <a:t> uses a sum of </a:t>
            </a:r>
            <a:r>
              <a:rPr lang="en" dirty="0" err="1"/>
              <a:t>HashToGroup</a:t>
            </a:r>
            <a:r>
              <a:rPr lang="en" dirty="0"/>
              <a:t> outputs, so let's zoom in on that. </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a756703ee3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a756703ee3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a756703ee3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a756703ee3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Remember </a:t>
            </a:r>
            <a:r>
              <a:rPr lang="en" dirty="0" err="1"/>
              <a:t>MultisetHash</a:t>
            </a:r>
            <a:r>
              <a:rPr lang="en" dirty="0"/>
              <a:t> uses a sum of </a:t>
            </a:r>
            <a:r>
              <a:rPr lang="en" dirty="0" err="1"/>
              <a:t>HashToGroup</a:t>
            </a:r>
            <a:r>
              <a:rPr lang="en" dirty="0"/>
              <a:t> outputs, so let's zoom in on that. </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Zooming in a little more, let’s look at the hash-to-group primitive we now need to encode in a snark. </a:t>
            </a:r>
            <a:endParaRPr dirty="0"/>
          </a:p>
          <a:p>
            <a:pPr marL="0" lvl="0" indent="0" algn="l" rtl="0">
              <a:spcBef>
                <a:spcPts val="0"/>
              </a:spcBef>
              <a:spcAft>
                <a:spcPts val="0"/>
              </a:spcAft>
              <a:buNone/>
            </a:pPr>
            <a:r>
              <a:rPr lang="en" b="1" dirty="0">
                <a:solidFill>
                  <a:schemeClr val="dk1"/>
                </a:solidFill>
              </a:rPr>
              <a:t>The parameters are</a:t>
            </a:r>
            <a:endParaRPr b="1" dirty="0"/>
          </a:p>
          <a:p>
            <a:pPr marL="457200" lvl="0" indent="-298450" algn="l" rtl="0">
              <a:spcBef>
                <a:spcPts val="0"/>
              </a:spcBef>
              <a:spcAft>
                <a:spcPts val="0"/>
              </a:spcAft>
              <a:buSzPts val="1100"/>
              <a:buChar char="-"/>
            </a:pPr>
            <a:r>
              <a:rPr lang="en" dirty="0"/>
              <a:t>The elliptic curve group, with a base field</a:t>
            </a:r>
            <a:endParaRPr dirty="0"/>
          </a:p>
          <a:p>
            <a:pPr marL="457200" lvl="0" indent="-298450" algn="l" rtl="0">
              <a:spcBef>
                <a:spcPts val="0"/>
              </a:spcBef>
              <a:spcAft>
                <a:spcPts val="0"/>
              </a:spcAft>
              <a:buSzPts val="1100"/>
              <a:buChar char="-"/>
            </a:pPr>
            <a:r>
              <a:rPr lang="en" dirty="0"/>
              <a:t>The message space, which we now assume is in the field as well, because that’s the case for SNARKs,</a:t>
            </a:r>
            <a:endParaRPr dirty="0"/>
          </a:p>
          <a:p>
            <a:pPr marL="457200" lvl="0" indent="-298450" algn="l" rtl="0">
              <a:spcBef>
                <a:spcPts val="0"/>
              </a:spcBef>
              <a:spcAft>
                <a:spcPts val="0"/>
              </a:spcAft>
              <a:buSzPts val="1100"/>
              <a:buChar char="-"/>
            </a:pPr>
            <a:r>
              <a:rPr lang="en" dirty="0"/>
              <a:t>Then you have a cryptographic hash function that maps messages to the field,</a:t>
            </a:r>
            <a:endParaRPr dirty="0"/>
          </a:p>
          <a:p>
            <a:pPr marL="457200" lvl="0" indent="-298450" algn="l" rtl="0">
              <a:spcBef>
                <a:spcPts val="0"/>
              </a:spcBef>
              <a:spcAft>
                <a:spcPts val="0"/>
              </a:spcAft>
              <a:buSzPts val="1100"/>
              <a:buChar char="-"/>
            </a:pPr>
            <a:r>
              <a:rPr lang="en" dirty="0"/>
              <a:t>And finally you have a function </a:t>
            </a:r>
            <a:r>
              <a:rPr lang="en" dirty="0" err="1"/>
              <a:t>MapToGroup</a:t>
            </a:r>
            <a:r>
              <a:rPr lang="en" dirty="0"/>
              <a:t> that goes from the base field to the group. </a:t>
            </a:r>
            <a:endParaRPr dirty="0"/>
          </a:p>
          <a:p>
            <a:pPr marL="0" lvl="0" indent="0" algn="l" rtl="0">
              <a:spcBef>
                <a:spcPts val="0"/>
              </a:spcBef>
              <a:spcAft>
                <a:spcPts val="0"/>
              </a:spcAft>
              <a:buNone/>
            </a:pPr>
            <a:r>
              <a:rPr lang="en" b="1" dirty="0"/>
              <a:t>Procedure: </a:t>
            </a:r>
            <a:r>
              <a:rPr lang="en" dirty="0"/>
              <a:t>So you can use the hash function to sort of randomize the message, then you just use the function to map it to the group. </a:t>
            </a:r>
            <a:endParaRPr dirty="0"/>
          </a:p>
          <a:p>
            <a:pPr marL="0" lvl="0" indent="0" algn="l" rtl="0">
              <a:spcBef>
                <a:spcPts val="0"/>
              </a:spcBef>
              <a:spcAft>
                <a:spcPts val="0"/>
              </a:spcAft>
              <a:buNone/>
            </a:pPr>
            <a:r>
              <a:rPr lang="en" b="1" dirty="0"/>
              <a:t>In the proof system:</a:t>
            </a:r>
            <a:r>
              <a:rPr lang="en" dirty="0"/>
              <a:t> You now just give the message and the curve group element’s coordinates as input or witness and verify the hash and the correct output of the function F.</a:t>
            </a:r>
            <a:endParaRPr dirty="0"/>
          </a:p>
          <a:p>
            <a:pPr marL="0" lvl="0" indent="0" algn="l" rtl="0">
              <a:spcBef>
                <a:spcPts val="0"/>
              </a:spcBef>
              <a:spcAft>
                <a:spcPts val="0"/>
              </a:spcAft>
              <a:buNone/>
            </a:pPr>
            <a:r>
              <a:rPr lang="en" b="1" dirty="0"/>
              <a:t>Issue:</a:t>
            </a:r>
            <a:r>
              <a:rPr lang="en" dirty="0">
                <a:solidFill>
                  <a:schemeClr val="dk1"/>
                </a:solidFill>
              </a:rPr>
              <a:t> Now you have to show correct hash function computation in the constraint system.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68c88f7efe_0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68c88f7efe_0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Why is this an issue, you ask?</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Well, hash functions have really high constraint cost, here’s some constraints in PLONK!</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So our challenge is to remove this hashing requirement and still building a multiset hash function by mapping to a group somehow. </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a756703ee3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a756703ee3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dirty="0"/>
              <a:t>So in an elliptic curve of order p, each item has a unique discrete log and, </a:t>
            </a:r>
          </a:p>
          <a:p>
            <a:pPr marL="228600" lvl="0" indent="-228600" algn="l" rtl="0">
              <a:spcBef>
                <a:spcPts val="0"/>
              </a:spcBef>
              <a:spcAft>
                <a:spcPts val="0"/>
              </a:spcAft>
              <a:buAutoNum type="arabicPeriod"/>
            </a:pPr>
            <a:r>
              <a:rPr lang="en-US" dirty="0"/>
              <a:t>To build the multiset hash, we want to make sure to map to these unique DLOGs in a randomized way</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aac4c0b9b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aac4c0b9b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dirty="0"/>
              <a:t>Classical hash-to-group: the hash function gives a random oracle from message space to the base field.</a:t>
            </a:r>
          </a:p>
          <a:p>
            <a:pPr marL="228600" lvl="0" indent="-228600" algn="l" rtl="0">
              <a:spcBef>
                <a:spcPts val="0"/>
              </a:spcBef>
              <a:spcAft>
                <a:spcPts val="0"/>
              </a:spcAft>
              <a:buAutoNum type="arabicPeriod"/>
            </a:pPr>
            <a:r>
              <a:rPr lang="en-US" dirty="0"/>
              <a:t>Now, map-to-group is injective and induces an injective encoding from field to group.</a:t>
            </a:r>
          </a:p>
          <a:p>
            <a:pPr marL="228600" lvl="0" indent="-228600" algn="l" rtl="0">
              <a:spcBef>
                <a:spcPts val="0"/>
              </a:spcBef>
              <a:spcAft>
                <a:spcPts val="0"/>
              </a:spcAft>
              <a:buAutoNum type="arabicPeriod"/>
            </a:pPr>
            <a:r>
              <a:rPr lang="en-US" dirty="0"/>
              <a:t>Together, with the random oracle, this is all still a random oracle.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ac4c0b9b3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aac4c0b9b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 what happens if we don’t use a random oracle?</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discrete logs are hidden in the EC-GGM so it’s basically a random oracle mapping between </a:t>
            </a:r>
            <a:r>
              <a:rPr lang="en" dirty="0" err="1"/>
              <a:t>basefield</a:t>
            </a:r>
            <a:r>
              <a:rPr lang="en" dirty="0"/>
              <a:t> </a:t>
            </a:r>
            <a:r>
              <a:rPr lang="en"/>
              <a:t>items and discrete logs. </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aac4c0b9b3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aac4c0b9b3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457200" lvl="0" indent="-336550" algn="l" rtl="0">
              <a:spcBef>
                <a:spcPts val="0"/>
              </a:spcBef>
              <a:spcAft>
                <a:spcPts val="0"/>
              </a:spcAft>
              <a:buClr>
                <a:srgbClr val="666666"/>
              </a:buClr>
              <a:buSzPts val="1700"/>
              <a:buFont typeface="Proxima Nova"/>
              <a:buChar char="●"/>
            </a:pPr>
            <a:r>
              <a:rPr lang="en" sz="1700">
                <a:solidFill>
                  <a:srgbClr val="666666"/>
                </a:solidFill>
                <a:latin typeface="Proxima Nova"/>
                <a:ea typeface="Proxima Nova"/>
                <a:cs typeface="Proxima Nova"/>
                <a:sym typeface="Proxima Nova"/>
              </a:rPr>
              <a:t>Let’s zoom back to the classical hash-to-group function. </a:t>
            </a:r>
            <a:endParaRPr sz="1700">
              <a:solidFill>
                <a:srgbClr val="666666"/>
              </a:solidFill>
              <a:latin typeface="Proxima Nova"/>
              <a:ea typeface="Proxima Nova"/>
              <a:cs typeface="Proxima Nova"/>
              <a:sym typeface="Proxima Nova"/>
            </a:endParaRPr>
          </a:p>
          <a:p>
            <a:pPr marL="457200" lvl="0" indent="-336550" algn="l" rtl="0">
              <a:spcBef>
                <a:spcPts val="0"/>
              </a:spcBef>
              <a:spcAft>
                <a:spcPts val="0"/>
              </a:spcAft>
              <a:buClr>
                <a:srgbClr val="666666"/>
              </a:buClr>
              <a:buSzPts val="1700"/>
              <a:buFont typeface="Proxima Nova"/>
              <a:buChar char="●"/>
            </a:pPr>
            <a:r>
              <a:rPr lang="en" sz="1700">
                <a:solidFill>
                  <a:srgbClr val="666666"/>
                </a:solidFill>
                <a:latin typeface="Proxima Nova"/>
                <a:ea typeface="Proxima Nova"/>
                <a:cs typeface="Proxima Nova"/>
                <a:sym typeface="Proxima Nova"/>
              </a:rPr>
              <a:t>In the EC-GGM, we have two random oracles now. </a:t>
            </a:r>
            <a:endParaRPr sz="1700">
              <a:solidFill>
                <a:srgbClr val="666666"/>
              </a:solidFill>
              <a:latin typeface="Proxima Nova"/>
              <a:ea typeface="Proxima Nova"/>
              <a:cs typeface="Proxima Nova"/>
              <a:sym typeface="Proxima Nova"/>
            </a:endParaRPr>
          </a:p>
          <a:p>
            <a:pPr marL="457200" lvl="0" indent="-336550" algn="l" rtl="0">
              <a:spcBef>
                <a:spcPts val="0"/>
              </a:spcBef>
              <a:spcAft>
                <a:spcPts val="0"/>
              </a:spcAft>
              <a:buClr>
                <a:srgbClr val="666666"/>
              </a:buClr>
              <a:buSzPts val="1700"/>
              <a:buFont typeface="Proxima Nova"/>
              <a:buChar char="●"/>
            </a:pPr>
            <a:r>
              <a:rPr lang="en" sz="1700">
                <a:solidFill>
                  <a:srgbClr val="666666"/>
                </a:solidFill>
                <a:latin typeface="Proxima Nova"/>
                <a:ea typeface="Proxima Nova"/>
                <a:cs typeface="Proxima Nova"/>
                <a:sym typeface="Proxima Nova"/>
              </a:rPr>
              <a:t>Wait… “Map-to-Group is ALL YOU NEED.”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aac4c0b9b3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aac4c0b9b3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a:p>
            <a:pPr marL="457200" lvl="0" indent="-336550" algn="l" rtl="0">
              <a:spcBef>
                <a:spcPts val="0"/>
              </a:spcBef>
              <a:spcAft>
                <a:spcPts val="0"/>
              </a:spcAft>
              <a:buClr>
                <a:srgbClr val="666666"/>
              </a:buClr>
              <a:buSzPts val="1700"/>
              <a:buFont typeface="Proxima Nova"/>
              <a:buChar char="●"/>
            </a:pPr>
            <a:r>
              <a:rPr lang="en-US" sz="1700" dirty="0">
                <a:solidFill>
                  <a:srgbClr val="666666"/>
                </a:solidFill>
                <a:latin typeface="Proxima Nova"/>
                <a:ea typeface="Proxima Nova"/>
                <a:cs typeface="Proxima Nova"/>
                <a:sym typeface="Proxima Nova"/>
              </a:rPr>
              <a:t>But recall we said the message is in the </a:t>
            </a:r>
            <a:r>
              <a:rPr lang="en-US" sz="1700" dirty="0" err="1">
                <a:solidFill>
                  <a:srgbClr val="666666"/>
                </a:solidFill>
                <a:latin typeface="Proxima Nova"/>
                <a:ea typeface="Proxima Nova"/>
                <a:cs typeface="Proxima Nova"/>
                <a:sym typeface="Proxima Nova"/>
              </a:rPr>
              <a:t>basefield</a:t>
            </a:r>
            <a:r>
              <a:rPr lang="en-US" sz="1700" dirty="0">
                <a:solidFill>
                  <a:srgbClr val="666666"/>
                </a:solidFill>
                <a:latin typeface="Proxima Nova"/>
                <a:ea typeface="Proxima Nova"/>
                <a:cs typeface="Proxima Nova"/>
                <a:sym typeface="Proxima Nova"/>
              </a:rPr>
              <a:t>! </a:t>
            </a:r>
          </a:p>
          <a:p>
            <a:pPr marL="457200" lvl="0" indent="-336550" algn="l" rtl="0">
              <a:spcBef>
                <a:spcPts val="0"/>
              </a:spcBef>
              <a:spcAft>
                <a:spcPts val="0"/>
              </a:spcAft>
              <a:buClr>
                <a:srgbClr val="666666"/>
              </a:buClr>
              <a:buSzPts val="1700"/>
              <a:buFont typeface="Proxima Nova"/>
              <a:buChar char="●"/>
            </a:pPr>
            <a:r>
              <a:rPr lang="en-US" sz="1700" dirty="0">
                <a:solidFill>
                  <a:srgbClr val="666666"/>
                </a:solidFill>
                <a:latin typeface="Proxima Nova"/>
                <a:sym typeface="Proxima Nova"/>
              </a:rPr>
              <a:t>So map-to-group is all you need.</a:t>
            </a:r>
          </a:p>
          <a:p>
            <a:pPr marL="457200" lvl="0" indent="-336550" algn="l" rtl="0">
              <a:spcBef>
                <a:spcPts val="0"/>
              </a:spcBef>
              <a:spcAft>
                <a:spcPts val="0"/>
              </a:spcAft>
              <a:buClr>
                <a:srgbClr val="666666"/>
              </a:buClr>
              <a:buSzPts val="1700"/>
              <a:buFont typeface="Proxima Nova"/>
              <a:buChar char="●"/>
            </a:pPr>
            <a:endParaRPr lang="en-US" sz="1700" dirty="0">
              <a:solidFill>
                <a:srgbClr val="666666"/>
              </a:solidFill>
              <a:latin typeface="Proxima Nova"/>
              <a:sym typeface="Proxima Nova"/>
            </a:endParaRPr>
          </a:p>
          <a:p>
            <a:pPr marL="457200" lvl="0" indent="-336550" algn="l" rtl="0">
              <a:spcBef>
                <a:spcPts val="0"/>
              </a:spcBef>
              <a:spcAft>
                <a:spcPts val="0"/>
              </a:spcAft>
              <a:buClr>
                <a:srgbClr val="666666"/>
              </a:buClr>
              <a:buSzPts val="1700"/>
              <a:buFont typeface="Proxima Nova"/>
              <a:buChar char="●"/>
            </a:pPr>
            <a:r>
              <a:rPr lang="en-US" sz="1700" dirty="0">
                <a:solidFill>
                  <a:srgbClr val="666666"/>
                </a:solidFill>
                <a:latin typeface="Proxima Nova"/>
                <a:sym typeface="Proxima Nova"/>
              </a:rPr>
              <a:t>And </a:t>
            </a:r>
            <a:r>
              <a:rPr lang="en-US" sz="1700" dirty="0" err="1">
                <a:solidFill>
                  <a:srgbClr val="666666"/>
                </a:solidFill>
                <a:latin typeface="Proxima Nova"/>
                <a:sym typeface="Proxima Nova"/>
              </a:rPr>
              <a:t>obvously</a:t>
            </a:r>
            <a:r>
              <a:rPr lang="en-US" sz="1700" dirty="0">
                <a:solidFill>
                  <a:srgbClr val="666666"/>
                </a:solidFill>
                <a:latin typeface="Proxima Nova"/>
                <a:sym typeface="Proxima Nova"/>
              </a:rPr>
              <a:t> you add them up for multiset hash. </a:t>
            </a:r>
            <a:endParaRPr dirty="0"/>
          </a:p>
        </p:txBody>
      </p:sp>
    </p:spTree>
    <p:extLst>
      <p:ext uri="{BB962C8B-B14F-4D97-AF65-F5344CB8AC3E}">
        <p14:creationId xmlns:p14="http://schemas.microsoft.com/office/powerpoint/2010/main" val="966520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a756703ee3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a756703ee3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rgbClr val="666666"/>
                </a:solidFill>
                <a:latin typeface="Proxima Nova"/>
                <a:ea typeface="Proxima Nova"/>
                <a:cs typeface="Proxima Nova"/>
                <a:sym typeface="Proxima Nova"/>
              </a:rPr>
              <a:t>With this insight, let’s try to consider one idea for the function f that will be useful for the SNARK application. It’s a variant of the idea from BLS which uses a hash function. </a:t>
            </a:r>
            <a:endParaRPr sz="1800" dirty="0">
              <a:solidFill>
                <a:srgbClr val="666666"/>
              </a:solidFill>
              <a:latin typeface="Proxima Nova"/>
              <a:ea typeface="Proxima Nova"/>
              <a:cs typeface="Proxima Nova"/>
              <a:sym typeface="Proxima Nova"/>
            </a:endParaRPr>
          </a:p>
          <a:p>
            <a:pPr marL="0" lvl="0" indent="0" algn="l" rtl="0">
              <a:spcBef>
                <a:spcPts val="0"/>
              </a:spcBef>
              <a:spcAft>
                <a:spcPts val="0"/>
              </a:spcAft>
              <a:buNone/>
            </a:pPr>
            <a:endParaRPr sz="1800" dirty="0">
              <a:solidFill>
                <a:srgbClr val="666666"/>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 sz="1800" b="1" dirty="0">
                <a:solidFill>
                  <a:srgbClr val="666666"/>
                </a:solidFill>
                <a:latin typeface="Proxima Nova"/>
                <a:ea typeface="Proxima Nova"/>
                <a:cs typeface="Proxima Nova"/>
                <a:sym typeface="Proxima Nova"/>
              </a:rPr>
              <a:t>Parameters: </a:t>
            </a:r>
            <a:r>
              <a:rPr lang="en" sz="1800" dirty="0">
                <a:solidFill>
                  <a:srgbClr val="666666"/>
                </a:solidFill>
                <a:latin typeface="Proxima Nova"/>
                <a:ea typeface="Proxima Nova"/>
                <a:cs typeface="Proxima Nova"/>
                <a:sym typeface="Proxima Nova"/>
              </a:rPr>
              <a:t>Group G is an elliptic curve group </a:t>
            </a:r>
            <a:r>
              <a:rPr lang="en" sz="1800" i="1" dirty="0">
                <a:solidFill>
                  <a:srgbClr val="666666"/>
                </a:solidFill>
                <a:latin typeface="Proxima Nova"/>
                <a:ea typeface="Proxima Nova"/>
                <a:cs typeface="Proxima Nova"/>
                <a:sym typeface="Proxima Nova"/>
              </a:rPr>
              <a:t>E(</a:t>
            </a:r>
            <a:r>
              <a:rPr lang="en" sz="1800" i="1" dirty="0" err="1">
                <a:solidFill>
                  <a:srgbClr val="666666"/>
                </a:solidFill>
                <a:latin typeface="Proxima Nova"/>
                <a:ea typeface="Proxima Nova"/>
                <a:cs typeface="Proxima Nova"/>
                <a:sym typeface="Proxima Nova"/>
              </a:rPr>
              <a:t>F</a:t>
            </a:r>
            <a:r>
              <a:rPr lang="en" sz="1800" i="1" baseline="-25000" dirty="0" err="1">
                <a:solidFill>
                  <a:srgbClr val="666666"/>
                </a:solidFill>
                <a:latin typeface="Proxima Nova"/>
                <a:ea typeface="Proxima Nova"/>
                <a:cs typeface="Proxima Nova"/>
                <a:sym typeface="Proxima Nova"/>
              </a:rPr>
              <a:t>q</a:t>
            </a:r>
            <a:r>
              <a:rPr lang="en" sz="1800" i="1" dirty="0">
                <a:solidFill>
                  <a:srgbClr val="666666"/>
                </a:solidFill>
                <a:latin typeface="Proxima Nova"/>
                <a:ea typeface="Proxima Nova"/>
                <a:cs typeface="Proxima Nova"/>
                <a:sym typeface="Proxima Nova"/>
              </a:rPr>
              <a:t>): y</a:t>
            </a:r>
            <a:r>
              <a:rPr lang="en" sz="1800" i="1" baseline="30000" dirty="0">
                <a:solidFill>
                  <a:srgbClr val="666666"/>
                </a:solidFill>
                <a:latin typeface="Proxima Nova"/>
                <a:ea typeface="Proxima Nova"/>
                <a:cs typeface="Proxima Nova"/>
                <a:sym typeface="Proxima Nova"/>
              </a:rPr>
              <a:t>2</a:t>
            </a:r>
            <a:r>
              <a:rPr lang="en" sz="1800" i="1" dirty="0">
                <a:solidFill>
                  <a:srgbClr val="666666"/>
                </a:solidFill>
                <a:latin typeface="Proxima Nova"/>
                <a:ea typeface="Proxima Nova"/>
                <a:cs typeface="Proxima Nova"/>
                <a:sym typeface="Proxima Nova"/>
              </a:rPr>
              <a:t> = x</a:t>
            </a:r>
            <a:r>
              <a:rPr lang="en" sz="1800" i="1" baseline="30000" dirty="0">
                <a:solidFill>
                  <a:srgbClr val="666666"/>
                </a:solidFill>
                <a:latin typeface="Proxima Nova"/>
                <a:ea typeface="Proxima Nova"/>
                <a:cs typeface="Proxima Nova"/>
                <a:sym typeface="Proxima Nova"/>
              </a:rPr>
              <a:t>3</a:t>
            </a:r>
            <a:r>
              <a:rPr lang="en" sz="1800" i="1" dirty="0">
                <a:solidFill>
                  <a:srgbClr val="666666"/>
                </a:solidFill>
                <a:latin typeface="Proxima Nova"/>
                <a:ea typeface="Proxima Nova"/>
                <a:cs typeface="Proxima Nova"/>
                <a:sym typeface="Proxima Nova"/>
              </a:rPr>
              <a:t> + ax + b</a:t>
            </a:r>
            <a:r>
              <a:rPr lang="en" sz="1800" dirty="0">
                <a:solidFill>
                  <a:srgbClr val="666666"/>
                </a:solidFill>
                <a:latin typeface="Proxima Nova"/>
                <a:ea typeface="Proxima Nova"/>
                <a:cs typeface="Proxima Nova"/>
                <a:sym typeface="Proxima Nova"/>
              </a:rPr>
              <a:t> with </a:t>
            </a:r>
            <a:r>
              <a:rPr lang="en" sz="1800" i="1" dirty="0">
                <a:solidFill>
                  <a:srgbClr val="666666"/>
                </a:solidFill>
                <a:latin typeface="Proxima Nova"/>
                <a:ea typeface="Proxima Nova"/>
                <a:cs typeface="Proxima Nova"/>
                <a:sym typeface="Proxima Nova"/>
              </a:rPr>
              <a:t>p</a:t>
            </a:r>
            <a:r>
              <a:rPr lang="en" sz="1800" dirty="0">
                <a:solidFill>
                  <a:srgbClr val="666666"/>
                </a:solidFill>
                <a:latin typeface="Proxima Nova"/>
                <a:ea typeface="Proxima Nova"/>
                <a:cs typeface="Proxima Nova"/>
                <a:sym typeface="Proxima Nova"/>
              </a:rPr>
              <a:t> points, </a:t>
            </a:r>
            <a:endParaRPr sz="1800" dirty="0">
              <a:solidFill>
                <a:srgbClr val="666666"/>
              </a:solidFill>
              <a:latin typeface="Proxima Nova"/>
              <a:ea typeface="Proxima Nova"/>
              <a:cs typeface="Proxima Nova"/>
              <a:sym typeface="Proxima Nova"/>
            </a:endParaRPr>
          </a:p>
          <a:p>
            <a:pPr marL="1371600" lvl="0" indent="0" algn="l" rtl="0">
              <a:spcBef>
                <a:spcPts val="0"/>
              </a:spcBef>
              <a:spcAft>
                <a:spcPts val="0"/>
              </a:spcAft>
              <a:buClr>
                <a:schemeClr val="dk1"/>
              </a:buClr>
              <a:buSzPts val="1100"/>
              <a:buFont typeface="Arial"/>
              <a:buNone/>
            </a:pPr>
            <a:r>
              <a:rPr lang="en" sz="1800" dirty="0">
                <a:solidFill>
                  <a:srgbClr val="666666"/>
                </a:solidFill>
                <a:latin typeface="Proxima Nova"/>
                <a:ea typeface="Proxima Nova"/>
                <a:cs typeface="Proxima Nova"/>
                <a:sym typeface="Proxima Nova"/>
              </a:rPr>
              <a:t>Message space </a:t>
            </a:r>
            <a:r>
              <a:rPr lang="en" sz="1800" i="1" dirty="0">
                <a:solidFill>
                  <a:srgbClr val="666666"/>
                </a:solidFill>
                <a:latin typeface="Proxima Nova"/>
                <a:ea typeface="Proxima Nova"/>
                <a:cs typeface="Proxima Nova"/>
                <a:sym typeface="Proxima Nova"/>
              </a:rPr>
              <a:t>M = {0, 1, …, 2</a:t>
            </a:r>
            <a:r>
              <a:rPr lang="en" sz="1800" i="1" baseline="30000" dirty="0">
                <a:solidFill>
                  <a:srgbClr val="666666"/>
                </a:solidFill>
                <a:latin typeface="Proxima Nova"/>
                <a:ea typeface="Proxima Nova"/>
                <a:cs typeface="Proxima Nova"/>
                <a:sym typeface="Proxima Nova"/>
              </a:rPr>
              <a:t>k</a:t>
            </a:r>
            <a:r>
              <a:rPr lang="en" sz="1800" i="1" dirty="0">
                <a:solidFill>
                  <a:srgbClr val="666666"/>
                </a:solidFill>
                <a:latin typeface="Proxima Nova"/>
                <a:ea typeface="Proxima Nova"/>
                <a:cs typeface="Proxima Nova"/>
                <a:sym typeface="Proxima Nova"/>
              </a:rPr>
              <a:t> - 1}</a:t>
            </a:r>
            <a:r>
              <a:rPr lang="en" sz="1800" dirty="0">
                <a:solidFill>
                  <a:srgbClr val="666666"/>
                </a:solidFill>
                <a:latin typeface="Proxima Nova"/>
                <a:ea typeface="Proxima Nova"/>
                <a:cs typeface="Proxima Nova"/>
                <a:sym typeface="Proxima Nova"/>
              </a:rPr>
              <a:t>   </a:t>
            </a:r>
            <a:r>
              <a:rPr lang="en" sz="1800" dirty="0">
                <a:solidFill>
                  <a:srgbClr val="FF5722"/>
                </a:solidFill>
                <a:latin typeface="Proxima Nova"/>
                <a:ea typeface="Proxima Nova"/>
                <a:cs typeface="Proxima Nova"/>
                <a:sym typeface="Proxima Nova"/>
              </a:rPr>
              <a:t>e.g. in a </a:t>
            </a:r>
            <a:r>
              <a:rPr lang="en" sz="1800" dirty="0" err="1">
                <a:solidFill>
                  <a:srgbClr val="FF5722"/>
                </a:solidFill>
                <a:latin typeface="Proxima Nova"/>
                <a:ea typeface="Proxima Nova"/>
                <a:cs typeface="Proxima Nova"/>
                <a:sym typeface="Proxima Nova"/>
              </a:rPr>
              <a:t>zk-vm</a:t>
            </a:r>
            <a:r>
              <a:rPr lang="en" sz="1800" dirty="0">
                <a:solidFill>
                  <a:srgbClr val="FF5722"/>
                </a:solidFill>
                <a:latin typeface="Proxima Nova"/>
                <a:ea typeface="Proxima Nova"/>
                <a:cs typeface="Proxima Nova"/>
                <a:sym typeface="Proxima Nova"/>
              </a:rPr>
              <a:t> k = 96, so we get 3 32 byte words     </a:t>
            </a:r>
            <a:endParaRPr sz="1800" dirty="0">
              <a:solidFill>
                <a:srgbClr val="FF5722"/>
              </a:solidFill>
              <a:latin typeface="Proxima Nova"/>
              <a:ea typeface="Proxima Nova"/>
              <a:cs typeface="Proxima Nova"/>
              <a:sym typeface="Proxima Nova"/>
            </a:endParaRPr>
          </a:p>
          <a:p>
            <a:pPr marL="1371600" lvl="0" indent="0" algn="l" rtl="0">
              <a:spcBef>
                <a:spcPts val="0"/>
              </a:spcBef>
              <a:spcAft>
                <a:spcPts val="0"/>
              </a:spcAft>
              <a:buClr>
                <a:schemeClr val="dk1"/>
              </a:buClr>
              <a:buSzPts val="1100"/>
              <a:buFont typeface="Arial"/>
              <a:buNone/>
            </a:pPr>
            <a:r>
              <a:rPr lang="en" sz="1800" dirty="0">
                <a:solidFill>
                  <a:srgbClr val="666666"/>
                </a:solidFill>
                <a:latin typeface="Proxima Nova"/>
                <a:ea typeface="Proxima Nova"/>
                <a:cs typeface="Proxima Nova"/>
                <a:sym typeface="Proxima Nova"/>
              </a:rPr>
              <a:t>Tweak space </a:t>
            </a:r>
            <a:r>
              <a:rPr lang="en" sz="1800" i="1" dirty="0">
                <a:solidFill>
                  <a:srgbClr val="666666"/>
                </a:solidFill>
                <a:latin typeface="Proxima Nova"/>
                <a:ea typeface="Proxima Nova"/>
                <a:cs typeface="Proxima Nova"/>
                <a:sym typeface="Proxima Nova"/>
              </a:rPr>
              <a:t>T = {0, 1, …, 2</a:t>
            </a:r>
            <a:r>
              <a:rPr lang="en" sz="1800" i="1" baseline="30000" dirty="0">
                <a:solidFill>
                  <a:srgbClr val="666666"/>
                </a:solidFill>
                <a:latin typeface="Proxima Nova"/>
                <a:ea typeface="Proxima Nova"/>
                <a:cs typeface="Proxima Nova"/>
                <a:sym typeface="Proxima Nova"/>
              </a:rPr>
              <a:t>u</a:t>
            </a:r>
            <a:r>
              <a:rPr lang="en" sz="1800" i="1" dirty="0">
                <a:solidFill>
                  <a:srgbClr val="666666"/>
                </a:solidFill>
                <a:latin typeface="Proxima Nova"/>
                <a:ea typeface="Proxima Nova"/>
                <a:cs typeface="Proxima Nova"/>
                <a:sym typeface="Proxima Nova"/>
              </a:rPr>
              <a:t> - 1}</a:t>
            </a:r>
            <a:r>
              <a:rPr lang="en" sz="1800" dirty="0">
                <a:solidFill>
                  <a:srgbClr val="666666"/>
                </a:solidFill>
                <a:latin typeface="Proxima Nova"/>
                <a:ea typeface="Proxima Nova"/>
                <a:cs typeface="Proxima Nova"/>
                <a:sym typeface="Proxima Nova"/>
              </a:rPr>
              <a:t>   </a:t>
            </a:r>
            <a:r>
              <a:rPr lang="en" sz="1800" dirty="0">
                <a:solidFill>
                  <a:srgbClr val="FF5722"/>
                </a:solidFill>
                <a:latin typeface="Proxima Nova"/>
                <a:ea typeface="Proxima Nova"/>
                <a:cs typeface="Proxima Nova"/>
                <a:sym typeface="Proxima Nova"/>
              </a:rPr>
              <a:t>e.g. u = 8 (1 byte tweak). </a:t>
            </a:r>
            <a:endParaRPr sz="1800" dirty="0">
              <a:solidFill>
                <a:srgbClr val="FF5722"/>
              </a:solidFill>
              <a:latin typeface="Proxima Nova"/>
              <a:ea typeface="Proxima Nova"/>
              <a:cs typeface="Proxima Nova"/>
              <a:sym typeface="Proxima Nova"/>
            </a:endParaRPr>
          </a:p>
          <a:p>
            <a:pPr marL="1371600" lvl="0" indent="0" algn="l" rtl="0">
              <a:spcBef>
                <a:spcPts val="0"/>
              </a:spcBef>
              <a:spcAft>
                <a:spcPts val="0"/>
              </a:spcAft>
              <a:buClr>
                <a:schemeClr val="dk1"/>
              </a:buClr>
              <a:buSzPts val="1100"/>
              <a:buFont typeface="Arial"/>
              <a:buNone/>
            </a:pPr>
            <a:r>
              <a:rPr lang="en" sz="1800" i="1" dirty="0">
                <a:solidFill>
                  <a:srgbClr val="666666"/>
                </a:solidFill>
                <a:latin typeface="Proxima Nova"/>
                <a:ea typeface="Proxima Nova"/>
                <a:cs typeface="Proxima Nova"/>
                <a:sym typeface="Proxima Nova"/>
              </a:rPr>
              <a:t>f: </a:t>
            </a:r>
            <a:r>
              <a:rPr lang="en" sz="1800" i="1" dirty="0" err="1">
                <a:solidFill>
                  <a:srgbClr val="666666"/>
                </a:solidFill>
                <a:latin typeface="Proxima Nova"/>
                <a:ea typeface="Proxima Nova"/>
                <a:cs typeface="Proxima Nova"/>
                <a:sym typeface="Proxima Nova"/>
              </a:rPr>
              <a:t>F</a:t>
            </a:r>
            <a:r>
              <a:rPr lang="en" sz="1800" i="1" baseline="-25000" dirty="0" err="1">
                <a:solidFill>
                  <a:srgbClr val="666666"/>
                </a:solidFill>
                <a:latin typeface="Proxima Nova"/>
                <a:ea typeface="Proxima Nova"/>
                <a:cs typeface="Proxima Nova"/>
                <a:sym typeface="Proxima Nova"/>
              </a:rPr>
              <a:t>q</a:t>
            </a:r>
            <a:r>
              <a:rPr lang="en" sz="1800" i="1" dirty="0">
                <a:solidFill>
                  <a:srgbClr val="666666"/>
                </a:solidFill>
                <a:latin typeface="Proxima Nova"/>
                <a:ea typeface="Proxima Nova"/>
                <a:cs typeface="Proxima Nova"/>
                <a:sym typeface="Proxima Nova"/>
              </a:rPr>
              <a:t>​ → G</a:t>
            </a:r>
            <a:r>
              <a:rPr lang="en" sz="1800" dirty="0">
                <a:solidFill>
                  <a:srgbClr val="666666"/>
                </a:solidFill>
                <a:latin typeface="Proxima Nova"/>
                <a:ea typeface="Proxima Nova"/>
                <a:cs typeface="Proxima Nova"/>
                <a:sym typeface="Proxima Nova"/>
              </a:rPr>
              <a:t> is injective and inverse excluding,</a:t>
            </a:r>
            <a:endParaRPr sz="1800" dirty="0">
              <a:solidFill>
                <a:srgbClr val="666666"/>
              </a:solidFill>
              <a:latin typeface="Proxima Nova"/>
              <a:ea typeface="Proxima Nova"/>
              <a:cs typeface="Proxima Nova"/>
              <a:sym typeface="Proxima Nova"/>
            </a:endParaRPr>
          </a:p>
          <a:p>
            <a:pPr marL="1371600" lvl="0" indent="0" algn="l" rtl="0">
              <a:spcBef>
                <a:spcPts val="0"/>
              </a:spcBef>
              <a:spcAft>
                <a:spcPts val="0"/>
              </a:spcAft>
              <a:buClr>
                <a:schemeClr val="dk1"/>
              </a:buClr>
              <a:buSzPts val="1100"/>
              <a:buFont typeface="Arial"/>
              <a:buNone/>
            </a:pPr>
            <a:endParaRPr sz="1800" dirty="0">
              <a:solidFill>
                <a:srgbClr val="666666"/>
              </a:solidFill>
              <a:latin typeface="Proxima Nova"/>
              <a:ea typeface="Proxima Nova"/>
              <a:cs typeface="Proxima Nova"/>
              <a:sym typeface="Proxima Nova"/>
            </a:endParaRPr>
          </a:p>
          <a:p>
            <a:pPr marL="0" lvl="0" indent="0" algn="l" rtl="0">
              <a:lnSpc>
                <a:spcPct val="115000"/>
              </a:lnSpc>
              <a:spcBef>
                <a:spcPts val="0"/>
              </a:spcBef>
              <a:spcAft>
                <a:spcPts val="0"/>
              </a:spcAft>
              <a:buClr>
                <a:schemeClr val="dk1"/>
              </a:buClr>
              <a:buSzPts val="1100"/>
              <a:buFont typeface="Arial"/>
              <a:buNone/>
            </a:pPr>
            <a:r>
              <a:rPr lang="en" sz="1800" b="1" dirty="0">
                <a:solidFill>
                  <a:srgbClr val="666666"/>
                </a:solidFill>
                <a:latin typeface="Proxima Nova"/>
                <a:ea typeface="Proxima Nova"/>
                <a:cs typeface="Proxima Nova"/>
                <a:sym typeface="Proxima Nova"/>
              </a:rPr>
              <a:t>Procedure:</a:t>
            </a:r>
            <a:r>
              <a:rPr lang="en" sz="1800" dirty="0">
                <a:solidFill>
                  <a:srgbClr val="666666"/>
                </a:solidFill>
                <a:latin typeface="Proxima Nova"/>
                <a:ea typeface="Proxima Nova"/>
                <a:cs typeface="Proxima Nova"/>
                <a:sym typeface="Proxima Nova"/>
              </a:rPr>
              <a:t> to compute </a:t>
            </a:r>
            <a:r>
              <a:rPr lang="en" sz="1800" i="1" dirty="0">
                <a:solidFill>
                  <a:srgbClr val="666666"/>
                </a:solidFill>
                <a:latin typeface="Proxima Nova"/>
                <a:ea typeface="Proxima Nova"/>
                <a:cs typeface="Proxima Nova"/>
                <a:sym typeface="Proxima Nova"/>
              </a:rPr>
              <a:t>f(m)</a:t>
            </a:r>
            <a:r>
              <a:rPr lang="en" sz="1800" dirty="0">
                <a:solidFill>
                  <a:srgbClr val="666666"/>
                </a:solidFill>
                <a:latin typeface="Proxima Nova"/>
                <a:ea typeface="Proxima Nova"/>
                <a:cs typeface="Proxima Nova"/>
                <a:sym typeface="Proxima Nova"/>
              </a:rPr>
              <a:t>:</a:t>
            </a:r>
            <a:endParaRPr sz="1800" dirty="0">
              <a:solidFill>
                <a:srgbClr val="666666"/>
              </a:solidFill>
              <a:latin typeface="Proxima Nova"/>
              <a:ea typeface="Proxima Nova"/>
              <a:cs typeface="Proxima Nova"/>
              <a:sym typeface="Proxima Nova"/>
            </a:endParaRPr>
          </a:p>
          <a:p>
            <a:pPr marL="457200" lvl="0" indent="-342900" algn="l" rtl="0">
              <a:lnSpc>
                <a:spcPct val="115000"/>
              </a:lnSpc>
              <a:spcBef>
                <a:spcPts val="0"/>
              </a:spcBef>
              <a:spcAft>
                <a:spcPts val="0"/>
              </a:spcAft>
              <a:buClr>
                <a:srgbClr val="666666"/>
              </a:buClr>
              <a:buSzPts val="1800"/>
              <a:buFont typeface="Proxima Nova"/>
              <a:buChar char="●"/>
            </a:pPr>
            <a:r>
              <a:rPr lang="en" sz="1800" i="1" dirty="0">
                <a:solidFill>
                  <a:srgbClr val="666666"/>
                </a:solidFill>
                <a:latin typeface="Proxima Nova"/>
                <a:ea typeface="Proxima Nova"/>
                <a:cs typeface="Proxima Nova"/>
                <a:sym typeface="Proxima Nova"/>
              </a:rPr>
              <a:t>t = 0</a:t>
            </a:r>
            <a:r>
              <a:rPr lang="en" sz="1800" dirty="0">
                <a:solidFill>
                  <a:srgbClr val="666666"/>
                </a:solidFill>
                <a:latin typeface="Proxima Nova"/>
                <a:ea typeface="Proxima Nova"/>
                <a:cs typeface="Proxima Nova"/>
                <a:sym typeface="Proxima Nova"/>
              </a:rPr>
              <a:t>, </a:t>
            </a:r>
            <a:r>
              <a:rPr lang="en" sz="1800" i="1" dirty="0">
                <a:solidFill>
                  <a:srgbClr val="666666"/>
                </a:solidFill>
                <a:latin typeface="Proxima Nova"/>
                <a:ea typeface="Proxima Nova"/>
                <a:cs typeface="Proxima Nova"/>
                <a:sym typeface="Proxima Nova"/>
              </a:rPr>
              <a:t>x = t + m |T|</a:t>
            </a:r>
            <a:r>
              <a:rPr lang="en" sz="1800" dirty="0">
                <a:solidFill>
                  <a:srgbClr val="666666"/>
                </a:solidFill>
                <a:latin typeface="Proxima Nova"/>
                <a:ea typeface="Proxima Nova"/>
                <a:cs typeface="Proxima Nova"/>
                <a:sym typeface="Proxima Nova"/>
              </a:rPr>
              <a:t>, </a:t>
            </a:r>
            <a:r>
              <a:rPr lang="en" sz="1800" i="1" dirty="0">
                <a:solidFill>
                  <a:srgbClr val="666666"/>
                </a:solidFill>
                <a:latin typeface="Proxima Nova"/>
                <a:ea typeface="Proxima Nova"/>
                <a:cs typeface="Proxima Nova"/>
                <a:sym typeface="Proxima Nova"/>
              </a:rPr>
              <a:t>y</a:t>
            </a:r>
            <a:r>
              <a:rPr lang="en" sz="1800" dirty="0">
                <a:solidFill>
                  <a:srgbClr val="666666"/>
                </a:solidFill>
                <a:latin typeface="Proxima Nova"/>
                <a:ea typeface="Proxima Nova"/>
                <a:cs typeface="Proxima Nova"/>
                <a:sym typeface="Proxima Nova"/>
              </a:rPr>
              <a:t> is computed using the curve eq.</a:t>
            </a:r>
            <a:endParaRPr sz="1800" dirty="0">
              <a:solidFill>
                <a:srgbClr val="666666"/>
              </a:solidFill>
              <a:latin typeface="Proxima Nova"/>
              <a:ea typeface="Proxima Nova"/>
              <a:cs typeface="Proxima Nova"/>
              <a:sym typeface="Proxima Nova"/>
            </a:endParaRPr>
          </a:p>
          <a:p>
            <a:pPr marL="457200" lvl="0" indent="-342900" algn="l" rtl="0">
              <a:lnSpc>
                <a:spcPct val="115000"/>
              </a:lnSpc>
              <a:spcBef>
                <a:spcPts val="0"/>
              </a:spcBef>
              <a:spcAft>
                <a:spcPts val="0"/>
              </a:spcAft>
              <a:buClr>
                <a:srgbClr val="666666"/>
              </a:buClr>
              <a:buSzPts val="1800"/>
              <a:buFont typeface="Proxima Nova"/>
              <a:buChar char="●"/>
            </a:pPr>
            <a:r>
              <a:rPr lang="en" sz="1800" dirty="0">
                <a:solidFill>
                  <a:srgbClr val="666666"/>
                </a:solidFill>
                <a:latin typeface="Proxima Nova"/>
                <a:ea typeface="Proxima Nova"/>
                <a:cs typeface="Proxima Nova"/>
                <a:sym typeface="Proxima Nova"/>
              </a:rPr>
              <a:t>While </a:t>
            </a:r>
            <a:r>
              <a:rPr lang="en" sz="1800" i="1" dirty="0">
                <a:solidFill>
                  <a:srgbClr val="666666"/>
                </a:solidFill>
                <a:latin typeface="Proxima Nova"/>
                <a:ea typeface="Proxima Nova"/>
                <a:cs typeface="Proxima Nova"/>
                <a:sym typeface="Proxima Nova"/>
              </a:rPr>
              <a:t>sqrt(</a:t>
            </a:r>
            <a:r>
              <a:rPr lang="en" sz="1800" dirty="0">
                <a:solidFill>
                  <a:srgbClr val="666666"/>
                </a:solidFill>
                <a:latin typeface="Proxima Nova"/>
                <a:ea typeface="Proxima Nova"/>
                <a:cs typeface="Proxima Nova"/>
                <a:sym typeface="Proxima Nova"/>
              </a:rPr>
              <a:t> </a:t>
            </a:r>
            <a:r>
              <a:rPr lang="en" sz="1800" i="1" dirty="0">
                <a:solidFill>
                  <a:srgbClr val="666666"/>
                </a:solidFill>
                <a:latin typeface="Proxima Nova"/>
                <a:ea typeface="Proxima Nova"/>
                <a:cs typeface="Proxima Nova"/>
                <a:sym typeface="Proxima Nova"/>
              </a:rPr>
              <a:t>y )</a:t>
            </a:r>
            <a:r>
              <a:rPr lang="en" sz="1800" dirty="0">
                <a:solidFill>
                  <a:srgbClr val="666666"/>
                </a:solidFill>
                <a:latin typeface="Proxima Nova"/>
                <a:ea typeface="Proxima Nova"/>
                <a:cs typeface="Proxima Nova"/>
                <a:sym typeface="Proxima Nova"/>
              </a:rPr>
              <a:t> is invalid, </a:t>
            </a:r>
            <a:endParaRPr sz="1800" dirty="0">
              <a:solidFill>
                <a:srgbClr val="666666"/>
              </a:solidFill>
              <a:latin typeface="Proxima Nova"/>
              <a:ea typeface="Proxima Nova"/>
              <a:cs typeface="Proxima Nova"/>
              <a:sym typeface="Proxima Nova"/>
            </a:endParaRPr>
          </a:p>
          <a:p>
            <a:pPr marL="914400" lvl="1" indent="-342900" algn="l" rtl="0">
              <a:lnSpc>
                <a:spcPct val="115000"/>
              </a:lnSpc>
              <a:spcBef>
                <a:spcPts val="0"/>
              </a:spcBef>
              <a:spcAft>
                <a:spcPts val="0"/>
              </a:spcAft>
              <a:buClr>
                <a:srgbClr val="666666"/>
              </a:buClr>
              <a:buSzPts val="1800"/>
              <a:buFont typeface="Proxima Nova"/>
              <a:buChar char="○"/>
            </a:pPr>
            <a:r>
              <a:rPr lang="en" sz="1800" i="1" dirty="0">
                <a:solidFill>
                  <a:srgbClr val="666666"/>
                </a:solidFill>
                <a:latin typeface="Proxima Nova"/>
                <a:ea typeface="Proxima Nova"/>
                <a:cs typeface="Proxima Nova"/>
                <a:sym typeface="Proxima Nova"/>
              </a:rPr>
              <a:t>t = t + 1</a:t>
            </a:r>
            <a:endParaRPr sz="1800" i="1" dirty="0">
              <a:solidFill>
                <a:srgbClr val="666666"/>
              </a:solidFill>
              <a:latin typeface="Proxima Nova"/>
              <a:ea typeface="Proxima Nova"/>
              <a:cs typeface="Proxima Nova"/>
              <a:sym typeface="Proxima Nova"/>
            </a:endParaRPr>
          </a:p>
          <a:p>
            <a:pPr marL="914400" lvl="1" indent="-342900" algn="l" rtl="0">
              <a:lnSpc>
                <a:spcPct val="115000"/>
              </a:lnSpc>
              <a:spcBef>
                <a:spcPts val="0"/>
              </a:spcBef>
              <a:spcAft>
                <a:spcPts val="0"/>
              </a:spcAft>
              <a:buClr>
                <a:srgbClr val="666666"/>
              </a:buClr>
              <a:buSzPts val="1800"/>
              <a:buFont typeface="Proxima Nova"/>
              <a:buChar char="○"/>
            </a:pPr>
            <a:r>
              <a:rPr lang="en" sz="1800" i="1" dirty="0">
                <a:solidFill>
                  <a:srgbClr val="666666"/>
                </a:solidFill>
                <a:latin typeface="Proxima Nova"/>
                <a:ea typeface="Proxima Nova"/>
                <a:cs typeface="Proxima Nova"/>
                <a:sym typeface="Proxima Nova"/>
              </a:rPr>
              <a:t>x = t + m |T|</a:t>
            </a:r>
            <a:r>
              <a:rPr lang="en" sz="1800" dirty="0">
                <a:solidFill>
                  <a:srgbClr val="666666"/>
                </a:solidFill>
                <a:latin typeface="Proxima Nova"/>
                <a:ea typeface="Proxima Nova"/>
                <a:cs typeface="Proxima Nova"/>
                <a:sym typeface="Proxima Nova"/>
              </a:rPr>
              <a:t>, </a:t>
            </a:r>
            <a:r>
              <a:rPr lang="en" sz="1800" i="1" dirty="0">
                <a:solidFill>
                  <a:srgbClr val="666666"/>
                </a:solidFill>
                <a:latin typeface="Proxima Nova"/>
                <a:ea typeface="Proxima Nova"/>
                <a:cs typeface="Proxima Nova"/>
                <a:sym typeface="Proxima Nova"/>
              </a:rPr>
              <a:t>y</a:t>
            </a:r>
            <a:r>
              <a:rPr lang="en" sz="1800" dirty="0">
                <a:solidFill>
                  <a:srgbClr val="666666"/>
                </a:solidFill>
                <a:latin typeface="Proxima Nova"/>
                <a:ea typeface="Proxima Nova"/>
                <a:cs typeface="Proxima Nova"/>
                <a:sym typeface="Proxima Nova"/>
              </a:rPr>
              <a:t> is computed using the curve eq.</a:t>
            </a:r>
            <a:endParaRPr sz="1800" dirty="0">
              <a:solidFill>
                <a:srgbClr val="666666"/>
              </a:solidFill>
              <a:latin typeface="Proxima Nova"/>
              <a:ea typeface="Proxima Nova"/>
              <a:cs typeface="Proxima Nova"/>
              <a:sym typeface="Proxima Nova"/>
            </a:endParaRPr>
          </a:p>
          <a:p>
            <a:pPr marL="457200" lvl="0" indent="-342900" algn="l" rtl="0">
              <a:lnSpc>
                <a:spcPct val="115000"/>
              </a:lnSpc>
              <a:spcBef>
                <a:spcPts val="0"/>
              </a:spcBef>
              <a:spcAft>
                <a:spcPts val="0"/>
              </a:spcAft>
              <a:buClr>
                <a:srgbClr val="666666"/>
              </a:buClr>
              <a:buSzPts val="1800"/>
              <a:buFont typeface="Proxima Nova"/>
              <a:buChar char="●"/>
            </a:pPr>
            <a:r>
              <a:rPr lang="en" sz="1800" dirty="0">
                <a:solidFill>
                  <a:srgbClr val="666666"/>
                </a:solidFill>
                <a:latin typeface="Proxima Nova"/>
                <a:ea typeface="Proxima Nova"/>
                <a:cs typeface="Proxima Nova"/>
                <a:sym typeface="Proxima Nova"/>
              </a:rPr>
              <a:t>Return </a:t>
            </a:r>
            <a:r>
              <a:rPr lang="en" sz="1800" i="1" dirty="0">
                <a:solidFill>
                  <a:srgbClr val="666666"/>
                </a:solidFill>
                <a:latin typeface="Proxima Nova"/>
                <a:ea typeface="Proxima Nova"/>
                <a:cs typeface="Proxima Nova"/>
                <a:sym typeface="Proxima Nova"/>
              </a:rPr>
              <a:t>(x, y).</a:t>
            </a:r>
            <a:endParaRPr sz="1800" i="1" dirty="0">
              <a:solidFill>
                <a:srgbClr val="666666"/>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endParaRPr sz="1600" dirty="0">
              <a:solidFill>
                <a:srgbClr val="666666"/>
              </a:solidFill>
              <a:latin typeface="Proxima Nova"/>
              <a:ea typeface="Proxima Nova"/>
              <a:cs typeface="Proxima Nova"/>
              <a:sym typeface="Proxima Nova"/>
            </a:endParaRPr>
          </a:p>
          <a:p>
            <a:pPr marL="0" lvl="0" indent="0" algn="l" rtl="0">
              <a:spcBef>
                <a:spcPts val="0"/>
              </a:spcBef>
              <a:spcAft>
                <a:spcPts val="0"/>
              </a:spcAft>
              <a:buClr>
                <a:schemeClr val="dk1"/>
              </a:buClr>
              <a:buSzPts val="1100"/>
              <a:buFont typeface="Arial"/>
              <a:buNone/>
            </a:pPr>
            <a:r>
              <a:rPr lang="en" sz="1800" b="1" u="sng" dirty="0">
                <a:solidFill>
                  <a:srgbClr val="666666"/>
                </a:solidFill>
                <a:latin typeface="Proxima Nova"/>
                <a:ea typeface="Proxima Nova"/>
                <a:cs typeface="Proxima Nova"/>
                <a:sym typeface="Proxima Nova"/>
              </a:rPr>
              <a:t>Issue: </a:t>
            </a:r>
            <a:r>
              <a:rPr lang="en" sz="1800" dirty="0">
                <a:solidFill>
                  <a:srgbClr val="666666"/>
                </a:solidFill>
                <a:latin typeface="Proxima Nova"/>
                <a:ea typeface="Proxima Nova"/>
                <a:cs typeface="Proxima Nova"/>
                <a:sym typeface="Proxima Nova"/>
              </a:rPr>
              <a:t>You have to prove </a:t>
            </a:r>
            <a:r>
              <a:rPr lang="en" sz="1800" i="1" dirty="0">
                <a:solidFill>
                  <a:srgbClr val="666666"/>
                </a:solidFill>
                <a:latin typeface="Proxima Nova"/>
                <a:ea typeface="Proxima Nova"/>
                <a:cs typeface="Proxima Nova"/>
                <a:sym typeface="Proxima Nova"/>
              </a:rPr>
              <a:t>t</a:t>
            </a:r>
            <a:r>
              <a:rPr lang="en" sz="1800" dirty="0">
                <a:solidFill>
                  <a:srgbClr val="666666"/>
                </a:solidFill>
                <a:latin typeface="Proxima Nova"/>
                <a:ea typeface="Proxima Nova"/>
                <a:cs typeface="Proxima Nova"/>
                <a:sym typeface="Proxima Nova"/>
              </a:rPr>
              <a:t> is the </a:t>
            </a:r>
            <a:r>
              <a:rPr lang="en" sz="1800" b="1" dirty="0">
                <a:solidFill>
                  <a:srgbClr val="666666"/>
                </a:solidFill>
                <a:latin typeface="Proxima Nova"/>
                <a:ea typeface="Proxima Nova"/>
                <a:cs typeface="Proxima Nova"/>
                <a:sym typeface="Proxima Nova"/>
              </a:rPr>
              <a:t>smallest possible</a:t>
            </a:r>
            <a:r>
              <a:rPr lang="en" sz="1800" dirty="0">
                <a:solidFill>
                  <a:srgbClr val="666666"/>
                </a:solidFill>
                <a:latin typeface="Proxima Nova"/>
                <a:ea typeface="Proxima Nova"/>
                <a:cs typeface="Proxima Nova"/>
                <a:sym typeface="Proxima Nova"/>
              </a:rPr>
              <a:t> tweak as part of the proof. Of course, in SNARK programming this becomes untenable. </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756703ee3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a756703ee3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dirty="0"/>
              <a:t>So we get rid of this overhead by using a relation, instead of a function,</a:t>
            </a:r>
            <a:endParaRPr sz="500" dirty="0"/>
          </a:p>
          <a:p>
            <a:pPr marL="0" lvl="0" indent="0" algn="l" rtl="0">
              <a:lnSpc>
                <a:spcPct val="100000"/>
              </a:lnSpc>
              <a:spcBef>
                <a:spcPts val="0"/>
              </a:spcBef>
              <a:spcAft>
                <a:spcPts val="0"/>
              </a:spcAft>
              <a:buClr>
                <a:schemeClr val="dk1"/>
              </a:buClr>
              <a:buSzPts val="1100"/>
              <a:buFont typeface="Arial"/>
              <a:buNone/>
            </a:pPr>
            <a:r>
              <a:rPr lang="en" sz="1200" dirty="0">
                <a:solidFill>
                  <a:srgbClr val="666666"/>
                </a:solidFill>
                <a:latin typeface="Proxima Nova"/>
                <a:ea typeface="Proxima Nova"/>
                <a:cs typeface="Proxima Nova"/>
                <a:sym typeface="Proxima Nova"/>
              </a:rPr>
              <a:t>allow </a:t>
            </a:r>
            <a:r>
              <a:rPr lang="en" sz="1200" i="1" dirty="0">
                <a:solidFill>
                  <a:srgbClr val="666666"/>
                </a:solidFill>
                <a:latin typeface="Proxima Nova"/>
                <a:ea typeface="Proxima Nova"/>
                <a:cs typeface="Proxima Nova"/>
                <a:sym typeface="Proxima Nova"/>
              </a:rPr>
              <a:t>nondeterministic</a:t>
            </a:r>
            <a:r>
              <a:rPr lang="en" sz="1200" dirty="0">
                <a:solidFill>
                  <a:srgbClr val="666666"/>
                </a:solidFill>
                <a:latin typeface="Proxima Nova"/>
                <a:ea typeface="Proxima Nova"/>
                <a:cs typeface="Proxima Nova"/>
                <a:sym typeface="Proxima Nova"/>
              </a:rPr>
              <a:t> map-to-group outputs in the circuit:</a:t>
            </a:r>
            <a:endParaRPr sz="1200" dirty="0">
              <a:solidFill>
                <a:srgbClr val="666666"/>
              </a:solidFill>
              <a:latin typeface="Proxima Nova"/>
              <a:ea typeface="Proxima Nova"/>
              <a:cs typeface="Proxima Nova"/>
              <a:sym typeface="Proxima Nova"/>
            </a:endParaRPr>
          </a:p>
          <a:p>
            <a:pPr marL="457200" lvl="0" indent="-304800" algn="l" rtl="0">
              <a:lnSpc>
                <a:spcPct val="100000"/>
              </a:lnSpc>
              <a:spcBef>
                <a:spcPts val="1200"/>
              </a:spcBef>
              <a:spcAft>
                <a:spcPts val="0"/>
              </a:spcAft>
              <a:buClr>
                <a:srgbClr val="666666"/>
              </a:buClr>
              <a:buSzPts val="1200"/>
              <a:buFont typeface="Proxima Nova"/>
              <a:buChar char="●"/>
            </a:pPr>
            <a:r>
              <a:rPr lang="en" sz="1200" dirty="0">
                <a:solidFill>
                  <a:srgbClr val="666666"/>
                </a:solidFill>
                <a:latin typeface="Proxima Nova"/>
                <a:ea typeface="Proxima Nova"/>
                <a:cs typeface="Proxima Nova"/>
                <a:sym typeface="Proxima Nova"/>
              </a:rPr>
              <a:t>A map-to-group language </a:t>
            </a:r>
            <a:r>
              <a:rPr lang="en" sz="1200" i="1" dirty="0">
                <a:solidFill>
                  <a:srgbClr val="666666"/>
                </a:solidFill>
                <a:latin typeface="Proxima Nova"/>
                <a:ea typeface="Proxima Nova"/>
                <a:cs typeface="Proxima Nova"/>
                <a:sym typeface="Proxima Nova"/>
              </a:rPr>
              <a:t>L: pairs (m, P)</a:t>
            </a:r>
            <a:r>
              <a:rPr lang="en" sz="1200" dirty="0">
                <a:solidFill>
                  <a:srgbClr val="666666"/>
                </a:solidFill>
                <a:latin typeface="Proxima Nova"/>
                <a:ea typeface="Proxima Nova"/>
                <a:cs typeface="Proxima Nova"/>
                <a:sym typeface="Proxima Nova"/>
              </a:rPr>
              <a:t> that are allowed.</a:t>
            </a:r>
            <a:endParaRPr sz="1200" dirty="0">
              <a:solidFill>
                <a:srgbClr val="666666"/>
              </a:solidFill>
              <a:latin typeface="Proxima Nova"/>
              <a:ea typeface="Proxima Nova"/>
              <a:cs typeface="Proxima Nova"/>
              <a:sym typeface="Proxima Nova"/>
            </a:endParaRPr>
          </a:p>
          <a:p>
            <a:pPr marL="457200" lvl="0" indent="-304800" algn="l" rtl="0">
              <a:lnSpc>
                <a:spcPct val="100000"/>
              </a:lnSpc>
              <a:spcBef>
                <a:spcPts val="1000"/>
              </a:spcBef>
              <a:spcAft>
                <a:spcPts val="0"/>
              </a:spcAft>
              <a:buClr>
                <a:srgbClr val="666666"/>
              </a:buClr>
              <a:buSzPts val="1200"/>
              <a:buFont typeface="Proxima Nova"/>
              <a:buChar char="●"/>
            </a:pPr>
            <a:r>
              <a:rPr lang="en" sz="1200" dirty="0">
                <a:solidFill>
                  <a:srgbClr val="666666"/>
                </a:solidFill>
                <a:latin typeface="Proxima Nova"/>
                <a:ea typeface="Proxima Nova"/>
                <a:cs typeface="Proxima Nova"/>
                <a:sym typeface="Proxima Nova"/>
              </a:rPr>
              <a:t>Relation </a:t>
            </a:r>
            <a:r>
              <a:rPr lang="en" sz="1200" i="1" dirty="0">
                <a:solidFill>
                  <a:srgbClr val="666666"/>
                </a:solidFill>
                <a:latin typeface="Proxima Nova"/>
                <a:ea typeface="Proxima Nova"/>
                <a:cs typeface="Proxima Nova"/>
                <a:sym typeface="Proxima Nova"/>
              </a:rPr>
              <a:t>R</a:t>
            </a:r>
            <a:r>
              <a:rPr lang="en" sz="1200" i="1" baseline="-25000" dirty="0">
                <a:solidFill>
                  <a:srgbClr val="666666"/>
                </a:solidFill>
                <a:latin typeface="Proxima Nova"/>
                <a:ea typeface="Proxima Nova"/>
                <a:cs typeface="Proxima Nova"/>
                <a:sym typeface="Proxima Nova"/>
              </a:rPr>
              <a:t>M2G</a:t>
            </a:r>
            <a:r>
              <a:rPr lang="en" sz="1200" i="1" dirty="0">
                <a:solidFill>
                  <a:srgbClr val="666666"/>
                </a:solidFill>
                <a:latin typeface="Proxima Nova"/>
                <a:ea typeface="Proxima Nova"/>
                <a:cs typeface="Proxima Nova"/>
                <a:sym typeface="Proxima Nova"/>
              </a:rPr>
              <a:t>(m, P, w)</a:t>
            </a:r>
            <a:r>
              <a:rPr lang="en" sz="1200" dirty="0">
                <a:solidFill>
                  <a:srgbClr val="666666"/>
                </a:solidFill>
                <a:latin typeface="Proxima Nova"/>
                <a:ea typeface="Proxima Nova"/>
                <a:cs typeface="Proxima Nova"/>
                <a:sym typeface="Proxima Nova"/>
              </a:rPr>
              <a:t> with:</a:t>
            </a:r>
            <a:endParaRPr sz="1200" dirty="0">
              <a:solidFill>
                <a:srgbClr val="666666"/>
              </a:solidFill>
              <a:latin typeface="Proxima Nova"/>
              <a:ea typeface="Proxima Nova"/>
              <a:cs typeface="Proxima Nova"/>
              <a:sym typeface="Proxima Nova"/>
            </a:endParaRPr>
          </a:p>
          <a:p>
            <a:pPr marL="914400" lvl="1" indent="-298450" algn="l" rtl="0">
              <a:lnSpc>
                <a:spcPct val="100000"/>
              </a:lnSpc>
              <a:spcBef>
                <a:spcPts val="1000"/>
              </a:spcBef>
              <a:spcAft>
                <a:spcPts val="0"/>
              </a:spcAft>
              <a:buClr>
                <a:srgbClr val="666666"/>
              </a:buClr>
              <a:buSzPts val="1100"/>
              <a:buFont typeface="Proxima Nova"/>
              <a:buChar char="○"/>
            </a:pPr>
            <a:r>
              <a:rPr lang="en" dirty="0">
                <a:solidFill>
                  <a:srgbClr val="666666"/>
                </a:solidFill>
                <a:latin typeface="Proxima Nova"/>
                <a:ea typeface="Proxima Nova"/>
                <a:cs typeface="Proxima Nova"/>
                <a:sym typeface="Proxima Nova"/>
              </a:rPr>
              <a:t>Point constraint: </a:t>
            </a:r>
            <a:r>
              <a:rPr lang="en" i="1" dirty="0">
                <a:solidFill>
                  <a:srgbClr val="666666"/>
                </a:solidFill>
                <a:latin typeface="Proxima Nova"/>
                <a:ea typeface="Proxima Nova"/>
                <a:cs typeface="Proxima Nova"/>
                <a:sym typeface="Proxima Nova"/>
              </a:rPr>
              <a:t>P∈G</a:t>
            </a:r>
            <a:r>
              <a:rPr lang="en" dirty="0">
                <a:solidFill>
                  <a:srgbClr val="666666"/>
                </a:solidFill>
                <a:latin typeface="Proxima Nova"/>
                <a:ea typeface="Proxima Nova"/>
                <a:cs typeface="Proxima Nova"/>
                <a:sym typeface="Proxima Nova"/>
              </a:rPr>
              <a:t>.</a:t>
            </a:r>
            <a:endParaRPr dirty="0">
              <a:solidFill>
                <a:srgbClr val="666666"/>
              </a:solidFill>
              <a:latin typeface="Proxima Nova"/>
              <a:ea typeface="Proxima Nova"/>
              <a:cs typeface="Proxima Nova"/>
              <a:sym typeface="Proxima Nova"/>
            </a:endParaRPr>
          </a:p>
          <a:p>
            <a:pPr marL="914400" lvl="1" indent="-298450" algn="l" rtl="0">
              <a:lnSpc>
                <a:spcPct val="100000"/>
              </a:lnSpc>
              <a:spcBef>
                <a:spcPts val="1000"/>
              </a:spcBef>
              <a:spcAft>
                <a:spcPts val="0"/>
              </a:spcAft>
              <a:buClr>
                <a:srgbClr val="666666"/>
              </a:buClr>
              <a:buSzPts val="1100"/>
              <a:buFont typeface="Proxima Nova"/>
              <a:buChar char="○"/>
            </a:pPr>
            <a:r>
              <a:rPr lang="en" dirty="0">
                <a:solidFill>
                  <a:srgbClr val="666666"/>
                </a:solidFill>
                <a:latin typeface="Proxima Nova"/>
                <a:ea typeface="Proxima Nova"/>
                <a:cs typeface="Proxima Nova"/>
                <a:sym typeface="Proxima Nova"/>
              </a:rPr>
              <a:t>x-constraint: ensures injectivity </a:t>
            </a:r>
            <a:r>
              <a:rPr lang="en" dirty="0" err="1">
                <a:solidFill>
                  <a:srgbClr val="666666"/>
                </a:solidFill>
                <a:latin typeface="Proxima Nova"/>
                <a:ea typeface="Proxima Nova"/>
                <a:cs typeface="Proxima Nova"/>
                <a:sym typeface="Proxima Nova"/>
              </a:rPr>
              <a:t>wrt</a:t>
            </a:r>
            <a:r>
              <a:rPr lang="en" dirty="0">
                <a:solidFill>
                  <a:srgbClr val="666666"/>
                </a:solidFill>
                <a:latin typeface="Proxima Nova"/>
                <a:ea typeface="Proxima Nova"/>
                <a:cs typeface="Proxima Nova"/>
                <a:sym typeface="Proxima Nova"/>
              </a:rPr>
              <a:t> x.</a:t>
            </a:r>
            <a:endParaRPr sz="5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a756703ee3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a756703ee3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68c88f7efe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68c88f7efe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756703ee3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a756703ee3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 dirty="0"/>
              <a:t>We used a high level constraint programming framework called Noir to generate PLONK constraints. </a:t>
            </a:r>
            <a:endParaRPr dirty="0"/>
          </a:p>
          <a:p>
            <a:pPr marL="457200" lvl="0" indent="-298450" algn="l" rtl="0">
              <a:spcBef>
                <a:spcPts val="0"/>
              </a:spcBef>
              <a:spcAft>
                <a:spcPts val="0"/>
              </a:spcAft>
              <a:buSzPts val="1100"/>
              <a:buChar char="-"/>
            </a:pPr>
            <a:r>
              <a:rPr lang="en" dirty="0"/>
              <a:t>Oh also, on the way over I coded this up in </a:t>
            </a:r>
            <a:r>
              <a:rPr lang="en" dirty="0" err="1"/>
              <a:t>Arkworks</a:t>
            </a:r>
            <a:r>
              <a:rPr lang="en" dirty="0"/>
              <a:t>, and it only took 15 R1CS constraints in that system probably due to variation in how the constants are instantiated etc. </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756703ee3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a756703ee3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Here’s the compilation and execution time in </a:t>
            </a:r>
            <a:r>
              <a:rPr lang="en" dirty="0" err="1"/>
              <a:t>Noirlang</a:t>
            </a:r>
            <a:endParaRPr lang="en" dirty="0"/>
          </a:p>
          <a:p>
            <a:pPr marL="0" lvl="0" indent="0" algn="l" rtl="0">
              <a:spcBef>
                <a:spcPts val="0"/>
              </a:spcBef>
              <a:spcAft>
                <a:spcPts val="0"/>
              </a:spcAft>
              <a:buNone/>
            </a:pPr>
            <a:endParaRPr lang="en" dirty="0"/>
          </a:p>
          <a:p>
            <a:pPr marL="0" lvl="0" indent="0" algn="l" rtl="0">
              <a:spcBef>
                <a:spcPts val="0"/>
              </a:spcBef>
              <a:spcAft>
                <a:spcPts val="0"/>
              </a:spcAft>
              <a:buNone/>
            </a:pPr>
            <a:r>
              <a:rPr lang="en" dirty="0"/>
              <a:t>First of all notice that while Sha256 itself, which is down here is very efficient to compute in regular processors, so witness generation is fast, it's high constraint cost means it cannot even be compiled at 2^12 iterations -- Noir version we used only compiles circuits of up to 2^23 constraints.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If you're wondering where Map-to-curve sits, it's way down here by the x axis. </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a756703ee3_0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a756703ee3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here’s the proving time using the plonk prover implementation that comes with Noir.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a756703ee3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a756703ee3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91577e3b2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91577e3b2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a756703ee3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a756703ee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a756703ee3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a756703ee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756703ee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a756703ee3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68c88f7efe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68c88f7ef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a756703ee3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a756703ee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w="76200" cap="flat" cmpd="sng">
            <a:solidFill>
              <a:schemeClr val="dk1"/>
            </a:solidFill>
            <a:prstDash val="solid"/>
            <a:round/>
            <a:headEnd type="none" w="sm" len="sm"/>
            <a:tailEnd type="none" w="sm" len="sm"/>
          </a:ln>
        </p:spPr>
      </p:cxnSp>
      <p:sp>
        <p:nvSpPr>
          <p:cNvPr id="11" name="Google Shape;11;p2"/>
          <p:cNvSpPr txBox="1">
            <a:spLocks noGrp="1"/>
          </p:cNvSpPr>
          <p:nvPr>
            <p:ph type="ctrTitle"/>
          </p:nvPr>
        </p:nvSpPr>
        <p:spPr>
          <a:xfrm>
            <a:off x="311700" y="595975"/>
            <a:ext cx="8520600" cy="1957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2" name="Google Shape;12;p2"/>
          <p:cNvSpPr txBox="1">
            <a:spLocks noGrp="1"/>
          </p:cNvSpPr>
          <p:nvPr>
            <p:ph type="subTitle" idx="1"/>
          </p:nvPr>
        </p:nvSpPr>
        <p:spPr>
          <a:xfrm>
            <a:off x="311700" y="3165823"/>
            <a:ext cx="8520600" cy="733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480550"/>
            <a:ext cx="8114400" cy="24459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6318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490875"/>
            <a:ext cx="2808000" cy="30780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526350"/>
            <a:ext cx="56838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8" name="Google Shape;38;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39" name="Google Shape;39;p9"/>
          <p:cNvSpPr txBox="1">
            <a:spLocks noGrp="1"/>
          </p:cNvSpPr>
          <p:nvPr>
            <p:ph type="title"/>
          </p:nvPr>
        </p:nvSpPr>
        <p:spPr>
          <a:xfrm>
            <a:off x="265500" y="1375599"/>
            <a:ext cx="4045200" cy="15519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0" name="Google Shape;40;p9"/>
          <p:cNvSpPr txBox="1">
            <a:spLocks noGrp="1"/>
          </p:cNvSpPr>
          <p:nvPr>
            <p:ph type="subTitle" idx="1"/>
          </p:nvPr>
        </p:nvSpPr>
        <p:spPr>
          <a:xfrm>
            <a:off x="265500" y="2981125"/>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41" name="Google Shape;41;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2" name="Google Shape;4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a:endParaRPr/>
          </a:p>
        </p:txBody>
      </p:sp>
      <p:sp>
        <p:nvSpPr>
          <p:cNvPr id="45" name="Google Shape;4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311700" y="1167925"/>
            <a:ext cx="8520600" cy="19800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a:spLocks noGrp="1"/>
          </p:cNvSpPr>
          <p:nvPr>
            <p:ph type="body" idx="1"/>
          </p:nvPr>
        </p:nvSpPr>
        <p:spPr>
          <a:xfrm>
            <a:off x="311700" y="32242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comments" Target="../comments/comment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ctrTitle"/>
          </p:nvPr>
        </p:nvSpPr>
        <p:spPr>
          <a:xfrm>
            <a:off x="311700" y="595975"/>
            <a:ext cx="8520600" cy="195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580"/>
              <a:t>Constraint-Friendly Map-to-Elliptic-Curve-Group Relations (and Their Applications)</a:t>
            </a:r>
            <a:endParaRPr sz="3580"/>
          </a:p>
        </p:txBody>
      </p:sp>
      <p:sp>
        <p:nvSpPr>
          <p:cNvPr id="57" name="Google Shape;57;p13"/>
          <p:cNvSpPr txBox="1">
            <a:spLocks noGrp="1"/>
          </p:cNvSpPr>
          <p:nvPr>
            <p:ph type="subTitle" idx="1"/>
          </p:nvPr>
        </p:nvSpPr>
        <p:spPr>
          <a:xfrm>
            <a:off x="311700" y="2834125"/>
            <a:ext cx="8520600" cy="15993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dirty="0" err="1"/>
              <a:t>Harjasleen</a:t>
            </a:r>
            <a:r>
              <a:rPr lang="en" dirty="0"/>
              <a:t> (Jasleen) </a:t>
            </a:r>
            <a:r>
              <a:rPr lang="en" dirty="0" err="1"/>
              <a:t>Malvai</a:t>
            </a:r>
            <a:endParaRPr dirty="0"/>
          </a:p>
          <a:p>
            <a:pPr marL="0" lvl="0" indent="0" algn="ctr" rtl="0">
              <a:spcBef>
                <a:spcPts val="0"/>
              </a:spcBef>
              <a:spcAft>
                <a:spcPts val="0"/>
              </a:spcAft>
              <a:buNone/>
            </a:pPr>
            <a:r>
              <a:rPr lang="en" dirty="0"/>
              <a:t>(UIUC, IC3)</a:t>
            </a:r>
            <a:endParaRPr dirty="0"/>
          </a:p>
          <a:p>
            <a:pPr marL="0" lvl="0" indent="0" algn="ctr" rtl="0">
              <a:spcBef>
                <a:spcPts val="0"/>
              </a:spcBef>
              <a:spcAft>
                <a:spcPts val="0"/>
              </a:spcAft>
              <a:buNone/>
            </a:pPr>
            <a:r>
              <a:rPr lang="en" i="1" dirty="0"/>
              <a:t>joint work with </a:t>
            </a:r>
            <a:r>
              <a:rPr lang="en" i="1" dirty="0" err="1"/>
              <a:t>Yinuo</a:t>
            </a:r>
            <a:r>
              <a:rPr lang="en" i="1" dirty="0"/>
              <a:t> Zhang (UC Berkeley), Andrew Miller (Teleport, UIUC and IC3) and Jens </a:t>
            </a:r>
            <a:r>
              <a:rPr lang="en" i="1" dirty="0" err="1"/>
              <a:t>Groth</a:t>
            </a:r>
            <a:r>
              <a:rPr lang="en" i="1" dirty="0"/>
              <a:t> (Nexus)</a:t>
            </a:r>
            <a:endParaRPr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Multiset Hash Functions</a:t>
            </a:r>
            <a:endParaRPr/>
          </a:p>
        </p:txBody>
      </p:sp>
      <p:sp>
        <p:nvSpPr>
          <p:cNvPr id="63" name="Google Shape;63;p14"/>
          <p:cNvSpPr txBox="1">
            <a:spLocks noGrp="1"/>
          </p:cNvSpPr>
          <p:nvPr>
            <p:ph type="body" idx="1"/>
          </p:nvPr>
        </p:nvSpPr>
        <p:spPr>
          <a:xfrm>
            <a:off x="311700" y="1152475"/>
            <a:ext cx="8520600" cy="3712200"/>
          </a:xfrm>
          <a:prstGeom prst="rect">
            <a:avLst/>
          </a:prstGeom>
        </p:spPr>
        <p:txBody>
          <a:bodyPr spcFirstLastPara="1" wrap="square" lIns="91425" tIns="91425" rIns="91425" bIns="91425" anchor="t" anchorCtr="0">
            <a:normAutofit lnSpcReduction="10000"/>
          </a:bodyPr>
          <a:lstStyle/>
          <a:p>
            <a:pPr marL="495300">
              <a:lnSpc>
                <a:spcPct val="150000"/>
              </a:lnSpc>
              <a:spcBef>
                <a:spcPts val="1200"/>
              </a:spcBef>
              <a:buClr>
                <a:schemeClr val="bg2"/>
              </a:buClr>
              <a:buSzPts val="1200"/>
            </a:pPr>
            <a:r>
              <a:rPr lang="en" sz="1900" dirty="0"/>
              <a:t>Mess</a:t>
            </a:r>
            <a:r>
              <a:rPr lang="en" sz="1900" dirty="0">
                <a:solidFill>
                  <a:schemeClr val="bg2"/>
                </a:solidFill>
              </a:rPr>
              <a:t>age space </a:t>
            </a:r>
            <a:r>
              <a:rPr lang="en" sz="1900" i="1" dirty="0">
                <a:solidFill>
                  <a:schemeClr val="bg2"/>
                </a:solidFill>
              </a:rPr>
              <a:t>M</a:t>
            </a:r>
            <a:r>
              <a:rPr lang="en" sz="1900" dirty="0">
                <a:solidFill>
                  <a:schemeClr val="bg2"/>
                </a:solidFill>
              </a:rPr>
              <a:t>, </a:t>
            </a:r>
          </a:p>
          <a:p>
            <a:pPr marL="495300">
              <a:lnSpc>
                <a:spcPct val="150000"/>
              </a:lnSpc>
              <a:spcBef>
                <a:spcPts val="1200"/>
              </a:spcBef>
              <a:buClr>
                <a:schemeClr val="bg2"/>
              </a:buClr>
              <a:buSzPts val="1200"/>
            </a:pPr>
            <a:r>
              <a:rPr lang="en" sz="1900" dirty="0">
                <a:solidFill>
                  <a:schemeClr val="bg2"/>
                </a:solidFill>
              </a:rPr>
              <a:t>Digest space </a:t>
            </a:r>
            <a:r>
              <a:rPr lang="en" sz="1900" i="1" dirty="0">
                <a:solidFill>
                  <a:schemeClr val="bg2"/>
                </a:solidFill>
              </a:rPr>
              <a:t>D</a:t>
            </a:r>
            <a:endParaRPr sz="1900" i="1" dirty="0">
              <a:solidFill>
                <a:schemeClr val="bg2"/>
              </a:solidFill>
            </a:endParaRPr>
          </a:p>
          <a:p>
            <a:pPr marL="914400" lvl="0" indent="457200" algn="l" rtl="0">
              <a:lnSpc>
                <a:spcPct val="150000"/>
              </a:lnSpc>
              <a:spcBef>
                <a:spcPts val="1200"/>
              </a:spcBef>
              <a:spcAft>
                <a:spcPts val="0"/>
              </a:spcAft>
              <a:buNone/>
            </a:pPr>
            <a:r>
              <a:rPr lang="en" sz="1900" i="1" dirty="0" err="1"/>
              <a:t>Mul</a:t>
            </a:r>
            <a:r>
              <a:rPr lang="en" sz="1900" i="1" dirty="0" err="1">
                <a:solidFill>
                  <a:schemeClr val="bg2"/>
                </a:solidFill>
              </a:rPr>
              <a:t>tisetH</a:t>
            </a:r>
            <a:r>
              <a:rPr lang="en" sz="1900" i="1" dirty="0" err="1"/>
              <a:t>ash</a:t>
            </a:r>
            <a:r>
              <a:rPr lang="en" sz="1900" i="1" dirty="0"/>
              <a:t>:</a:t>
            </a:r>
            <a:r>
              <a:rPr lang="en" sz="1900" dirty="0"/>
              <a:t> </a:t>
            </a:r>
            <a:r>
              <a:rPr lang="en" sz="1900" i="1" dirty="0"/>
              <a:t>S → d</a:t>
            </a:r>
            <a:r>
              <a:rPr lang="en" sz="1900" dirty="0"/>
              <a:t>, </a:t>
            </a:r>
            <a:endParaRPr sz="1900" dirty="0"/>
          </a:p>
          <a:p>
            <a:pPr marL="1371600" lvl="0" indent="457200" algn="l" rtl="0">
              <a:lnSpc>
                <a:spcPct val="150000"/>
              </a:lnSpc>
              <a:spcBef>
                <a:spcPts val="1200"/>
              </a:spcBef>
              <a:spcAft>
                <a:spcPts val="0"/>
              </a:spcAft>
              <a:buNone/>
            </a:pPr>
            <a:r>
              <a:rPr lang="en" sz="1900" i="1" dirty="0"/>
              <a:t>S⊂ M, d ∈ D</a:t>
            </a:r>
            <a:endParaRPr sz="1900" dirty="0"/>
          </a:p>
          <a:p>
            <a:pPr marL="457200" lvl="0" indent="-304800" algn="l" rtl="0">
              <a:lnSpc>
                <a:spcPct val="150000"/>
              </a:lnSpc>
              <a:spcBef>
                <a:spcPts val="1200"/>
              </a:spcBef>
              <a:spcAft>
                <a:spcPts val="0"/>
              </a:spcAft>
              <a:buClr>
                <a:schemeClr val="bg2"/>
              </a:buClr>
              <a:buSzPts val="1200"/>
              <a:buChar char="●"/>
            </a:pPr>
            <a:r>
              <a:rPr lang="en" sz="1900" dirty="0"/>
              <a:t>Properties:</a:t>
            </a:r>
            <a:endParaRPr sz="1900" dirty="0"/>
          </a:p>
          <a:p>
            <a:pPr marL="914400" lvl="1" indent="-349250" algn="l" rtl="0">
              <a:spcBef>
                <a:spcPts val="0"/>
              </a:spcBef>
              <a:spcAft>
                <a:spcPts val="0"/>
              </a:spcAft>
              <a:buClr>
                <a:schemeClr val="bg2"/>
              </a:buClr>
              <a:buSzPts val="1900"/>
              <a:buAutoNum type="alphaLcPeriod"/>
            </a:pPr>
            <a:r>
              <a:rPr lang="en" sz="1782" dirty="0"/>
              <a:t>Collision resistance: </a:t>
            </a:r>
            <a:r>
              <a:rPr lang="en" sz="1782" i="1" dirty="0"/>
              <a:t>S</a:t>
            </a:r>
            <a:r>
              <a:rPr lang="en" sz="1782" i="1" baseline="-25000" dirty="0"/>
              <a:t>1</a:t>
            </a:r>
            <a:r>
              <a:rPr lang="en" sz="1782" i="1" dirty="0"/>
              <a:t> ≠ S</a:t>
            </a:r>
            <a:r>
              <a:rPr lang="en" sz="1782" i="1" baseline="-25000" dirty="0"/>
              <a:t>2</a:t>
            </a:r>
            <a:r>
              <a:rPr lang="en" sz="1782" i="1" dirty="0"/>
              <a:t> ⇒ </a:t>
            </a:r>
            <a:r>
              <a:rPr lang="en" sz="1782" i="1" dirty="0" err="1"/>
              <a:t>MultisetHash</a:t>
            </a:r>
            <a:r>
              <a:rPr lang="en" sz="1782" i="1" dirty="0"/>
              <a:t>(S</a:t>
            </a:r>
            <a:r>
              <a:rPr lang="en" sz="1782" i="1" baseline="-25000" dirty="0"/>
              <a:t>1</a:t>
            </a:r>
            <a:r>
              <a:rPr lang="en" sz="1782" i="1" dirty="0"/>
              <a:t> ) ≠ </a:t>
            </a:r>
            <a:r>
              <a:rPr lang="en" sz="1782" i="1" dirty="0" err="1"/>
              <a:t>MultisetHash</a:t>
            </a:r>
            <a:r>
              <a:rPr lang="en" sz="1782" i="1" dirty="0"/>
              <a:t>(S</a:t>
            </a:r>
            <a:r>
              <a:rPr lang="en" sz="1782" i="1" baseline="-25000" dirty="0"/>
              <a:t>2</a:t>
            </a:r>
            <a:r>
              <a:rPr lang="en" sz="1782" i="1" dirty="0"/>
              <a:t>).</a:t>
            </a:r>
            <a:endParaRPr sz="1782" dirty="0"/>
          </a:p>
          <a:p>
            <a:pPr marL="914400" lvl="1" indent="-341779" algn="l" rtl="0">
              <a:spcBef>
                <a:spcPts val="0"/>
              </a:spcBef>
              <a:spcAft>
                <a:spcPts val="0"/>
              </a:spcAft>
              <a:buClr>
                <a:schemeClr val="bg2"/>
              </a:buClr>
              <a:buSzPts val="1782"/>
              <a:buAutoNum type="alphaLcPeriod"/>
            </a:pPr>
            <a:r>
              <a:rPr lang="en" sz="1900" dirty="0"/>
              <a:t>Compression: </a:t>
            </a:r>
            <a:r>
              <a:rPr lang="en" sz="1900" i="1" dirty="0" err="1"/>
              <a:t>MultisetHash</a:t>
            </a:r>
            <a:r>
              <a:rPr lang="en" sz="1900" i="1" dirty="0"/>
              <a:t>(S) </a:t>
            </a:r>
            <a:r>
              <a:rPr lang="en" sz="1900" dirty="0"/>
              <a:t>is small, regardless of the size of </a:t>
            </a:r>
            <a:r>
              <a:rPr lang="en" sz="1900" i="1" dirty="0"/>
              <a:t>S.</a:t>
            </a:r>
            <a:endParaRPr sz="1782"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Multiset Hash Functions</a:t>
            </a:r>
            <a:endParaRPr/>
          </a:p>
        </p:txBody>
      </p:sp>
      <p:sp>
        <p:nvSpPr>
          <p:cNvPr id="69" name="Google Shape;69;p15"/>
          <p:cNvSpPr txBox="1">
            <a:spLocks noGrp="1"/>
          </p:cNvSpPr>
          <p:nvPr>
            <p:ph type="body" idx="1"/>
          </p:nvPr>
        </p:nvSpPr>
        <p:spPr>
          <a:xfrm>
            <a:off x="311700" y="1152475"/>
            <a:ext cx="8520600" cy="3712200"/>
          </a:xfrm>
          <a:prstGeom prst="rect">
            <a:avLst/>
          </a:prstGeom>
        </p:spPr>
        <p:txBody>
          <a:bodyPr spcFirstLastPara="1" wrap="square" lIns="91425" tIns="91425" rIns="91425" bIns="91425" anchor="t" anchorCtr="0">
            <a:normAutofit fontScale="92500" lnSpcReduction="20000"/>
          </a:bodyPr>
          <a:lstStyle/>
          <a:p>
            <a:pPr marL="457200" lvl="0" indent="-304800" algn="l" rtl="0">
              <a:lnSpc>
                <a:spcPct val="150000"/>
              </a:lnSpc>
              <a:spcBef>
                <a:spcPts val="1200"/>
              </a:spcBef>
              <a:spcAft>
                <a:spcPts val="0"/>
              </a:spcAft>
              <a:buClr>
                <a:schemeClr val="dk1"/>
              </a:buClr>
              <a:buSzPts val="1200"/>
              <a:buChar char="●"/>
            </a:pPr>
            <a:r>
              <a:rPr lang="en" sz="1900"/>
              <a:t>Message space </a:t>
            </a:r>
            <a:r>
              <a:rPr lang="en" sz="1900" i="1"/>
              <a:t>M</a:t>
            </a:r>
            <a:r>
              <a:rPr lang="en" sz="1900"/>
              <a:t>, </a:t>
            </a:r>
            <a:endParaRPr sz="1900"/>
          </a:p>
          <a:p>
            <a:pPr marL="457200" lvl="0" indent="-304800" algn="l" rtl="0">
              <a:lnSpc>
                <a:spcPct val="150000"/>
              </a:lnSpc>
              <a:spcBef>
                <a:spcPts val="0"/>
              </a:spcBef>
              <a:spcAft>
                <a:spcPts val="0"/>
              </a:spcAft>
              <a:buClr>
                <a:schemeClr val="dk1"/>
              </a:buClr>
              <a:buSzPts val="1200"/>
              <a:buChar char="●"/>
            </a:pPr>
            <a:r>
              <a:rPr lang="en" sz="1900"/>
              <a:t>Digest space </a:t>
            </a:r>
            <a:r>
              <a:rPr lang="en" sz="1900" i="1"/>
              <a:t>D</a:t>
            </a:r>
            <a:endParaRPr sz="1900" i="1"/>
          </a:p>
          <a:p>
            <a:pPr marL="914400" lvl="0" indent="457200" algn="l" rtl="0">
              <a:lnSpc>
                <a:spcPct val="150000"/>
              </a:lnSpc>
              <a:spcBef>
                <a:spcPts val="1200"/>
              </a:spcBef>
              <a:spcAft>
                <a:spcPts val="0"/>
              </a:spcAft>
              <a:buNone/>
            </a:pPr>
            <a:r>
              <a:rPr lang="en" sz="1900" i="1"/>
              <a:t>MultisetHash:</a:t>
            </a:r>
            <a:r>
              <a:rPr lang="en" sz="1900"/>
              <a:t> </a:t>
            </a:r>
            <a:r>
              <a:rPr lang="en" sz="1900" i="1"/>
              <a:t>S → d</a:t>
            </a:r>
            <a:r>
              <a:rPr lang="en" sz="1900"/>
              <a:t>, </a:t>
            </a:r>
            <a:endParaRPr sz="1900"/>
          </a:p>
          <a:p>
            <a:pPr marL="1371600" lvl="0" indent="457200" algn="l" rtl="0">
              <a:lnSpc>
                <a:spcPct val="150000"/>
              </a:lnSpc>
              <a:spcBef>
                <a:spcPts val="1200"/>
              </a:spcBef>
              <a:spcAft>
                <a:spcPts val="0"/>
              </a:spcAft>
              <a:buNone/>
            </a:pPr>
            <a:r>
              <a:rPr lang="en" sz="1900" i="1"/>
              <a:t>S⊂ M, d ∈ D</a:t>
            </a:r>
            <a:endParaRPr sz="1900"/>
          </a:p>
          <a:p>
            <a:pPr marL="457200" lvl="0" indent="-304800" algn="l" rtl="0">
              <a:lnSpc>
                <a:spcPct val="150000"/>
              </a:lnSpc>
              <a:spcBef>
                <a:spcPts val="1200"/>
              </a:spcBef>
              <a:spcAft>
                <a:spcPts val="0"/>
              </a:spcAft>
              <a:buClr>
                <a:schemeClr val="dk1"/>
              </a:buClr>
              <a:buSzPts val="1200"/>
              <a:buChar char="●"/>
            </a:pPr>
            <a:r>
              <a:rPr lang="en" sz="1900"/>
              <a:t>Classical construction: D is a (additive) group in which DLOG is hard, </a:t>
            </a:r>
            <a:endParaRPr sz="1900"/>
          </a:p>
          <a:p>
            <a:pPr marL="457200" lvl="0" indent="-304800" algn="l" rtl="0">
              <a:lnSpc>
                <a:spcPct val="150000"/>
              </a:lnSpc>
              <a:spcBef>
                <a:spcPts val="0"/>
              </a:spcBef>
              <a:spcAft>
                <a:spcPts val="0"/>
              </a:spcAft>
              <a:buClr>
                <a:schemeClr val="dk1"/>
              </a:buClr>
              <a:buSzPts val="1200"/>
              <a:buChar char="●"/>
            </a:pPr>
            <a:r>
              <a:rPr lang="en" sz="1900"/>
              <a:t>Suppose </a:t>
            </a:r>
            <a:r>
              <a:rPr lang="en" sz="1900" i="1"/>
              <a:t>HashToGroup: M → D</a:t>
            </a:r>
            <a:r>
              <a:rPr lang="en" sz="1900"/>
              <a:t> is a function that hashes items in </a:t>
            </a:r>
            <a:r>
              <a:rPr lang="en" sz="1900" i="1"/>
              <a:t>M</a:t>
            </a:r>
            <a:r>
              <a:rPr lang="en" sz="1900"/>
              <a:t> to </a:t>
            </a:r>
            <a:r>
              <a:rPr lang="en" sz="1900" i="1"/>
              <a:t>D.</a:t>
            </a:r>
            <a:endParaRPr sz="1900"/>
          </a:p>
          <a:p>
            <a:pPr marL="457200" lvl="0" indent="457200" algn="l" rtl="0">
              <a:lnSpc>
                <a:spcPct val="150000"/>
              </a:lnSpc>
              <a:spcBef>
                <a:spcPts val="1200"/>
              </a:spcBef>
              <a:spcAft>
                <a:spcPts val="1200"/>
              </a:spcAft>
              <a:buNone/>
            </a:pPr>
            <a:r>
              <a:rPr lang="en" sz="1900" b="1" i="1"/>
              <a:t>MultisetHash(S) = ∑</a:t>
            </a:r>
            <a:r>
              <a:rPr lang="en" sz="1900" b="1" i="1" baseline="-25000"/>
              <a:t>m ∈ S </a:t>
            </a:r>
            <a:r>
              <a:rPr lang="en" sz="1900" b="1"/>
              <a:t>HashToGroup(m).</a:t>
            </a:r>
            <a:endParaRPr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00"/>
              <a:t>Multiset Hash Function: Classical Construction</a:t>
            </a:r>
            <a:endParaRPr sz="2600"/>
          </a:p>
        </p:txBody>
      </p:sp>
      <p:sp>
        <p:nvSpPr>
          <p:cNvPr id="75" name="Google Shape;75;p16"/>
          <p:cNvSpPr txBox="1">
            <a:spLocks noGrp="1"/>
          </p:cNvSpPr>
          <p:nvPr>
            <p:ph type="body" idx="1"/>
          </p:nvPr>
        </p:nvSpPr>
        <p:spPr>
          <a:xfrm>
            <a:off x="311700" y="935428"/>
            <a:ext cx="8520600" cy="4208072"/>
          </a:xfrm>
          <a:prstGeom prst="rect">
            <a:avLst/>
          </a:prstGeom>
        </p:spPr>
        <p:txBody>
          <a:bodyPr spcFirstLastPara="1" wrap="square" lIns="91425" tIns="91425" rIns="91425" bIns="91425" anchor="t" anchorCtr="0">
            <a:normAutofit fontScale="85000" lnSpcReduction="20000"/>
          </a:bodyPr>
          <a:lstStyle/>
          <a:p>
            <a:pPr marL="457200" lvl="0" indent="-317182" algn="l" rtl="0">
              <a:lnSpc>
                <a:spcPct val="120000"/>
              </a:lnSpc>
              <a:spcBef>
                <a:spcPts val="1200"/>
              </a:spcBef>
              <a:spcAft>
                <a:spcPts val="0"/>
              </a:spcAft>
              <a:buSzPct val="94736"/>
              <a:buChar char="●"/>
            </a:pPr>
            <a:r>
              <a:rPr lang="en" sz="1900" dirty="0"/>
              <a:t>Classical construction: D is a group in which DLOG is hard, </a:t>
            </a:r>
            <a:endParaRPr sz="1900" dirty="0"/>
          </a:p>
          <a:p>
            <a:pPr marL="457200" lvl="0" indent="-317182" algn="l" rtl="0">
              <a:lnSpc>
                <a:spcPct val="120000"/>
              </a:lnSpc>
              <a:spcBef>
                <a:spcPts val="0"/>
              </a:spcBef>
              <a:spcAft>
                <a:spcPts val="0"/>
              </a:spcAft>
              <a:buSzPct val="94736"/>
              <a:buChar char="●"/>
            </a:pPr>
            <a:r>
              <a:rPr lang="en" sz="1900" dirty="0"/>
              <a:t>Suppose </a:t>
            </a:r>
            <a:r>
              <a:rPr lang="en" sz="1900" i="1" dirty="0" err="1"/>
              <a:t>HashToGroup</a:t>
            </a:r>
            <a:r>
              <a:rPr lang="en" sz="1900" i="1" dirty="0"/>
              <a:t>: M → D</a:t>
            </a:r>
            <a:r>
              <a:rPr lang="en" sz="1900" dirty="0"/>
              <a:t> is a function that hashes items in </a:t>
            </a:r>
            <a:r>
              <a:rPr lang="en" sz="1900" i="1" dirty="0"/>
              <a:t>M</a:t>
            </a:r>
            <a:r>
              <a:rPr lang="en" sz="1900" dirty="0"/>
              <a:t> to </a:t>
            </a:r>
            <a:r>
              <a:rPr lang="en" sz="1900" i="1" dirty="0"/>
              <a:t>D.</a:t>
            </a:r>
          </a:p>
          <a:p>
            <a:pPr lvl="1" indent="-317182">
              <a:lnSpc>
                <a:spcPct val="120000"/>
              </a:lnSpc>
              <a:buSzPct val="94736"/>
              <a:buChar char="●"/>
            </a:pPr>
            <a:r>
              <a:rPr lang="en" sz="1800" dirty="0"/>
              <a:t>Assume </a:t>
            </a:r>
            <a:r>
              <a:rPr lang="en" sz="1800" dirty="0" err="1"/>
              <a:t>HashToGroup</a:t>
            </a:r>
            <a:r>
              <a:rPr lang="en" sz="1800" dirty="0"/>
              <a:t> is </a:t>
            </a:r>
            <a:r>
              <a:rPr lang="en" sz="1800" u="sng" dirty="0"/>
              <a:t>a random oracle.</a:t>
            </a:r>
            <a:endParaRPr sz="1800" i="1" dirty="0"/>
          </a:p>
          <a:p>
            <a:pPr marL="457200" lvl="0" indent="-317182" algn="l" rtl="0">
              <a:lnSpc>
                <a:spcPct val="120000"/>
              </a:lnSpc>
              <a:spcBef>
                <a:spcPts val="0"/>
              </a:spcBef>
              <a:spcAft>
                <a:spcPts val="0"/>
              </a:spcAft>
              <a:buSzPct val="94736"/>
              <a:buChar char="●"/>
            </a:pPr>
            <a:r>
              <a:rPr lang="en" sz="1900" dirty="0" err="1"/>
              <a:t>MultisetHash</a:t>
            </a:r>
            <a:r>
              <a:rPr lang="en" sz="1900" dirty="0"/>
              <a:t> construction [BM’97]:</a:t>
            </a:r>
            <a:endParaRPr sz="1900" dirty="0"/>
          </a:p>
          <a:p>
            <a:pPr marL="914400" lvl="0" indent="457200" algn="l" rtl="0">
              <a:spcBef>
                <a:spcPts val="1200"/>
              </a:spcBef>
              <a:spcAft>
                <a:spcPts val="0"/>
              </a:spcAft>
              <a:buNone/>
            </a:pPr>
            <a:r>
              <a:rPr lang="en" sz="1900" i="1" dirty="0" err="1"/>
              <a:t>MultisetHash</a:t>
            </a:r>
            <a:r>
              <a:rPr lang="en" sz="1900" i="1" dirty="0"/>
              <a:t>(S) = ∑</a:t>
            </a:r>
            <a:r>
              <a:rPr lang="en" sz="1900" i="1" baseline="-25000" dirty="0"/>
              <a:t>m ∈ S </a:t>
            </a:r>
            <a:r>
              <a:rPr lang="en" sz="1900" dirty="0" err="1"/>
              <a:t>HashToGroup</a:t>
            </a:r>
            <a:r>
              <a:rPr lang="en" sz="1900" dirty="0"/>
              <a:t>(m).</a:t>
            </a:r>
            <a:endParaRPr sz="1900" dirty="0"/>
          </a:p>
          <a:p>
            <a:pPr marL="457200" lvl="0" indent="-317182" algn="l" rtl="0">
              <a:spcBef>
                <a:spcPts val="1200"/>
              </a:spcBef>
              <a:spcAft>
                <a:spcPts val="0"/>
              </a:spcAft>
              <a:buSzPct val="94736"/>
              <a:buChar char="●"/>
            </a:pPr>
            <a:r>
              <a:rPr lang="en" sz="1900" dirty="0"/>
              <a:t>Collision resistance in ROM: Contradiction, suppose </a:t>
            </a:r>
            <a:r>
              <a:rPr lang="en" sz="1782" i="1" dirty="0"/>
              <a:t>S ≠ T </a:t>
            </a:r>
            <a:r>
              <a:rPr lang="en" sz="1782" dirty="0"/>
              <a:t>and </a:t>
            </a:r>
            <a:endParaRPr sz="1900" dirty="0"/>
          </a:p>
          <a:p>
            <a:pPr marL="914400" lvl="0" indent="0" algn="l" rtl="0">
              <a:spcBef>
                <a:spcPts val="1200"/>
              </a:spcBef>
              <a:spcAft>
                <a:spcPts val="0"/>
              </a:spcAft>
              <a:buNone/>
            </a:pPr>
            <a:r>
              <a:rPr lang="en" sz="1782" i="1" dirty="0" err="1"/>
              <a:t>MultisetHash</a:t>
            </a:r>
            <a:r>
              <a:rPr lang="en" sz="1782" i="1" dirty="0"/>
              <a:t>(S) = </a:t>
            </a:r>
            <a:r>
              <a:rPr lang="en" sz="1782" i="1" dirty="0" err="1"/>
              <a:t>MultisetHash</a:t>
            </a:r>
            <a:r>
              <a:rPr lang="en" sz="1782" i="1" dirty="0"/>
              <a:t>(T) </a:t>
            </a:r>
            <a:endParaRPr sz="1782" i="1" dirty="0"/>
          </a:p>
          <a:p>
            <a:pPr marL="914400" lvl="0" indent="0" algn="l" rtl="0">
              <a:spcBef>
                <a:spcPts val="1200"/>
              </a:spcBef>
              <a:spcAft>
                <a:spcPts val="0"/>
              </a:spcAft>
              <a:buNone/>
            </a:pPr>
            <a:r>
              <a:rPr lang="en" sz="1782" i="1" dirty="0"/>
              <a:t>⇒ ∑</a:t>
            </a:r>
            <a:r>
              <a:rPr lang="en" sz="2882" i="1" baseline="-25000" dirty="0"/>
              <a:t>m ∈ S </a:t>
            </a:r>
            <a:r>
              <a:rPr lang="en" sz="1782" i="1" dirty="0" err="1"/>
              <a:t>HashToGroup</a:t>
            </a:r>
            <a:r>
              <a:rPr lang="en" sz="1782" i="1" dirty="0"/>
              <a:t>(m) - ∑</a:t>
            </a:r>
            <a:r>
              <a:rPr lang="en" sz="2882" i="1" baseline="-25000" dirty="0"/>
              <a:t>n ∈ T </a:t>
            </a:r>
            <a:r>
              <a:rPr lang="en" sz="1782" i="1" dirty="0" err="1"/>
              <a:t>HashToGroup</a:t>
            </a:r>
            <a:r>
              <a:rPr lang="en" sz="1782" i="1" dirty="0"/>
              <a:t>(n) = 0</a:t>
            </a:r>
            <a:endParaRPr sz="1782" i="1" dirty="0"/>
          </a:p>
          <a:p>
            <a:pPr marL="914400" lvl="0" indent="0" algn="l" rtl="0">
              <a:spcBef>
                <a:spcPts val="1200"/>
              </a:spcBef>
              <a:spcAft>
                <a:spcPts val="0"/>
              </a:spcAft>
              <a:buNone/>
            </a:pPr>
            <a:r>
              <a:rPr lang="en" sz="1782" dirty="0"/>
              <a:t>Counting multiplicities, this means that the adversary found non-trivial </a:t>
            </a:r>
            <a:r>
              <a:rPr lang="en" sz="1782" dirty="0" err="1"/>
              <a:t>a</a:t>
            </a:r>
            <a:r>
              <a:rPr lang="en" sz="2182" baseline="-25000" dirty="0" err="1"/>
              <a:t>m</a:t>
            </a:r>
            <a:r>
              <a:rPr lang="en" sz="1782" dirty="0" err="1"/>
              <a:t>’s</a:t>
            </a:r>
            <a:r>
              <a:rPr lang="en" sz="1782" dirty="0"/>
              <a:t> such that </a:t>
            </a:r>
            <a:endParaRPr sz="1782" dirty="0"/>
          </a:p>
          <a:p>
            <a:pPr marL="914400" lvl="0" indent="0" algn="l" rtl="0">
              <a:spcBef>
                <a:spcPts val="1200"/>
              </a:spcBef>
              <a:spcAft>
                <a:spcPts val="0"/>
              </a:spcAft>
              <a:buNone/>
            </a:pPr>
            <a:r>
              <a:rPr lang="en" sz="1782" i="1" dirty="0"/>
              <a:t>∑</a:t>
            </a:r>
            <a:r>
              <a:rPr lang="en" sz="2882" i="1" baseline="-25000" dirty="0"/>
              <a:t>m ∈ S U T  </a:t>
            </a:r>
            <a:r>
              <a:rPr lang="en" sz="1782" i="1" dirty="0"/>
              <a:t>a</a:t>
            </a:r>
            <a:r>
              <a:rPr lang="en" sz="1782" i="1" baseline="-25000" dirty="0"/>
              <a:t>m</a:t>
            </a:r>
            <a:r>
              <a:rPr lang="en" sz="1782" i="1" dirty="0"/>
              <a:t> </a:t>
            </a:r>
            <a:r>
              <a:rPr lang="en" sz="1782" i="1" dirty="0" err="1"/>
              <a:t>HashToGroup</a:t>
            </a:r>
            <a:r>
              <a:rPr lang="en" sz="1782" i="1" dirty="0"/>
              <a:t>(m) = 0,</a:t>
            </a:r>
            <a:endParaRPr sz="1782" i="1" dirty="0"/>
          </a:p>
          <a:p>
            <a:pPr marL="914400" lvl="0" indent="0" algn="l" rtl="0">
              <a:spcBef>
                <a:spcPts val="1200"/>
              </a:spcBef>
              <a:spcAft>
                <a:spcPts val="1200"/>
              </a:spcAft>
              <a:buClr>
                <a:schemeClr val="dk1"/>
              </a:buClr>
              <a:buSzPct val="61716"/>
              <a:buFont typeface="Arial"/>
              <a:buNone/>
            </a:pPr>
            <a:r>
              <a:rPr lang="en" sz="1782" dirty="0"/>
              <a:t>If  </a:t>
            </a:r>
            <a:r>
              <a:rPr lang="en" sz="1782" i="1" dirty="0" err="1"/>
              <a:t>HashToGroup</a:t>
            </a:r>
            <a:r>
              <a:rPr lang="en" sz="1782" i="1" dirty="0"/>
              <a:t> </a:t>
            </a:r>
            <a:r>
              <a:rPr lang="en" sz="1782" dirty="0"/>
              <a:t>is a random oracle, then this breaks DLOG.</a:t>
            </a:r>
            <a:endParaRPr sz="1782"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Multiset Hash Functions</a:t>
            </a:r>
            <a:endParaRPr/>
          </a:p>
        </p:txBody>
      </p:sp>
      <p:sp>
        <p:nvSpPr>
          <p:cNvPr id="81" name="Google Shape;81;p17"/>
          <p:cNvSpPr txBox="1">
            <a:spLocks noGrp="1"/>
          </p:cNvSpPr>
          <p:nvPr>
            <p:ph type="body" idx="1"/>
          </p:nvPr>
        </p:nvSpPr>
        <p:spPr>
          <a:xfrm>
            <a:off x="311700" y="1152475"/>
            <a:ext cx="8520600" cy="1763100"/>
          </a:xfrm>
          <a:prstGeom prst="rect">
            <a:avLst/>
          </a:prstGeom>
        </p:spPr>
        <p:txBody>
          <a:bodyPr spcFirstLastPara="1" wrap="square" lIns="91425" tIns="91425" rIns="91425" bIns="91425" anchor="t" anchorCtr="0">
            <a:normAutofit fontScale="92500" lnSpcReduction="10000"/>
          </a:bodyPr>
          <a:lstStyle/>
          <a:p>
            <a:pPr marL="469900">
              <a:spcBef>
                <a:spcPts val="1200"/>
              </a:spcBef>
              <a:buClr>
                <a:schemeClr val="bg2"/>
              </a:buClr>
              <a:buSzPts val="1600"/>
            </a:pPr>
            <a:r>
              <a:rPr lang="en" sz="2300" dirty="0"/>
              <a:t>Classical construction:</a:t>
            </a:r>
            <a:br>
              <a:rPr lang="en" sz="2300" dirty="0"/>
            </a:br>
            <a:r>
              <a:rPr lang="en" sz="2300" dirty="0"/>
              <a:t>	</a:t>
            </a:r>
            <a:r>
              <a:rPr lang="en" sz="2300" i="1" dirty="0" err="1"/>
              <a:t>MultisetHash</a:t>
            </a:r>
            <a:r>
              <a:rPr lang="en" sz="2300" i="1" dirty="0"/>
              <a:t>(S) = ∑</a:t>
            </a:r>
            <a:r>
              <a:rPr lang="en" sz="2300" i="1" baseline="-25000" dirty="0"/>
              <a:t>m ∈ S </a:t>
            </a:r>
            <a:r>
              <a:rPr lang="en" sz="2300" i="1" dirty="0" err="1"/>
              <a:t>HashToGroup</a:t>
            </a:r>
            <a:r>
              <a:rPr lang="en" sz="2300" i="1" dirty="0"/>
              <a:t>(m).</a:t>
            </a:r>
            <a:endParaRPr sz="2300" i="1" dirty="0"/>
          </a:p>
          <a:p>
            <a:pPr marL="457200" lvl="0" indent="-330200" algn="l" rtl="0">
              <a:spcBef>
                <a:spcPts val="0"/>
              </a:spcBef>
              <a:spcAft>
                <a:spcPts val="0"/>
              </a:spcAft>
              <a:buClr>
                <a:schemeClr val="bg2"/>
              </a:buClr>
              <a:buSzPts val="1600"/>
              <a:buChar char="●"/>
            </a:pPr>
            <a:r>
              <a:rPr lang="en" sz="2300" dirty="0"/>
              <a:t>Collision resistant by: random oracle property of </a:t>
            </a:r>
            <a:r>
              <a:rPr lang="en" sz="2300" i="1" dirty="0" err="1"/>
              <a:t>HashToGroup</a:t>
            </a:r>
            <a:r>
              <a:rPr lang="en" sz="2300" dirty="0"/>
              <a:t> + DLOG. </a:t>
            </a:r>
            <a:endParaRPr sz="2300" dirty="0"/>
          </a:p>
        </p:txBody>
      </p:sp>
      <p:sp>
        <p:nvSpPr>
          <p:cNvPr id="82" name="Google Shape;82;p17"/>
          <p:cNvSpPr txBox="1">
            <a:spLocks noGrp="1"/>
          </p:cNvSpPr>
          <p:nvPr>
            <p:ph type="body" idx="1"/>
          </p:nvPr>
        </p:nvSpPr>
        <p:spPr>
          <a:xfrm>
            <a:off x="311699" y="2760100"/>
            <a:ext cx="9300300" cy="3416400"/>
          </a:xfrm>
          <a:prstGeom prst="rect">
            <a:avLst/>
          </a:prstGeom>
        </p:spPr>
        <p:txBody>
          <a:bodyPr spcFirstLastPara="1" wrap="square" lIns="91425" tIns="91425" rIns="91425" bIns="91425" anchor="t" anchorCtr="0">
            <a:normAutofit/>
          </a:bodyPr>
          <a:lstStyle/>
          <a:p>
            <a:pPr marL="457200" lvl="0" indent="-330200" algn="l" rtl="0">
              <a:spcBef>
                <a:spcPts val="1200"/>
              </a:spcBef>
              <a:spcAft>
                <a:spcPts val="0"/>
              </a:spcAft>
              <a:buClr>
                <a:schemeClr val="bg2"/>
              </a:buClr>
              <a:buSzPts val="1600"/>
              <a:buChar char="●"/>
            </a:pPr>
            <a:r>
              <a:rPr lang="en" sz="2300" dirty="0"/>
              <a:t>Other properties:</a:t>
            </a:r>
            <a:endParaRPr sz="2300" dirty="0"/>
          </a:p>
          <a:p>
            <a:pPr marL="914400" lvl="1" indent="-330200" algn="l" rtl="0">
              <a:spcBef>
                <a:spcPts val="0"/>
              </a:spcBef>
              <a:spcAft>
                <a:spcPts val="0"/>
              </a:spcAft>
              <a:buClr>
                <a:schemeClr val="bg2"/>
              </a:buClr>
              <a:buSzPts val="1600"/>
              <a:buAutoNum type="alphaLcPeriod"/>
            </a:pPr>
            <a:r>
              <a:rPr lang="en" sz="1900" dirty="0"/>
              <a:t>Compression: </a:t>
            </a:r>
            <a:r>
              <a:rPr lang="en" sz="1900" i="1" dirty="0" err="1"/>
              <a:t>MultisetHash</a:t>
            </a:r>
            <a:r>
              <a:rPr lang="en" sz="1900" i="1" dirty="0"/>
              <a:t>(S) </a:t>
            </a:r>
            <a:r>
              <a:rPr lang="en" sz="1900" dirty="0"/>
              <a:t>is small, regardless of the size of </a:t>
            </a:r>
            <a:r>
              <a:rPr lang="en" sz="1900" i="1" dirty="0"/>
              <a:t>S.</a:t>
            </a:r>
            <a:endParaRPr sz="1900" i="1" dirty="0"/>
          </a:p>
          <a:p>
            <a:pPr marL="914400" lvl="1" indent="-330200" algn="l" rtl="0">
              <a:spcBef>
                <a:spcPts val="0"/>
              </a:spcBef>
              <a:spcAft>
                <a:spcPts val="0"/>
              </a:spcAft>
              <a:buClr>
                <a:schemeClr val="bg2"/>
              </a:buClr>
              <a:buSzPts val="1600"/>
              <a:buAutoNum type="alphaLcPeriod"/>
            </a:pPr>
            <a:r>
              <a:rPr lang="en" sz="1900" dirty="0"/>
              <a:t>Incrementality: </a:t>
            </a:r>
            <a:r>
              <a:rPr lang="en" sz="1900" i="1" dirty="0" err="1"/>
              <a:t>MultisetHash</a:t>
            </a:r>
            <a:r>
              <a:rPr lang="en" sz="1900" i="1" dirty="0"/>
              <a:t>(S U T) is efficient to compute: </a:t>
            </a:r>
            <a:endParaRPr sz="1900" i="1" dirty="0"/>
          </a:p>
          <a:p>
            <a:pPr marL="914400" lvl="0" indent="457200" algn="l" rtl="0">
              <a:spcBef>
                <a:spcPts val="1200"/>
              </a:spcBef>
              <a:spcAft>
                <a:spcPts val="0"/>
              </a:spcAft>
              <a:buNone/>
            </a:pPr>
            <a:r>
              <a:rPr lang="en" sz="1900" i="1" dirty="0" err="1"/>
              <a:t>MultisetHash</a:t>
            </a:r>
            <a:r>
              <a:rPr lang="en" sz="1900" i="1" dirty="0"/>
              <a:t>(S) + </a:t>
            </a:r>
            <a:r>
              <a:rPr lang="en" sz="1900" i="1" dirty="0" err="1"/>
              <a:t>MultisetHash</a:t>
            </a:r>
            <a:r>
              <a:rPr lang="en" sz="1900" i="1" dirty="0"/>
              <a:t>(T).</a:t>
            </a:r>
          </a:p>
          <a:p>
            <a:pPr marL="914400" indent="0">
              <a:spcBef>
                <a:spcPts val="1200"/>
              </a:spcBef>
              <a:buNone/>
            </a:pPr>
            <a:r>
              <a:rPr lang="en" sz="1900" dirty="0"/>
              <a:t>Corollary: </a:t>
            </a:r>
            <a:r>
              <a:rPr lang="en" sz="1900" i="1" dirty="0" err="1"/>
              <a:t>MultisetHash</a:t>
            </a:r>
            <a:r>
              <a:rPr lang="en" sz="1900" i="1" dirty="0"/>
              <a:t>(S U { e }) =  </a:t>
            </a:r>
            <a:r>
              <a:rPr lang="en" sz="1900" i="1" dirty="0" err="1"/>
              <a:t>MultisetHash</a:t>
            </a:r>
            <a:r>
              <a:rPr lang="en" sz="1900" i="1" dirty="0"/>
              <a:t>(S) + </a:t>
            </a:r>
            <a:r>
              <a:rPr lang="en" sz="1900" i="1" dirty="0" err="1"/>
              <a:t>HashToGroup</a:t>
            </a:r>
            <a:r>
              <a:rPr lang="en" sz="1900" i="1" dirty="0"/>
              <a:t>(e).</a:t>
            </a:r>
            <a:endParaRPr sz="1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Programming Model for Proof Systems: Constraint Programming</a:t>
            </a:r>
            <a:endParaRPr/>
          </a:p>
        </p:txBody>
      </p:sp>
      <p:sp>
        <p:nvSpPr>
          <p:cNvPr id="88" name="Google Shape;88;p18"/>
          <p:cNvSpPr txBox="1">
            <a:spLocks noGrp="1"/>
          </p:cNvSpPr>
          <p:nvPr>
            <p:ph type="body" idx="1"/>
          </p:nvPr>
        </p:nvSpPr>
        <p:spPr>
          <a:xfrm>
            <a:off x="311700" y="1413488"/>
            <a:ext cx="8520600" cy="3416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dirty="0"/>
              <a:t>A predicate of the form </a:t>
            </a:r>
            <a:r>
              <a:rPr lang="en" sz="2000" i="1" dirty="0"/>
              <a:t>y = f(x)</a:t>
            </a:r>
            <a:r>
              <a:rPr lang="en" sz="2000" dirty="0"/>
              <a:t>, can be represented as a set of “constraints”.</a:t>
            </a:r>
            <a:endParaRPr sz="2000" dirty="0"/>
          </a:p>
          <a:p>
            <a:pPr marL="457200" lvl="0" indent="-355600" algn="l" rtl="0">
              <a:spcBef>
                <a:spcPts val="0"/>
              </a:spcBef>
              <a:spcAft>
                <a:spcPts val="0"/>
              </a:spcAft>
              <a:buSzPts val="2000"/>
              <a:buChar char="●"/>
            </a:pPr>
            <a:r>
              <a:rPr lang="en" sz="2000" dirty="0"/>
              <a:t>Instead of computing all variables, as in regular programming, can provide “witnesses”.</a:t>
            </a:r>
            <a:endParaRPr sz="2000" dirty="0"/>
          </a:p>
          <a:p>
            <a:pPr marL="457200" lvl="0" indent="-355600" algn="l" rtl="0">
              <a:spcBef>
                <a:spcPts val="0"/>
              </a:spcBef>
              <a:spcAft>
                <a:spcPts val="0"/>
              </a:spcAft>
              <a:buSzPts val="2000"/>
              <a:buChar char="●"/>
            </a:pPr>
            <a:r>
              <a:rPr lang="en" sz="2000" dirty="0"/>
              <a:t>Examples:</a:t>
            </a:r>
            <a:endParaRPr sz="2000" dirty="0"/>
          </a:p>
          <a:p>
            <a:pPr marL="914400" lvl="1" indent="-330200" algn="l" rtl="0">
              <a:spcBef>
                <a:spcPts val="0"/>
              </a:spcBef>
              <a:spcAft>
                <a:spcPts val="0"/>
              </a:spcAft>
              <a:buSzPts val="1600"/>
              <a:buChar char="○"/>
            </a:pPr>
            <a:r>
              <a:rPr lang="en" sz="1600" dirty="0"/>
              <a:t>Boolean circuits,</a:t>
            </a:r>
            <a:endParaRPr sz="1600" dirty="0"/>
          </a:p>
          <a:p>
            <a:pPr marL="914400" lvl="1" indent="-330200" algn="l" rtl="0">
              <a:spcBef>
                <a:spcPts val="0"/>
              </a:spcBef>
              <a:spcAft>
                <a:spcPts val="0"/>
              </a:spcAft>
              <a:buSzPts val="1600"/>
              <a:buChar char="○"/>
            </a:pPr>
            <a:r>
              <a:rPr lang="en" sz="1600" dirty="0"/>
              <a:t>Arithmetic circuits, </a:t>
            </a:r>
            <a:endParaRPr sz="1600" dirty="0"/>
          </a:p>
          <a:p>
            <a:pPr marL="914400" lvl="1" indent="-330200" algn="l" rtl="0">
              <a:spcBef>
                <a:spcPts val="0"/>
              </a:spcBef>
              <a:spcAft>
                <a:spcPts val="0"/>
              </a:spcAft>
              <a:buSzPts val="1600"/>
              <a:buChar char="○"/>
            </a:pPr>
            <a:r>
              <a:rPr lang="en" sz="1600" dirty="0"/>
              <a:t>Rank-1 constraint satisfaction (R1CS), etc. </a:t>
            </a:r>
            <a:endParaRPr sz="2000" dirty="0"/>
          </a:p>
          <a:p>
            <a:pPr marL="914400" lvl="1" indent="-330200" algn="l" rtl="0">
              <a:spcBef>
                <a:spcPts val="0"/>
              </a:spcBef>
              <a:spcAft>
                <a:spcPts val="0"/>
              </a:spcAft>
              <a:buSzPts val="1600"/>
              <a:buChar char="○"/>
            </a:pPr>
            <a:r>
              <a:rPr lang="en" sz="1600" dirty="0"/>
              <a:t>Result is valid if there exists a witness assignment satisfying constraints.</a:t>
            </a:r>
            <a:endParaRPr sz="1600" dirty="0"/>
          </a:p>
          <a:p>
            <a:pPr marL="457200" lvl="0" indent="-355600" algn="l" rtl="0">
              <a:spcBef>
                <a:spcPts val="0"/>
              </a:spcBef>
              <a:spcAft>
                <a:spcPts val="0"/>
              </a:spcAft>
              <a:buSzPts val="2000"/>
              <a:buChar char="●"/>
            </a:pPr>
            <a:r>
              <a:rPr lang="en" sz="2000" dirty="0"/>
              <a:t>Used in </a:t>
            </a:r>
            <a:r>
              <a:rPr lang="en" sz="2000" dirty="0" err="1"/>
              <a:t>zkVMs</a:t>
            </a:r>
            <a:r>
              <a:rPr lang="en" sz="2000" dirty="0"/>
              <a:t> (e.g. Jolt, SP1, Risc-0, Nexus).</a:t>
            </a: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100"/>
              <a:t>Constraint system motivation: zkVM Memory Consistency</a:t>
            </a:r>
            <a:endParaRPr sz="2100"/>
          </a:p>
        </p:txBody>
      </p:sp>
      <p:graphicFrame>
        <p:nvGraphicFramePr>
          <p:cNvPr id="94" name="Google Shape;94;p19"/>
          <p:cNvGraphicFramePr/>
          <p:nvPr/>
        </p:nvGraphicFramePr>
        <p:xfrm>
          <a:off x="516475" y="1017725"/>
          <a:ext cx="8247800" cy="3903400"/>
        </p:xfrm>
        <a:graphic>
          <a:graphicData uri="http://schemas.openxmlformats.org/drawingml/2006/table">
            <a:tbl>
              <a:tblPr>
                <a:noFill/>
                <a:tableStyleId>{FEA832BE-3CD2-4282-82B5-36E73DAF2A56}</a:tableStyleId>
              </a:tblPr>
              <a:tblGrid>
                <a:gridCol w="2070550">
                  <a:extLst>
                    <a:ext uri="{9D8B030D-6E8A-4147-A177-3AD203B41FA5}">
                      <a16:colId xmlns:a16="http://schemas.microsoft.com/office/drawing/2014/main" val="20000"/>
                    </a:ext>
                  </a:extLst>
                </a:gridCol>
                <a:gridCol w="2053350">
                  <a:extLst>
                    <a:ext uri="{9D8B030D-6E8A-4147-A177-3AD203B41FA5}">
                      <a16:colId xmlns:a16="http://schemas.microsoft.com/office/drawing/2014/main" val="20001"/>
                    </a:ext>
                  </a:extLst>
                </a:gridCol>
                <a:gridCol w="2061950">
                  <a:extLst>
                    <a:ext uri="{9D8B030D-6E8A-4147-A177-3AD203B41FA5}">
                      <a16:colId xmlns:a16="http://schemas.microsoft.com/office/drawing/2014/main" val="20002"/>
                    </a:ext>
                  </a:extLst>
                </a:gridCol>
                <a:gridCol w="2061950">
                  <a:extLst>
                    <a:ext uri="{9D8B030D-6E8A-4147-A177-3AD203B41FA5}">
                      <a16:colId xmlns:a16="http://schemas.microsoft.com/office/drawing/2014/main" val="20003"/>
                    </a:ext>
                  </a:extLst>
                </a:gridCol>
              </a:tblGrid>
              <a:tr h="487925">
                <a:tc>
                  <a:txBody>
                    <a:bodyPr/>
                    <a:lstStyle/>
                    <a:p>
                      <a:pPr marL="0" lvl="0" indent="0" algn="ctr" rtl="0">
                        <a:lnSpc>
                          <a:spcPct val="115000"/>
                        </a:lnSpc>
                        <a:spcBef>
                          <a:spcPts val="0"/>
                        </a:spcBef>
                        <a:spcAft>
                          <a:spcPts val="0"/>
                        </a:spcAft>
                        <a:buNone/>
                      </a:pPr>
                      <a:r>
                        <a:rPr lang="en" sz="1700" b="1"/>
                        <a:t>Operation</a:t>
                      </a:r>
                      <a:endParaRPr sz="1700"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700" b="1"/>
                        <a:t>Time</a:t>
                      </a:r>
                      <a:endParaRPr sz="1700"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700" b="1"/>
                        <a:t>Read</a:t>
                      </a:r>
                      <a:endParaRPr sz="1700"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700" b="1"/>
                        <a:t>Write</a:t>
                      </a:r>
                      <a:endParaRPr sz="1700"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87925">
                <a:tc>
                  <a:txBody>
                    <a:bodyPr/>
                    <a:lstStyle/>
                    <a:p>
                      <a:pPr marL="0" lvl="0" indent="0" algn="ctr" rtl="0">
                        <a:lnSpc>
                          <a:spcPct val="115000"/>
                        </a:lnSpc>
                        <a:spcBef>
                          <a:spcPts val="0"/>
                        </a:spcBef>
                        <a:spcAft>
                          <a:spcPts val="0"/>
                        </a:spcAft>
                        <a:buNone/>
                      </a:pPr>
                      <a:r>
                        <a:rPr lang="en" sz="1900"/>
                        <a:t>Initialize</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t>1</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6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1</a:t>
                      </a:r>
                      <a:r>
                        <a:rPr lang="en" sz="1900" i="1">
                          <a:solidFill>
                            <a:schemeClr val="dk1"/>
                          </a:solidFill>
                        </a:rPr>
                        <a:t> , v</a:t>
                      </a:r>
                      <a:r>
                        <a:rPr lang="en" sz="1900" i="1" baseline="-25000">
                          <a:solidFill>
                            <a:schemeClr val="dk1"/>
                          </a:solidFill>
                        </a:rPr>
                        <a:t>1</a:t>
                      </a:r>
                      <a:r>
                        <a:rPr lang="en" sz="1900" i="1">
                          <a:solidFill>
                            <a:schemeClr val="dk1"/>
                          </a:solidFill>
                        </a:rPr>
                        <a:t>, 1</a:t>
                      </a:r>
                      <a:r>
                        <a:rPr lang="en" sz="1900">
                          <a:solidFill>
                            <a:schemeClr val="dk1"/>
                          </a:solidFill>
                        </a:rPr>
                        <a:t>)</a:t>
                      </a:r>
                      <a:endParaRPr sz="1900">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87925">
                <a:tc>
                  <a:txBody>
                    <a:bodyPr/>
                    <a:lstStyle/>
                    <a:p>
                      <a:pPr marL="0" lvl="0" indent="0" algn="ctr" rtl="0">
                        <a:lnSpc>
                          <a:spcPct val="115000"/>
                        </a:lnSpc>
                        <a:spcBef>
                          <a:spcPts val="0"/>
                        </a:spcBef>
                        <a:spcAft>
                          <a:spcPts val="0"/>
                        </a:spcAft>
                        <a:buNone/>
                      </a:pPr>
                      <a:r>
                        <a:rPr lang="en" sz="1900"/>
                        <a:t>Initialize</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t>2</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6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2</a:t>
                      </a:r>
                      <a:r>
                        <a:rPr lang="en" sz="1900" i="1">
                          <a:solidFill>
                            <a:schemeClr val="dk1"/>
                          </a:solidFill>
                        </a:rPr>
                        <a:t> , v</a:t>
                      </a:r>
                      <a:r>
                        <a:rPr lang="en" sz="1900" i="1" baseline="-25000">
                          <a:solidFill>
                            <a:schemeClr val="dk1"/>
                          </a:solidFill>
                        </a:rPr>
                        <a:t>2</a:t>
                      </a:r>
                      <a:r>
                        <a:rPr lang="en" sz="1900" i="1">
                          <a:solidFill>
                            <a:schemeClr val="dk1"/>
                          </a:solidFill>
                        </a:rPr>
                        <a:t>, 2</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87925">
                <a:tc>
                  <a:txBody>
                    <a:bodyPr/>
                    <a:lstStyle/>
                    <a:p>
                      <a:pPr marL="0" lvl="0" indent="0" algn="ctr" rtl="0">
                        <a:lnSpc>
                          <a:spcPct val="115000"/>
                        </a:lnSpc>
                        <a:spcBef>
                          <a:spcPts val="0"/>
                        </a:spcBef>
                        <a:spcAft>
                          <a:spcPts val="0"/>
                        </a:spcAft>
                        <a:buNone/>
                      </a:pPr>
                      <a:r>
                        <a:rPr lang="en" sz="1900"/>
                        <a:t>Load </a:t>
                      </a:r>
                      <a:r>
                        <a:rPr lang="en" sz="1900" i="1">
                          <a:solidFill>
                            <a:schemeClr val="dk1"/>
                          </a:solidFill>
                        </a:rPr>
                        <a:t>addr</a:t>
                      </a:r>
                      <a:r>
                        <a:rPr lang="en" sz="1900" i="1" baseline="-25000">
                          <a:solidFill>
                            <a:schemeClr val="dk1"/>
                          </a:solidFill>
                        </a:rPr>
                        <a:t>2</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t>3</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2</a:t>
                      </a:r>
                      <a:r>
                        <a:rPr lang="en" sz="1900" i="1">
                          <a:solidFill>
                            <a:schemeClr val="dk1"/>
                          </a:solidFill>
                        </a:rPr>
                        <a:t> , v</a:t>
                      </a:r>
                      <a:r>
                        <a:rPr lang="en" sz="1900" i="1" baseline="-25000">
                          <a:solidFill>
                            <a:schemeClr val="dk1"/>
                          </a:solidFill>
                        </a:rPr>
                        <a:t>2</a:t>
                      </a:r>
                      <a:r>
                        <a:rPr lang="en" sz="1900" i="1">
                          <a:solidFill>
                            <a:schemeClr val="dk1"/>
                          </a:solidFill>
                        </a:rPr>
                        <a:t>, 2</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2</a:t>
                      </a:r>
                      <a:r>
                        <a:rPr lang="en" sz="1900" i="1">
                          <a:solidFill>
                            <a:schemeClr val="dk1"/>
                          </a:solidFill>
                        </a:rPr>
                        <a:t> , v</a:t>
                      </a:r>
                      <a:r>
                        <a:rPr lang="en" sz="1900" i="1" baseline="-25000">
                          <a:solidFill>
                            <a:schemeClr val="dk1"/>
                          </a:solidFill>
                        </a:rPr>
                        <a:t>2</a:t>
                      </a:r>
                      <a:r>
                        <a:rPr lang="en" sz="1900" i="1">
                          <a:solidFill>
                            <a:schemeClr val="dk1"/>
                          </a:solidFill>
                        </a:rPr>
                        <a:t>, 3</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87925">
                <a:tc>
                  <a:txBody>
                    <a:bodyPr/>
                    <a:lstStyle/>
                    <a:p>
                      <a:pPr marL="0" lvl="0" indent="0" algn="ctr" rtl="0">
                        <a:lnSpc>
                          <a:spcPct val="115000"/>
                        </a:lnSpc>
                        <a:spcBef>
                          <a:spcPts val="0"/>
                        </a:spcBef>
                        <a:spcAft>
                          <a:spcPts val="0"/>
                        </a:spcAft>
                        <a:buNone/>
                      </a:pPr>
                      <a:r>
                        <a:rPr lang="en" sz="1900"/>
                        <a:t>Store </a:t>
                      </a:r>
                      <a:r>
                        <a:rPr lang="en" sz="1900" i="1">
                          <a:solidFill>
                            <a:schemeClr val="dk1"/>
                          </a:solidFill>
                        </a:rPr>
                        <a:t>addr</a:t>
                      </a:r>
                      <a:r>
                        <a:rPr lang="en" sz="1900" i="1" baseline="-25000">
                          <a:solidFill>
                            <a:schemeClr val="dk1"/>
                          </a:solidFill>
                        </a:rPr>
                        <a:t>1</a:t>
                      </a:r>
                      <a:r>
                        <a:rPr lang="en" sz="1900" i="1">
                          <a:solidFill>
                            <a:schemeClr val="dk1"/>
                          </a:solidFill>
                        </a:rPr>
                        <a:t> ,</a:t>
                      </a:r>
                      <a:r>
                        <a:rPr lang="en" sz="1900"/>
                        <a:t> </a:t>
                      </a:r>
                      <a:r>
                        <a:rPr lang="en" sz="1900" i="1">
                          <a:solidFill>
                            <a:schemeClr val="dk1"/>
                          </a:solidFill>
                        </a:rPr>
                        <a:t>v</a:t>
                      </a:r>
                      <a:r>
                        <a:rPr lang="en" sz="1900" i="1" baseline="-25000">
                          <a:solidFill>
                            <a:schemeClr val="dk1"/>
                          </a:solidFill>
                        </a:rPr>
                        <a:t>1</a:t>
                      </a:r>
                      <a:r>
                        <a:rPr lang="en" sz="1900">
                          <a:solidFill>
                            <a:schemeClr val="dk1"/>
                          </a:solidFill>
                        </a:rPr>
                        <a:t>’</a:t>
                      </a:r>
                      <a:endParaRPr sz="1900">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t>4</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1</a:t>
                      </a:r>
                      <a:r>
                        <a:rPr lang="en" sz="1900" i="1">
                          <a:solidFill>
                            <a:schemeClr val="dk1"/>
                          </a:solidFill>
                        </a:rPr>
                        <a:t> , v</a:t>
                      </a:r>
                      <a:r>
                        <a:rPr lang="en" sz="1900" i="1" baseline="-25000">
                          <a:solidFill>
                            <a:schemeClr val="dk1"/>
                          </a:solidFill>
                        </a:rPr>
                        <a:t>1</a:t>
                      </a:r>
                      <a:r>
                        <a:rPr lang="en" sz="1900" i="1">
                          <a:solidFill>
                            <a:schemeClr val="dk1"/>
                          </a:solidFill>
                        </a:rPr>
                        <a:t>, 1</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1</a:t>
                      </a:r>
                      <a:r>
                        <a:rPr lang="en" sz="1900" i="1">
                          <a:solidFill>
                            <a:schemeClr val="dk1"/>
                          </a:solidFill>
                        </a:rPr>
                        <a:t> , v</a:t>
                      </a:r>
                      <a:r>
                        <a:rPr lang="en" sz="1900" i="1" baseline="-25000">
                          <a:solidFill>
                            <a:schemeClr val="dk1"/>
                          </a:solidFill>
                        </a:rPr>
                        <a:t>1</a:t>
                      </a:r>
                      <a:r>
                        <a:rPr lang="en" sz="1900" i="1">
                          <a:solidFill>
                            <a:schemeClr val="dk1"/>
                          </a:solidFill>
                        </a:rPr>
                        <a:t>’, 4</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87925">
                <a:tc>
                  <a:txBody>
                    <a:bodyPr/>
                    <a:lstStyle/>
                    <a:p>
                      <a:pPr marL="0" lvl="0" indent="0" algn="ctr" rtl="0">
                        <a:lnSpc>
                          <a:spcPct val="115000"/>
                        </a:lnSpc>
                        <a:spcBef>
                          <a:spcPts val="0"/>
                        </a:spcBef>
                        <a:spcAft>
                          <a:spcPts val="0"/>
                        </a:spcAft>
                        <a:buNone/>
                      </a:pPr>
                      <a:r>
                        <a:rPr lang="en" sz="1900"/>
                        <a:t>Load </a:t>
                      </a:r>
                      <a:r>
                        <a:rPr lang="en" sz="1900" i="1">
                          <a:solidFill>
                            <a:schemeClr val="dk1"/>
                          </a:solidFill>
                        </a:rPr>
                        <a:t>addr</a:t>
                      </a:r>
                      <a:r>
                        <a:rPr lang="en" sz="1900" i="1" baseline="-25000">
                          <a:solidFill>
                            <a:schemeClr val="dk1"/>
                          </a:solidFill>
                        </a:rPr>
                        <a:t>1</a:t>
                      </a:r>
                      <a:r>
                        <a:rPr lang="en" sz="1900" i="1">
                          <a:solidFill>
                            <a:schemeClr val="dk1"/>
                          </a:solidFill>
                        </a:rPr>
                        <a:t> </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t>5</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1</a:t>
                      </a:r>
                      <a:r>
                        <a:rPr lang="en" sz="1900" i="1">
                          <a:solidFill>
                            <a:schemeClr val="dk1"/>
                          </a:solidFill>
                        </a:rPr>
                        <a:t> , v</a:t>
                      </a:r>
                      <a:r>
                        <a:rPr lang="en" sz="1900" i="1" baseline="-25000">
                          <a:solidFill>
                            <a:schemeClr val="dk1"/>
                          </a:solidFill>
                        </a:rPr>
                        <a:t>1</a:t>
                      </a:r>
                      <a:r>
                        <a:rPr lang="en" sz="1900" i="1">
                          <a:solidFill>
                            <a:schemeClr val="dk1"/>
                          </a:solidFill>
                        </a:rPr>
                        <a:t>’, 4</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1</a:t>
                      </a:r>
                      <a:r>
                        <a:rPr lang="en" sz="1900" i="1">
                          <a:solidFill>
                            <a:schemeClr val="dk1"/>
                          </a:solidFill>
                        </a:rPr>
                        <a:t> , v</a:t>
                      </a:r>
                      <a:r>
                        <a:rPr lang="en" sz="1900" i="1" baseline="-25000">
                          <a:solidFill>
                            <a:schemeClr val="dk1"/>
                          </a:solidFill>
                        </a:rPr>
                        <a:t>1</a:t>
                      </a:r>
                      <a:r>
                        <a:rPr lang="en" sz="1900" i="1">
                          <a:solidFill>
                            <a:schemeClr val="dk1"/>
                          </a:solidFill>
                        </a:rPr>
                        <a:t>’, 5</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87925">
                <a:tc>
                  <a:txBody>
                    <a:bodyPr/>
                    <a:lstStyle/>
                    <a:p>
                      <a:pPr marL="0" lvl="0" indent="0" algn="ctr" rtl="0">
                        <a:lnSpc>
                          <a:spcPct val="115000"/>
                        </a:lnSpc>
                        <a:spcBef>
                          <a:spcPts val="0"/>
                        </a:spcBef>
                        <a:spcAft>
                          <a:spcPts val="0"/>
                        </a:spcAft>
                        <a:buNone/>
                      </a:pPr>
                      <a:r>
                        <a:rPr lang="en" sz="1900"/>
                        <a:t>Finalize</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t>6</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1</a:t>
                      </a:r>
                      <a:r>
                        <a:rPr lang="en" sz="1900" i="1">
                          <a:solidFill>
                            <a:schemeClr val="dk1"/>
                          </a:solidFill>
                        </a:rPr>
                        <a:t> , v</a:t>
                      </a:r>
                      <a:r>
                        <a:rPr lang="en" sz="1900" i="1" baseline="-25000">
                          <a:solidFill>
                            <a:schemeClr val="dk1"/>
                          </a:solidFill>
                        </a:rPr>
                        <a:t>1</a:t>
                      </a:r>
                      <a:r>
                        <a:rPr lang="en" sz="1900" i="1">
                          <a:solidFill>
                            <a:schemeClr val="dk1"/>
                          </a:solidFill>
                        </a:rPr>
                        <a:t>’, 5</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6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87925">
                <a:tc>
                  <a:txBody>
                    <a:bodyPr/>
                    <a:lstStyle/>
                    <a:p>
                      <a:pPr marL="0" lvl="0" indent="0" algn="ctr" rtl="0">
                        <a:lnSpc>
                          <a:spcPct val="115000"/>
                        </a:lnSpc>
                        <a:spcBef>
                          <a:spcPts val="0"/>
                        </a:spcBef>
                        <a:spcAft>
                          <a:spcPts val="0"/>
                        </a:spcAft>
                        <a:buNone/>
                      </a:pPr>
                      <a:r>
                        <a:rPr lang="en" sz="1900"/>
                        <a:t>Finalize</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t>7</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900">
                          <a:solidFill>
                            <a:schemeClr val="dk1"/>
                          </a:solidFill>
                        </a:rPr>
                        <a:t>(</a:t>
                      </a:r>
                      <a:r>
                        <a:rPr lang="en" sz="1900" i="1">
                          <a:solidFill>
                            <a:schemeClr val="dk1"/>
                          </a:solidFill>
                        </a:rPr>
                        <a:t>addr</a:t>
                      </a:r>
                      <a:r>
                        <a:rPr lang="en" sz="1900" i="1" baseline="-25000">
                          <a:solidFill>
                            <a:schemeClr val="dk1"/>
                          </a:solidFill>
                        </a:rPr>
                        <a:t>2</a:t>
                      </a:r>
                      <a:r>
                        <a:rPr lang="en" sz="1900" i="1">
                          <a:solidFill>
                            <a:schemeClr val="dk1"/>
                          </a:solidFill>
                        </a:rPr>
                        <a:t> , v</a:t>
                      </a:r>
                      <a:r>
                        <a:rPr lang="en" sz="1900" i="1" baseline="-25000">
                          <a:solidFill>
                            <a:schemeClr val="dk1"/>
                          </a:solidFill>
                        </a:rPr>
                        <a:t>2</a:t>
                      </a:r>
                      <a:r>
                        <a:rPr lang="en" sz="1900" i="1">
                          <a:solidFill>
                            <a:schemeClr val="dk1"/>
                          </a:solidFill>
                        </a:rPr>
                        <a:t>, 3</a:t>
                      </a:r>
                      <a:r>
                        <a:rPr lang="en" sz="1900">
                          <a:solidFill>
                            <a:schemeClr val="dk1"/>
                          </a:solidFill>
                        </a:rPr>
                        <a:t>)</a:t>
                      </a:r>
                      <a:endParaRPr sz="19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6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990"/>
              <a:buFont typeface="Arial"/>
              <a:buNone/>
            </a:pPr>
            <a:r>
              <a:rPr lang="en" sz="2100"/>
              <a:t>zkVM Memory Consistency via Multiset Hashes</a:t>
            </a:r>
            <a:endParaRPr sz="2100"/>
          </a:p>
          <a:p>
            <a:pPr marL="0" lvl="0" indent="0" algn="l" rtl="0">
              <a:spcBef>
                <a:spcPts val="0"/>
              </a:spcBef>
              <a:spcAft>
                <a:spcPts val="0"/>
              </a:spcAft>
              <a:buSzPts val="990"/>
              <a:buNone/>
            </a:pPr>
            <a:endParaRPr sz="2700"/>
          </a:p>
        </p:txBody>
      </p:sp>
      <p:graphicFrame>
        <p:nvGraphicFramePr>
          <p:cNvPr id="100" name="Google Shape;100;p20"/>
          <p:cNvGraphicFramePr/>
          <p:nvPr/>
        </p:nvGraphicFramePr>
        <p:xfrm>
          <a:off x="311692" y="1017729"/>
          <a:ext cx="8683075" cy="3443112"/>
        </p:xfrm>
        <a:graphic>
          <a:graphicData uri="http://schemas.openxmlformats.org/drawingml/2006/table">
            <a:tbl>
              <a:tblPr>
                <a:noFill/>
                <a:tableStyleId>{FEA832BE-3CD2-4282-82B5-36E73DAF2A56}</a:tableStyleId>
              </a:tblPr>
              <a:tblGrid>
                <a:gridCol w="1413275">
                  <a:extLst>
                    <a:ext uri="{9D8B030D-6E8A-4147-A177-3AD203B41FA5}">
                      <a16:colId xmlns:a16="http://schemas.microsoft.com/office/drawing/2014/main" val="20000"/>
                    </a:ext>
                  </a:extLst>
                </a:gridCol>
                <a:gridCol w="693475">
                  <a:extLst>
                    <a:ext uri="{9D8B030D-6E8A-4147-A177-3AD203B41FA5}">
                      <a16:colId xmlns:a16="http://schemas.microsoft.com/office/drawing/2014/main" val="20001"/>
                    </a:ext>
                  </a:extLst>
                </a:gridCol>
                <a:gridCol w="1548100">
                  <a:extLst>
                    <a:ext uri="{9D8B030D-6E8A-4147-A177-3AD203B41FA5}">
                      <a16:colId xmlns:a16="http://schemas.microsoft.com/office/drawing/2014/main" val="20002"/>
                    </a:ext>
                  </a:extLst>
                </a:gridCol>
                <a:gridCol w="1676075">
                  <a:extLst>
                    <a:ext uri="{9D8B030D-6E8A-4147-A177-3AD203B41FA5}">
                      <a16:colId xmlns:a16="http://schemas.microsoft.com/office/drawing/2014/main" val="20003"/>
                    </a:ext>
                  </a:extLst>
                </a:gridCol>
                <a:gridCol w="1676075">
                  <a:extLst>
                    <a:ext uri="{9D8B030D-6E8A-4147-A177-3AD203B41FA5}">
                      <a16:colId xmlns:a16="http://schemas.microsoft.com/office/drawing/2014/main" val="20004"/>
                    </a:ext>
                  </a:extLst>
                </a:gridCol>
                <a:gridCol w="1676075">
                  <a:extLst>
                    <a:ext uri="{9D8B030D-6E8A-4147-A177-3AD203B41FA5}">
                      <a16:colId xmlns:a16="http://schemas.microsoft.com/office/drawing/2014/main" val="20005"/>
                    </a:ext>
                  </a:extLst>
                </a:gridCol>
              </a:tblGrid>
              <a:tr h="370825">
                <a:tc>
                  <a:txBody>
                    <a:bodyPr/>
                    <a:lstStyle/>
                    <a:p>
                      <a:pPr marL="0" lvl="0" indent="0" algn="ctr" rtl="0">
                        <a:lnSpc>
                          <a:spcPct val="115000"/>
                        </a:lnSpc>
                        <a:spcBef>
                          <a:spcPts val="0"/>
                        </a:spcBef>
                        <a:spcAft>
                          <a:spcPts val="0"/>
                        </a:spcAft>
                        <a:buNone/>
                      </a:pPr>
                      <a:r>
                        <a:rPr lang="en" b="1"/>
                        <a:t>Operation</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a:t>Time</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a:t>Read</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a:t>Write</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i="1"/>
                        <a:t>d</a:t>
                      </a:r>
                      <a:r>
                        <a:rPr lang="en" b="1" i="1" baseline="-25000"/>
                        <a:t>RS</a:t>
                      </a:r>
                      <a:endParaRPr b="1" i="1" baseline="-250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b="1" i="1"/>
                        <a:t>d</a:t>
                      </a:r>
                      <a:r>
                        <a:rPr lang="en" b="1" i="1" baseline="-25000"/>
                        <a:t>WS</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70825">
                <a:tc>
                  <a:txBody>
                    <a:bodyPr/>
                    <a:lstStyle/>
                    <a:p>
                      <a:pPr marL="0" lvl="0" indent="0" algn="ctr" rtl="0">
                        <a:lnSpc>
                          <a:spcPct val="115000"/>
                        </a:lnSpc>
                        <a:spcBef>
                          <a:spcPts val="0"/>
                        </a:spcBef>
                        <a:spcAft>
                          <a:spcPts val="0"/>
                        </a:spcAft>
                        <a:buNone/>
                      </a:pPr>
                      <a:r>
                        <a:rPr lang="en"/>
                        <a:t>Initialize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1</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457200" lvl="0" indent="-234950" algn="l" rtl="0">
                        <a:spcBef>
                          <a:spcPts val="0"/>
                        </a:spcBef>
                        <a:spcAft>
                          <a:spcPts val="0"/>
                        </a:spcAft>
                        <a:buSzPts val="100"/>
                        <a:buChar char="+"/>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r>
                        <a:rPr lang="en">
                          <a:solidFill>
                            <a:schemeClr val="dk1"/>
                          </a:solidFill>
                        </a:rPr>
                        <a:t>)</a:t>
                      </a:r>
                      <a:endParaRPr>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0</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0825">
                <a:tc>
                  <a:txBody>
                    <a:bodyPr/>
                    <a:lstStyle/>
                    <a:p>
                      <a:pPr marL="0" lvl="0" indent="0" algn="ctr" rtl="0">
                        <a:lnSpc>
                          <a:spcPct val="115000"/>
                        </a:lnSpc>
                        <a:spcBef>
                          <a:spcPts val="0"/>
                        </a:spcBef>
                        <a:spcAft>
                          <a:spcPts val="0"/>
                        </a:spcAft>
                        <a:buNone/>
                      </a:pPr>
                      <a:r>
                        <a:rPr lang="en"/>
                        <a:t>Initialize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2</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0</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70825">
                <a:tc>
                  <a:txBody>
                    <a:bodyPr/>
                    <a:lstStyle/>
                    <a:p>
                      <a:pPr marL="0" lvl="0" indent="0" algn="ctr" rtl="0">
                        <a:lnSpc>
                          <a:spcPct val="115000"/>
                        </a:lnSpc>
                        <a:spcBef>
                          <a:spcPts val="0"/>
                        </a:spcBef>
                        <a:spcAft>
                          <a:spcPts val="0"/>
                        </a:spcAft>
                        <a:buNone/>
                      </a:pPr>
                      <a:r>
                        <a:rPr lang="en"/>
                        <a:t>Load </a:t>
                      </a:r>
                      <a:r>
                        <a:rPr lang="en" i="1">
                          <a:solidFill>
                            <a:schemeClr val="dk1"/>
                          </a:solidFill>
                        </a:rPr>
                        <a:t>addr</a:t>
                      </a:r>
                      <a:r>
                        <a:rPr lang="en" i="1" baseline="-25000">
                          <a:solidFill>
                            <a:schemeClr val="dk1"/>
                          </a:solidFill>
                        </a:rPr>
                        <a:t>2</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3</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46725">
                <a:tc>
                  <a:txBody>
                    <a:bodyPr/>
                    <a:lstStyle/>
                    <a:p>
                      <a:pPr marL="0" lvl="0" indent="0" algn="ctr" rtl="0">
                        <a:lnSpc>
                          <a:spcPct val="115000"/>
                        </a:lnSpc>
                        <a:spcBef>
                          <a:spcPts val="0"/>
                        </a:spcBef>
                        <a:spcAft>
                          <a:spcPts val="0"/>
                        </a:spcAft>
                        <a:buNone/>
                      </a:pPr>
                      <a:r>
                        <a:rPr lang="en"/>
                        <a:t>Store </a:t>
                      </a:r>
                      <a:r>
                        <a:rPr lang="en" i="1">
                          <a:solidFill>
                            <a:schemeClr val="dk1"/>
                          </a:solidFill>
                        </a:rPr>
                        <a:t>addr</a:t>
                      </a:r>
                      <a:r>
                        <a:rPr lang="en" i="1" baseline="-25000">
                          <a:solidFill>
                            <a:schemeClr val="dk1"/>
                          </a:solidFill>
                        </a:rPr>
                        <a:t>1</a:t>
                      </a:r>
                      <a:r>
                        <a:rPr lang="en" i="1">
                          <a:solidFill>
                            <a:schemeClr val="dk1"/>
                          </a:solidFill>
                        </a:rPr>
                        <a:t> ,</a:t>
                      </a:r>
                      <a:r>
                        <a:rPr lang="en"/>
                        <a:t> </a:t>
                      </a:r>
                      <a:r>
                        <a:rPr lang="en" i="1">
                          <a:solidFill>
                            <a:schemeClr val="dk1"/>
                          </a:solidFill>
                        </a:rPr>
                        <a:t>v</a:t>
                      </a:r>
                      <a:r>
                        <a:rPr lang="en" i="1" baseline="-25000">
                          <a:solidFill>
                            <a:schemeClr val="dk1"/>
                          </a:solidFill>
                        </a:rPr>
                        <a:t>1</a:t>
                      </a:r>
                      <a:r>
                        <a:rPr lang="en">
                          <a:solidFill>
                            <a:schemeClr val="dk1"/>
                          </a:solidFill>
                        </a:rPr>
                        <a:t>’</a:t>
                      </a:r>
                      <a:endParaRPr>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4</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70825">
                <a:tc>
                  <a:txBody>
                    <a:bodyPr/>
                    <a:lstStyle/>
                    <a:p>
                      <a:pPr marL="0" lvl="0" indent="0" algn="ctr" rtl="0">
                        <a:lnSpc>
                          <a:spcPct val="115000"/>
                        </a:lnSpc>
                        <a:spcBef>
                          <a:spcPts val="0"/>
                        </a:spcBef>
                        <a:spcAft>
                          <a:spcPts val="0"/>
                        </a:spcAft>
                        <a:buNone/>
                      </a:pPr>
                      <a:r>
                        <a:rPr lang="en"/>
                        <a:t>Load </a:t>
                      </a:r>
                      <a:r>
                        <a:rPr lang="en" i="1">
                          <a:solidFill>
                            <a:schemeClr val="dk1"/>
                          </a:solidFill>
                        </a:rPr>
                        <a:t>addr</a:t>
                      </a:r>
                      <a:r>
                        <a:rPr lang="en" i="1" baseline="-25000">
                          <a:solidFill>
                            <a:schemeClr val="dk1"/>
                          </a:solidFill>
                        </a:rPr>
                        <a:t>1</a:t>
                      </a:r>
                      <a:r>
                        <a:rPr lang="en" i="1">
                          <a:solidFill>
                            <a:schemeClr val="dk1"/>
                          </a:solidFill>
                        </a:rPr>
                        <a:t> </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5</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70825">
                <a:tc>
                  <a:txBody>
                    <a:bodyPr/>
                    <a:lstStyle/>
                    <a:p>
                      <a:pPr marL="0" lvl="0" indent="0" algn="ctr" rtl="0">
                        <a:lnSpc>
                          <a:spcPct val="115000"/>
                        </a:lnSpc>
                        <a:spcBef>
                          <a:spcPts val="0"/>
                        </a:spcBef>
                        <a:spcAft>
                          <a:spcPts val="0"/>
                        </a:spcAft>
                        <a:buNone/>
                      </a:pPr>
                      <a:r>
                        <a:rPr lang="en"/>
                        <a:t>Finalize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6</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endParaRPr sz="100"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WS</a:t>
                      </a:r>
                      <a:endParaRPr sz="100"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70825">
                <a:tc>
                  <a:txBody>
                    <a:bodyPr/>
                    <a:lstStyle/>
                    <a:p>
                      <a:pPr marL="0" lvl="0" indent="0" algn="ctr" rtl="0">
                        <a:lnSpc>
                          <a:spcPct val="115000"/>
                        </a:lnSpc>
                        <a:spcBef>
                          <a:spcPts val="0"/>
                        </a:spcBef>
                        <a:spcAft>
                          <a:spcPts val="0"/>
                        </a:spcAft>
                        <a:buNone/>
                      </a:pPr>
                      <a:r>
                        <a:rPr lang="en"/>
                        <a:t>Finalize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7</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endParaRPr i="1">
                        <a:solidFill>
                          <a:schemeClr val="dk1"/>
                        </a:solidFill>
                      </a:endParaRPr>
                    </a:p>
                    <a:p>
                      <a:pPr marL="0" lvl="0" indent="0" algn="l" rtl="0">
                        <a:spcBef>
                          <a:spcPts val="0"/>
                        </a:spcBef>
                        <a:spcAft>
                          <a:spcPts val="0"/>
                        </a:spcAft>
                        <a:buNone/>
                      </a:pPr>
                      <a:endParaRPr sz="100"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i="1">
                          <a:solidFill>
                            <a:schemeClr val="dk1"/>
                          </a:solidFill>
                        </a:rPr>
                        <a:t>d</a:t>
                      </a:r>
                      <a:r>
                        <a:rPr lang="en" i="1" baseline="-25000">
                          <a:solidFill>
                            <a:schemeClr val="dk1"/>
                          </a:solidFill>
                        </a:rPr>
                        <a:t>WS</a:t>
                      </a:r>
                      <a:endParaRPr sz="100"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101" name="Google Shape;101;p20"/>
          <p:cNvSpPr txBox="1"/>
          <p:nvPr/>
        </p:nvSpPr>
        <p:spPr>
          <a:xfrm>
            <a:off x="459100" y="4518650"/>
            <a:ext cx="8373300" cy="4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2"/>
                </a:solidFill>
              </a:rPr>
              <a:t>Theorem </a:t>
            </a:r>
            <a:r>
              <a:rPr lang="en" sz="1800">
                <a:solidFill>
                  <a:schemeClr val="dk2"/>
                </a:solidFill>
              </a:rPr>
              <a:t>[SAGL’18]</a:t>
            </a:r>
            <a:r>
              <a:rPr lang="en" sz="1800" b="1">
                <a:solidFill>
                  <a:schemeClr val="dk2"/>
                </a:solidFill>
              </a:rPr>
              <a:t>:</a:t>
            </a:r>
            <a:r>
              <a:rPr lang="en" sz="1800">
                <a:solidFill>
                  <a:schemeClr val="dk2"/>
                </a:solidFill>
              </a:rPr>
              <a:t> Reads and writes are consistent ⇔ </a:t>
            </a:r>
            <a:r>
              <a:rPr lang="en" sz="1800" i="1">
                <a:solidFill>
                  <a:schemeClr val="dk2"/>
                </a:solidFill>
              </a:rPr>
              <a:t>d</a:t>
            </a:r>
            <a:r>
              <a:rPr lang="en" sz="1800" i="1" baseline="-25000">
                <a:solidFill>
                  <a:schemeClr val="dk2"/>
                </a:solidFill>
              </a:rPr>
              <a:t>RS</a:t>
            </a:r>
            <a:r>
              <a:rPr lang="en" sz="1800" i="1">
                <a:solidFill>
                  <a:schemeClr val="dk2"/>
                </a:solidFill>
              </a:rPr>
              <a:t> = d</a:t>
            </a:r>
            <a:r>
              <a:rPr lang="en" sz="1800" i="1" baseline="-25000">
                <a:solidFill>
                  <a:schemeClr val="dk2"/>
                </a:solidFill>
              </a:rPr>
              <a:t>WS</a:t>
            </a:r>
            <a:r>
              <a:rPr lang="en" sz="1800">
                <a:solidFill>
                  <a:schemeClr val="dk2"/>
                </a:solidFill>
              </a:rPr>
              <a:t> </a:t>
            </a:r>
            <a:endParaRPr sz="180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100"/>
              <a:t>zkVM Memory Consistency via Multiset Hashes</a:t>
            </a:r>
            <a:endParaRPr sz="2100"/>
          </a:p>
          <a:p>
            <a:pPr marL="0" lvl="0" indent="0" algn="l" rtl="0">
              <a:spcBef>
                <a:spcPts val="0"/>
              </a:spcBef>
              <a:spcAft>
                <a:spcPts val="0"/>
              </a:spcAft>
              <a:buSzPts val="990"/>
              <a:buNone/>
            </a:pPr>
            <a:endParaRPr sz="2700"/>
          </a:p>
        </p:txBody>
      </p:sp>
      <p:graphicFrame>
        <p:nvGraphicFramePr>
          <p:cNvPr id="107" name="Google Shape;107;p21"/>
          <p:cNvGraphicFramePr/>
          <p:nvPr/>
        </p:nvGraphicFramePr>
        <p:xfrm>
          <a:off x="311692" y="1017729"/>
          <a:ext cx="8683075" cy="3443112"/>
        </p:xfrm>
        <a:graphic>
          <a:graphicData uri="http://schemas.openxmlformats.org/drawingml/2006/table">
            <a:tbl>
              <a:tblPr>
                <a:noFill/>
                <a:tableStyleId>{FEA832BE-3CD2-4282-82B5-36E73DAF2A56}</a:tableStyleId>
              </a:tblPr>
              <a:tblGrid>
                <a:gridCol w="1413275">
                  <a:extLst>
                    <a:ext uri="{9D8B030D-6E8A-4147-A177-3AD203B41FA5}">
                      <a16:colId xmlns:a16="http://schemas.microsoft.com/office/drawing/2014/main" val="20000"/>
                    </a:ext>
                  </a:extLst>
                </a:gridCol>
                <a:gridCol w="693475">
                  <a:extLst>
                    <a:ext uri="{9D8B030D-6E8A-4147-A177-3AD203B41FA5}">
                      <a16:colId xmlns:a16="http://schemas.microsoft.com/office/drawing/2014/main" val="20001"/>
                    </a:ext>
                  </a:extLst>
                </a:gridCol>
                <a:gridCol w="1548100">
                  <a:extLst>
                    <a:ext uri="{9D8B030D-6E8A-4147-A177-3AD203B41FA5}">
                      <a16:colId xmlns:a16="http://schemas.microsoft.com/office/drawing/2014/main" val="20002"/>
                    </a:ext>
                  </a:extLst>
                </a:gridCol>
                <a:gridCol w="1676075">
                  <a:extLst>
                    <a:ext uri="{9D8B030D-6E8A-4147-A177-3AD203B41FA5}">
                      <a16:colId xmlns:a16="http://schemas.microsoft.com/office/drawing/2014/main" val="20003"/>
                    </a:ext>
                  </a:extLst>
                </a:gridCol>
                <a:gridCol w="1676075">
                  <a:extLst>
                    <a:ext uri="{9D8B030D-6E8A-4147-A177-3AD203B41FA5}">
                      <a16:colId xmlns:a16="http://schemas.microsoft.com/office/drawing/2014/main" val="20004"/>
                    </a:ext>
                  </a:extLst>
                </a:gridCol>
                <a:gridCol w="1676075">
                  <a:extLst>
                    <a:ext uri="{9D8B030D-6E8A-4147-A177-3AD203B41FA5}">
                      <a16:colId xmlns:a16="http://schemas.microsoft.com/office/drawing/2014/main" val="20005"/>
                    </a:ext>
                  </a:extLst>
                </a:gridCol>
              </a:tblGrid>
              <a:tr h="370825">
                <a:tc>
                  <a:txBody>
                    <a:bodyPr/>
                    <a:lstStyle/>
                    <a:p>
                      <a:pPr marL="0" lvl="0" indent="0" algn="ctr" rtl="0">
                        <a:lnSpc>
                          <a:spcPct val="115000"/>
                        </a:lnSpc>
                        <a:spcBef>
                          <a:spcPts val="0"/>
                        </a:spcBef>
                        <a:spcAft>
                          <a:spcPts val="0"/>
                        </a:spcAft>
                        <a:buNone/>
                      </a:pPr>
                      <a:r>
                        <a:rPr lang="en" b="1"/>
                        <a:t>Operation</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a:t>Time</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a:t>Read</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a:t>Write</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i="1"/>
                        <a:t>d</a:t>
                      </a:r>
                      <a:r>
                        <a:rPr lang="en" b="1" i="1" baseline="-25000"/>
                        <a:t>RS</a:t>
                      </a:r>
                      <a:endParaRPr b="1" i="1" baseline="-250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b="1" i="1"/>
                        <a:t>d</a:t>
                      </a:r>
                      <a:r>
                        <a:rPr lang="en" b="1" i="1" baseline="-25000"/>
                        <a:t>WS</a:t>
                      </a:r>
                      <a:endParaRPr b="1"/>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70825">
                <a:tc>
                  <a:txBody>
                    <a:bodyPr/>
                    <a:lstStyle/>
                    <a:p>
                      <a:pPr marL="0" lvl="0" indent="0" algn="ctr" rtl="0">
                        <a:lnSpc>
                          <a:spcPct val="115000"/>
                        </a:lnSpc>
                        <a:spcBef>
                          <a:spcPts val="0"/>
                        </a:spcBef>
                        <a:spcAft>
                          <a:spcPts val="0"/>
                        </a:spcAft>
                        <a:buNone/>
                      </a:pPr>
                      <a:r>
                        <a:rPr lang="en"/>
                        <a:t>Initialize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1</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457200" lvl="0" indent="-234950" algn="l" rtl="0">
                        <a:spcBef>
                          <a:spcPts val="0"/>
                        </a:spcBef>
                        <a:spcAft>
                          <a:spcPts val="0"/>
                        </a:spcAft>
                        <a:buSzPts val="100"/>
                        <a:buChar char="+"/>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r>
                        <a:rPr lang="en">
                          <a:solidFill>
                            <a:schemeClr val="dk1"/>
                          </a:solidFill>
                        </a:rPr>
                        <a:t>)</a:t>
                      </a:r>
                      <a:endParaRPr>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0</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0825">
                <a:tc>
                  <a:txBody>
                    <a:bodyPr/>
                    <a:lstStyle/>
                    <a:p>
                      <a:pPr marL="0" lvl="0" indent="0" algn="ctr" rtl="0">
                        <a:lnSpc>
                          <a:spcPct val="115000"/>
                        </a:lnSpc>
                        <a:spcBef>
                          <a:spcPts val="0"/>
                        </a:spcBef>
                        <a:spcAft>
                          <a:spcPts val="0"/>
                        </a:spcAft>
                        <a:buNone/>
                      </a:pPr>
                      <a:r>
                        <a:rPr lang="en"/>
                        <a:t>Initialize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2</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0</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70825">
                <a:tc>
                  <a:txBody>
                    <a:bodyPr/>
                    <a:lstStyle/>
                    <a:p>
                      <a:pPr marL="0" lvl="0" indent="0" algn="ctr" rtl="0">
                        <a:lnSpc>
                          <a:spcPct val="115000"/>
                        </a:lnSpc>
                        <a:spcBef>
                          <a:spcPts val="0"/>
                        </a:spcBef>
                        <a:spcAft>
                          <a:spcPts val="0"/>
                        </a:spcAft>
                        <a:buNone/>
                      </a:pPr>
                      <a:r>
                        <a:rPr lang="en"/>
                        <a:t>Load </a:t>
                      </a:r>
                      <a:r>
                        <a:rPr lang="en" i="1">
                          <a:solidFill>
                            <a:schemeClr val="dk1"/>
                          </a:solidFill>
                        </a:rPr>
                        <a:t>addr</a:t>
                      </a:r>
                      <a:r>
                        <a:rPr lang="en" i="1" baseline="-25000">
                          <a:solidFill>
                            <a:schemeClr val="dk1"/>
                          </a:solidFill>
                        </a:rPr>
                        <a:t>2</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3</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2)</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46725">
                <a:tc>
                  <a:txBody>
                    <a:bodyPr/>
                    <a:lstStyle/>
                    <a:p>
                      <a:pPr marL="0" lvl="0" indent="0" algn="ctr" rtl="0">
                        <a:lnSpc>
                          <a:spcPct val="115000"/>
                        </a:lnSpc>
                        <a:spcBef>
                          <a:spcPts val="0"/>
                        </a:spcBef>
                        <a:spcAft>
                          <a:spcPts val="0"/>
                        </a:spcAft>
                        <a:buNone/>
                      </a:pPr>
                      <a:r>
                        <a:rPr lang="en"/>
                        <a:t>Store </a:t>
                      </a:r>
                      <a:r>
                        <a:rPr lang="en" i="1">
                          <a:solidFill>
                            <a:schemeClr val="dk1"/>
                          </a:solidFill>
                        </a:rPr>
                        <a:t>addr</a:t>
                      </a:r>
                      <a:r>
                        <a:rPr lang="en" i="1" baseline="-25000">
                          <a:solidFill>
                            <a:schemeClr val="dk1"/>
                          </a:solidFill>
                        </a:rPr>
                        <a:t>1</a:t>
                      </a:r>
                      <a:r>
                        <a:rPr lang="en" i="1">
                          <a:solidFill>
                            <a:schemeClr val="dk1"/>
                          </a:solidFill>
                        </a:rPr>
                        <a:t> ,</a:t>
                      </a:r>
                      <a:r>
                        <a:rPr lang="en"/>
                        <a:t> </a:t>
                      </a:r>
                      <a:r>
                        <a:rPr lang="en" i="1">
                          <a:solidFill>
                            <a:schemeClr val="dk1"/>
                          </a:solidFill>
                        </a:rPr>
                        <a:t>v</a:t>
                      </a:r>
                      <a:r>
                        <a:rPr lang="en" i="1" baseline="-25000">
                          <a:solidFill>
                            <a:schemeClr val="dk1"/>
                          </a:solidFill>
                        </a:rPr>
                        <a:t>1</a:t>
                      </a:r>
                      <a:r>
                        <a:rPr lang="en">
                          <a:solidFill>
                            <a:schemeClr val="dk1"/>
                          </a:solidFill>
                        </a:rPr>
                        <a:t>’</a:t>
                      </a:r>
                      <a:endParaRPr>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4</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1)</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70825">
                <a:tc>
                  <a:txBody>
                    <a:bodyPr/>
                    <a:lstStyle/>
                    <a:p>
                      <a:pPr marL="0" lvl="0" indent="0" algn="ctr" rtl="0">
                        <a:lnSpc>
                          <a:spcPct val="115000"/>
                        </a:lnSpc>
                        <a:spcBef>
                          <a:spcPts val="0"/>
                        </a:spcBef>
                        <a:spcAft>
                          <a:spcPts val="0"/>
                        </a:spcAft>
                        <a:buNone/>
                      </a:pPr>
                      <a:r>
                        <a:rPr lang="en"/>
                        <a:t>Load </a:t>
                      </a:r>
                      <a:r>
                        <a:rPr lang="en" i="1">
                          <a:solidFill>
                            <a:schemeClr val="dk1"/>
                          </a:solidFill>
                        </a:rPr>
                        <a:t>addr</a:t>
                      </a:r>
                      <a:r>
                        <a:rPr lang="en" i="1" baseline="-25000">
                          <a:solidFill>
                            <a:schemeClr val="dk1"/>
                          </a:solidFill>
                        </a:rPr>
                        <a:t>1</a:t>
                      </a:r>
                      <a:r>
                        <a:rPr lang="en" i="1">
                          <a:solidFill>
                            <a:schemeClr val="dk1"/>
                          </a:solidFill>
                        </a:rPr>
                        <a:t> </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5</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4)</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WS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endParaRPr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70825">
                <a:tc>
                  <a:txBody>
                    <a:bodyPr/>
                    <a:lstStyle/>
                    <a:p>
                      <a:pPr marL="0" lvl="0" indent="0" algn="ctr" rtl="0">
                        <a:lnSpc>
                          <a:spcPct val="115000"/>
                        </a:lnSpc>
                        <a:spcBef>
                          <a:spcPts val="0"/>
                        </a:spcBef>
                        <a:spcAft>
                          <a:spcPts val="0"/>
                        </a:spcAft>
                        <a:buNone/>
                      </a:pPr>
                      <a:r>
                        <a:rPr lang="en"/>
                        <a:t>Finalize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dirty="0"/>
                        <a:t>6</a:t>
                      </a:r>
                      <a:endParaRPr dirty="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1</a:t>
                      </a:r>
                      <a:r>
                        <a:rPr lang="en" i="1">
                          <a:solidFill>
                            <a:schemeClr val="dk1"/>
                          </a:solidFill>
                        </a:rPr>
                        <a:t> , v</a:t>
                      </a:r>
                      <a:r>
                        <a:rPr lang="en" i="1" baseline="-25000">
                          <a:solidFill>
                            <a:schemeClr val="dk1"/>
                          </a:solidFill>
                        </a:rPr>
                        <a:t>1</a:t>
                      </a:r>
                      <a:r>
                        <a:rPr lang="en" i="1">
                          <a:solidFill>
                            <a:schemeClr val="dk1"/>
                          </a:solidFill>
                        </a:rPr>
                        <a:t>’, 5)</a:t>
                      </a:r>
                      <a:endParaRPr sz="100"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WS</a:t>
                      </a:r>
                      <a:endParaRPr sz="100"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70825">
                <a:tc>
                  <a:txBody>
                    <a:bodyPr/>
                    <a:lstStyle/>
                    <a:p>
                      <a:pPr marL="0" lvl="0" indent="0" algn="ctr" rtl="0">
                        <a:lnSpc>
                          <a:spcPct val="115000"/>
                        </a:lnSpc>
                        <a:spcBef>
                          <a:spcPts val="0"/>
                        </a:spcBef>
                        <a:spcAft>
                          <a:spcPts val="0"/>
                        </a:spcAft>
                        <a:buNone/>
                      </a:pPr>
                      <a:r>
                        <a:rPr lang="en"/>
                        <a:t>Finalize</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t>7</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rPr>
                        <a:t>(</a:t>
                      </a:r>
                      <a:r>
                        <a:rPr lang="en" i="1">
                          <a:solidFill>
                            <a:schemeClr val="dk1"/>
                          </a:solidFill>
                        </a:rPr>
                        <a:t>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r>
                        <a:rPr lang="en">
                          <a:solidFill>
                            <a:schemeClr val="dk1"/>
                          </a:solidFill>
                        </a:rPr>
                        <a:t>)</a:t>
                      </a:r>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a:solidFill>
                            <a:schemeClr val="dk1"/>
                          </a:solidFill>
                        </a:rPr>
                        <a:t>d</a:t>
                      </a:r>
                      <a:r>
                        <a:rPr lang="en" i="1" baseline="-25000">
                          <a:solidFill>
                            <a:schemeClr val="dk1"/>
                          </a:solidFill>
                        </a:rPr>
                        <a:t>RS</a:t>
                      </a:r>
                      <a:r>
                        <a:rPr lang="en" i="1">
                          <a:solidFill>
                            <a:schemeClr val="dk1"/>
                          </a:solidFill>
                        </a:rPr>
                        <a:t>+H(addr</a:t>
                      </a:r>
                      <a:r>
                        <a:rPr lang="en" i="1" baseline="-25000">
                          <a:solidFill>
                            <a:schemeClr val="dk1"/>
                          </a:solidFill>
                        </a:rPr>
                        <a:t>2</a:t>
                      </a:r>
                      <a:r>
                        <a:rPr lang="en" i="1">
                          <a:solidFill>
                            <a:schemeClr val="dk1"/>
                          </a:solidFill>
                        </a:rPr>
                        <a:t> , v</a:t>
                      </a:r>
                      <a:r>
                        <a:rPr lang="en" i="1" baseline="-25000">
                          <a:solidFill>
                            <a:schemeClr val="dk1"/>
                          </a:solidFill>
                        </a:rPr>
                        <a:t>2</a:t>
                      </a:r>
                      <a:r>
                        <a:rPr lang="en" i="1">
                          <a:solidFill>
                            <a:schemeClr val="dk1"/>
                          </a:solidFill>
                        </a:rPr>
                        <a:t>, 3)</a:t>
                      </a:r>
                      <a:endParaRPr i="1">
                        <a:solidFill>
                          <a:schemeClr val="dk1"/>
                        </a:solidFill>
                      </a:endParaRPr>
                    </a:p>
                    <a:p>
                      <a:pPr marL="0" lvl="0" indent="0" algn="l" rtl="0">
                        <a:spcBef>
                          <a:spcPts val="0"/>
                        </a:spcBef>
                        <a:spcAft>
                          <a:spcPts val="0"/>
                        </a:spcAft>
                        <a:buNone/>
                      </a:pPr>
                      <a:endParaRPr sz="100" i="1">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i="1" dirty="0" err="1">
                          <a:solidFill>
                            <a:schemeClr val="dk1"/>
                          </a:solidFill>
                        </a:rPr>
                        <a:t>d</a:t>
                      </a:r>
                      <a:r>
                        <a:rPr lang="en" i="1" baseline="-25000" dirty="0" err="1">
                          <a:solidFill>
                            <a:schemeClr val="dk1"/>
                          </a:solidFill>
                        </a:rPr>
                        <a:t>WS</a:t>
                      </a:r>
                      <a:endParaRPr sz="100" i="1" dirty="0">
                        <a:solidFill>
                          <a:schemeClr val="dk1"/>
                        </a:solidFill>
                      </a:endParaRPr>
                    </a:p>
                  </a:txBody>
                  <a:tcPr marL="50800" marR="50800" marT="50800" marB="508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108" name="Google Shape;108;p21"/>
          <p:cNvSpPr txBox="1"/>
          <p:nvPr/>
        </p:nvSpPr>
        <p:spPr>
          <a:xfrm>
            <a:off x="237100" y="4484776"/>
            <a:ext cx="8832300" cy="67707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chemeClr val="dk2"/>
                </a:solidFill>
              </a:rPr>
              <a:t>Note 1:</a:t>
            </a:r>
            <a:r>
              <a:rPr lang="en" sz="1600" dirty="0">
                <a:solidFill>
                  <a:schemeClr val="dk2"/>
                </a:solidFill>
              </a:rPr>
              <a:t> The multiset hash needs to be computed inside the proof system’s constraint system! </a:t>
            </a:r>
            <a:endParaRPr sz="1600" dirty="0">
              <a:solidFill>
                <a:schemeClr val="dk2"/>
              </a:solidFill>
            </a:endParaRPr>
          </a:p>
          <a:p>
            <a:pPr marL="0" lvl="0" indent="0" algn="l" rtl="0">
              <a:spcBef>
                <a:spcPts val="0"/>
              </a:spcBef>
              <a:spcAft>
                <a:spcPts val="0"/>
              </a:spcAft>
              <a:buNone/>
            </a:pPr>
            <a:r>
              <a:rPr lang="en" sz="1600" b="1" dirty="0">
                <a:solidFill>
                  <a:schemeClr val="dk2"/>
                </a:solidFill>
              </a:rPr>
              <a:t>Corollary: </a:t>
            </a:r>
            <a:r>
              <a:rPr lang="en" sz="1600" dirty="0">
                <a:solidFill>
                  <a:schemeClr val="dk2"/>
                </a:solidFill>
              </a:rPr>
              <a:t>If the multiset hash is not constraint-friendly, the </a:t>
            </a:r>
            <a:r>
              <a:rPr lang="en" sz="1600" dirty="0" err="1">
                <a:solidFill>
                  <a:schemeClr val="dk2"/>
                </a:solidFill>
              </a:rPr>
              <a:t>zkVM</a:t>
            </a:r>
            <a:r>
              <a:rPr lang="en" sz="1600" dirty="0">
                <a:solidFill>
                  <a:schemeClr val="dk2"/>
                </a:solidFill>
              </a:rPr>
              <a:t> will be slow!</a:t>
            </a:r>
            <a:endParaRPr sz="1600" dirty="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311700" y="25717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From Hash-to-Group to Map-to-Group Relations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17"/>
        <p:cNvGrpSpPr/>
        <p:nvPr/>
      </p:nvGrpSpPr>
      <p:grpSpPr>
        <a:xfrm>
          <a:off x="0" y="0"/>
          <a:ext cx="0" cy="0"/>
          <a:chOff x="0" y="0"/>
          <a:chExt cx="0" cy="0"/>
        </a:xfrm>
      </p:grpSpPr>
      <p:sp>
        <p:nvSpPr>
          <p:cNvPr id="118" name="Google Shape;118;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Hash-to-Group Example Construction</a:t>
            </a:r>
            <a:endParaRPr/>
          </a:p>
        </p:txBody>
      </p:sp>
      <p:sp>
        <p:nvSpPr>
          <p:cNvPr id="119" name="Google Shape;119;p23"/>
          <p:cNvSpPr txBox="1">
            <a:spLocks noGrp="1"/>
          </p:cNvSpPr>
          <p:nvPr>
            <p:ph type="body" idx="1"/>
          </p:nvPr>
        </p:nvSpPr>
        <p:spPr>
          <a:xfrm>
            <a:off x="311700" y="1152475"/>
            <a:ext cx="8520600" cy="37281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b="1"/>
              <a:t>Parameters: </a:t>
            </a:r>
            <a:r>
              <a:rPr lang="en"/>
              <a:t>Group G is an elliptic curve group </a:t>
            </a:r>
            <a:r>
              <a:rPr lang="en" i="1"/>
              <a:t>E(F</a:t>
            </a:r>
            <a:r>
              <a:rPr lang="en" i="1" baseline="-25000"/>
              <a:t>q</a:t>
            </a:r>
            <a:r>
              <a:rPr lang="en" i="1"/>
              <a:t>): y</a:t>
            </a:r>
            <a:r>
              <a:rPr lang="en" i="1" baseline="30000"/>
              <a:t>2</a:t>
            </a:r>
            <a:r>
              <a:rPr lang="en" i="1"/>
              <a:t> = x</a:t>
            </a:r>
            <a:r>
              <a:rPr lang="en" i="1" baseline="30000"/>
              <a:t>3</a:t>
            </a:r>
            <a:r>
              <a:rPr lang="en" i="1"/>
              <a:t> + ax + b</a:t>
            </a:r>
            <a:r>
              <a:rPr lang="en"/>
              <a:t> with </a:t>
            </a:r>
            <a:r>
              <a:rPr lang="en" i="1"/>
              <a:t>p</a:t>
            </a:r>
            <a:r>
              <a:rPr lang="en"/>
              <a:t> points, </a:t>
            </a:r>
            <a:endParaRPr/>
          </a:p>
          <a:p>
            <a:pPr marL="1371600" lvl="0" indent="0" algn="l" rtl="0">
              <a:lnSpc>
                <a:spcPct val="100000"/>
              </a:lnSpc>
              <a:spcBef>
                <a:spcPts val="0"/>
              </a:spcBef>
              <a:spcAft>
                <a:spcPts val="0"/>
              </a:spcAft>
              <a:buNone/>
            </a:pPr>
            <a:r>
              <a:rPr lang="en"/>
              <a:t>Message space </a:t>
            </a:r>
            <a:r>
              <a:rPr lang="en" i="1"/>
              <a:t>M⊆F</a:t>
            </a:r>
            <a:r>
              <a:rPr lang="en" i="1" baseline="-25000"/>
              <a:t>q</a:t>
            </a:r>
            <a:r>
              <a:rPr lang="en"/>
              <a:t>​,     </a:t>
            </a:r>
            <a:endParaRPr/>
          </a:p>
          <a:p>
            <a:pPr marL="1371600" lvl="0" indent="0" algn="l" rtl="0">
              <a:lnSpc>
                <a:spcPct val="100000"/>
              </a:lnSpc>
              <a:spcBef>
                <a:spcPts val="0"/>
              </a:spcBef>
              <a:spcAft>
                <a:spcPts val="0"/>
              </a:spcAft>
              <a:buNone/>
            </a:pPr>
            <a:r>
              <a:rPr lang="en" i="1"/>
              <a:t>hash: M → F</a:t>
            </a:r>
            <a:r>
              <a:rPr lang="en" i="1" baseline="-25000"/>
              <a:t>q</a:t>
            </a:r>
            <a:r>
              <a:rPr lang="en" i="1"/>
              <a:t>​</a:t>
            </a:r>
            <a:r>
              <a:rPr lang="en"/>
              <a:t> is a cryptographic hash function,</a:t>
            </a:r>
            <a:endParaRPr/>
          </a:p>
          <a:p>
            <a:pPr marL="1371600" lvl="0" indent="0" algn="l" rtl="0">
              <a:lnSpc>
                <a:spcPct val="100000"/>
              </a:lnSpc>
              <a:spcBef>
                <a:spcPts val="0"/>
              </a:spcBef>
              <a:spcAft>
                <a:spcPts val="0"/>
              </a:spcAft>
              <a:buNone/>
            </a:pPr>
            <a:r>
              <a:rPr lang="en" i="1"/>
              <a:t>F: F</a:t>
            </a:r>
            <a:r>
              <a:rPr lang="en" i="1" baseline="-25000"/>
              <a:t>q</a:t>
            </a:r>
            <a:r>
              <a:rPr lang="en" i="1"/>
              <a:t>​ → G </a:t>
            </a:r>
            <a:endParaRPr i="1"/>
          </a:p>
          <a:p>
            <a:pPr marL="1371600" lvl="0" indent="0" algn="l" rtl="0">
              <a:lnSpc>
                <a:spcPct val="100000"/>
              </a:lnSpc>
              <a:spcBef>
                <a:spcPts val="0"/>
              </a:spcBef>
              <a:spcAft>
                <a:spcPts val="0"/>
              </a:spcAft>
              <a:buNone/>
            </a:pPr>
            <a:endParaRPr i="1"/>
          </a:p>
          <a:p>
            <a:pPr marL="0" lvl="0" indent="0" algn="l" rtl="0">
              <a:lnSpc>
                <a:spcPct val="100000"/>
              </a:lnSpc>
              <a:spcBef>
                <a:spcPts val="0"/>
              </a:spcBef>
              <a:spcAft>
                <a:spcPts val="0"/>
              </a:spcAft>
              <a:buNone/>
            </a:pPr>
            <a:r>
              <a:rPr lang="en" b="1"/>
              <a:t>Procedure:</a:t>
            </a:r>
            <a:r>
              <a:rPr lang="en"/>
              <a:t> Increment and check, to map m to curve</a:t>
            </a:r>
            <a:endParaRPr/>
          </a:p>
          <a:p>
            <a:pPr marL="457200" lvl="0" indent="-342900" algn="l" rtl="0">
              <a:lnSpc>
                <a:spcPct val="100000"/>
              </a:lnSpc>
              <a:spcBef>
                <a:spcPts val="0"/>
              </a:spcBef>
              <a:spcAft>
                <a:spcPts val="0"/>
              </a:spcAft>
              <a:buSzPts val="1800"/>
              <a:buChar char="●"/>
            </a:pPr>
            <a:r>
              <a:rPr lang="en"/>
              <a:t>Let m’ = hash(m), (x, y) = F(m’),</a:t>
            </a:r>
            <a:endParaRPr/>
          </a:p>
          <a:p>
            <a:pPr marL="457200" lvl="0" indent="-342900" algn="l" rtl="0">
              <a:lnSpc>
                <a:spcPct val="100000"/>
              </a:lnSpc>
              <a:spcBef>
                <a:spcPts val="0"/>
              </a:spcBef>
              <a:spcAft>
                <a:spcPts val="0"/>
              </a:spcAft>
              <a:buSzPts val="1800"/>
              <a:buChar char="●"/>
            </a:pPr>
            <a:r>
              <a:rPr lang="en"/>
              <a:t>t = 0</a:t>
            </a:r>
            <a:endParaRPr/>
          </a:p>
          <a:p>
            <a:pPr marL="457200" lvl="0" indent="-342900" algn="l" rtl="0">
              <a:lnSpc>
                <a:spcPct val="100000"/>
              </a:lnSpc>
              <a:spcBef>
                <a:spcPts val="0"/>
              </a:spcBef>
              <a:spcAft>
                <a:spcPts val="0"/>
              </a:spcAft>
              <a:buSzPts val="1800"/>
              <a:buChar char="●"/>
            </a:pPr>
            <a:r>
              <a:rPr lang="en"/>
              <a:t>While (x, y) = ⊥,</a:t>
            </a:r>
            <a:endParaRPr/>
          </a:p>
          <a:p>
            <a:pPr marL="914400" lvl="1" indent="-342900" algn="l" rtl="0">
              <a:lnSpc>
                <a:spcPct val="100000"/>
              </a:lnSpc>
              <a:spcBef>
                <a:spcPts val="0"/>
              </a:spcBef>
              <a:spcAft>
                <a:spcPts val="0"/>
              </a:spcAft>
              <a:buSzPts val="1800"/>
              <a:buChar char="○"/>
            </a:pPr>
            <a:r>
              <a:rPr lang="en" sz="1800"/>
              <a:t>m’ = hash(m + t), (x, y) = F(m’)</a:t>
            </a:r>
            <a:endParaRPr sz="1800"/>
          </a:p>
          <a:p>
            <a:pPr marL="914400" lvl="1" indent="-342900" algn="l" rtl="0">
              <a:lnSpc>
                <a:spcPct val="100000"/>
              </a:lnSpc>
              <a:spcBef>
                <a:spcPts val="0"/>
              </a:spcBef>
              <a:spcAft>
                <a:spcPts val="0"/>
              </a:spcAft>
              <a:buSzPts val="1800"/>
              <a:buChar char="○"/>
            </a:pPr>
            <a:r>
              <a:rPr lang="en" sz="1800"/>
              <a:t>t = t + 1</a:t>
            </a:r>
            <a:endParaRPr sz="1800"/>
          </a:p>
          <a:p>
            <a:pPr marL="457200" lvl="0" indent="-342900" algn="l" rtl="0">
              <a:lnSpc>
                <a:spcPct val="100000"/>
              </a:lnSpc>
              <a:spcBef>
                <a:spcPts val="0"/>
              </a:spcBef>
              <a:spcAft>
                <a:spcPts val="0"/>
              </a:spcAft>
              <a:buSzPts val="1800"/>
              <a:buChar char="●"/>
            </a:pPr>
            <a:r>
              <a:rPr lang="en"/>
              <a:t>Return (x, 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Hash-to-Group Example Construction</a:t>
            </a:r>
            <a:endParaRPr/>
          </a:p>
        </p:txBody>
      </p:sp>
      <p:sp>
        <p:nvSpPr>
          <p:cNvPr id="125" name="Google Shape;125;p24"/>
          <p:cNvSpPr txBox="1">
            <a:spLocks noGrp="1"/>
          </p:cNvSpPr>
          <p:nvPr>
            <p:ph type="body" idx="1"/>
          </p:nvPr>
        </p:nvSpPr>
        <p:spPr>
          <a:xfrm>
            <a:off x="311700" y="1152475"/>
            <a:ext cx="8520600" cy="3728100"/>
          </a:xfrm>
          <a:prstGeom prst="rect">
            <a:avLst/>
          </a:prstGeom>
        </p:spPr>
        <p:txBody>
          <a:bodyPr spcFirstLastPara="1" wrap="square" lIns="91425" tIns="91425" rIns="91425" bIns="91425" anchor="t" anchorCtr="0">
            <a:normAutofit lnSpcReduction="10000"/>
          </a:bodyPr>
          <a:lstStyle/>
          <a:p>
            <a:pPr marL="0" lvl="0" indent="0" algn="l" rtl="0">
              <a:lnSpc>
                <a:spcPct val="100000"/>
              </a:lnSpc>
              <a:spcBef>
                <a:spcPts val="0"/>
              </a:spcBef>
              <a:spcAft>
                <a:spcPts val="0"/>
              </a:spcAft>
              <a:buNone/>
            </a:pPr>
            <a:r>
              <a:rPr lang="en" b="1" dirty="0"/>
              <a:t>Parameters: </a:t>
            </a:r>
            <a:r>
              <a:rPr lang="en" dirty="0"/>
              <a:t>Group G is an elliptic curve group </a:t>
            </a:r>
            <a:r>
              <a:rPr lang="en" i="1" dirty="0"/>
              <a:t>E(</a:t>
            </a:r>
            <a:r>
              <a:rPr lang="en" i="1" dirty="0" err="1"/>
              <a:t>F</a:t>
            </a:r>
            <a:r>
              <a:rPr lang="en" i="1" baseline="-25000" dirty="0" err="1"/>
              <a:t>q</a:t>
            </a:r>
            <a:r>
              <a:rPr lang="en" i="1" dirty="0"/>
              <a:t>): y</a:t>
            </a:r>
            <a:r>
              <a:rPr lang="en" i="1" baseline="30000" dirty="0"/>
              <a:t>2</a:t>
            </a:r>
            <a:r>
              <a:rPr lang="en" i="1" dirty="0"/>
              <a:t> = x</a:t>
            </a:r>
            <a:r>
              <a:rPr lang="en" i="1" baseline="30000" dirty="0"/>
              <a:t>3</a:t>
            </a:r>
            <a:r>
              <a:rPr lang="en" i="1" dirty="0"/>
              <a:t> + ax + b</a:t>
            </a:r>
            <a:r>
              <a:rPr lang="en" dirty="0"/>
              <a:t> with </a:t>
            </a:r>
            <a:r>
              <a:rPr lang="en" i="1" dirty="0"/>
              <a:t>p</a:t>
            </a:r>
            <a:r>
              <a:rPr lang="en" dirty="0"/>
              <a:t> points </a:t>
            </a:r>
            <a:endParaRPr dirty="0"/>
          </a:p>
          <a:p>
            <a:pPr marL="914400" lvl="0" indent="0" algn="l" rtl="0">
              <a:lnSpc>
                <a:spcPct val="100000"/>
              </a:lnSpc>
              <a:spcBef>
                <a:spcPts val="0"/>
              </a:spcBef>
              <a:spcAft>
                <a:spcPts val="0"/>
              </a:spcAft>
              <a:buNone/>
            </a:pPr>
            <a:r>
              <a:rPr lang="en" dirty="0"/>
              <a:t>       Message space </a:t>
            </a:r>
            <a:r>
              <a:rPr lang="en" i="1" dirty="0"/>
              <a:t>M ⊆ </a:t>
            </a:r>
            <a:r>
              <a:rPr lang="en" i="1" dirty="0" err="1"/>
              <a:t>F</a:t>
            </a:r>
            <a:r>
              <a:rPr lang="en" i="1" baseline="-25000" dirty="0" err="1"/>
              <a:t>q</a:t>
            </a:r>
            <a:r>
              <a:rPr lang="en" dirty="0"/>
              <a:t>​    </a:t>
            </a:r>
            <a:endParaRPr dirty="0"/>
          </a:p>
          <a:p>
            <a:pPr marL="0" lvl="0" indent="0" algn="l" rtl="0">
              <a:lnSpc>
                <a:spcPct val="100000"/>
              </a:lnSpc>
              <a:spcBef>
                <a:spcPts val="0"/>
              </a:spcBef>
              <a:spcAft>
                <a:spcPts val="0"/>
              </a:spcAft>
              <a:buNone/>
            </a:pPr>
            <a:r>
              <a:rPr lang="en" i="1" dirty="0"/>
              <a:t>                       hash: M → </a:t>
            </a:r>
            <a:r>
              <a:rPr lang="en" i="1" dirty="0" err="1"/>
              <a:t>F</a:t>
            </a:r>
            <a:r>
              <a:rPr lang="en" i="1" baseline="-25000" dirty="0" err="1"/>
              <a:t>q</a:t>
            </a:r>
            <a:r>
              <a:rPr lang="en" i="1" dirty="0"/>
              <a:t>​</a:t>
            </a:r>
            <a:r>
              <a:rPr lang="en" dirty="0"/>
              <a:t> is a cryptographic hash function</a:t>
            </a:r>
            <a:endParaRPr dirty="0"/>
          </a:p>
          <a:p>
            <a:pPr marL="0" lvl="0" indent="457200" algn="l" rtl="0">
              <a:lnSpc>
                <a:spcPct val="100000"/>
              </a:lnSpc>
              <a:spcBef>
                <a:spcPts val="0"/>
              </a:spcBef>
              <a:spcAft>
                <a:spcPts val="0"/>
              </a:spcAft>
              <a:buNone/>
            </a:pPr>
            <a:r>
              <a:rPr lang="en" i="1" dirty="0"/>
              <a:t>               </a:t>
            </a:r>
            <a:r>
              <a:rPr lang="en" i="1" dirty="0" err="1"/>
              <a:t>MapToGroup</a:t>
            </a:r>
            <a:r>
              <a:rPr lang="en" i="1" dirty="0"/>
              <a:t>: </a:t>
            </a:r>
            <a:r>
              <a:rPr lang="en" i="1" dirty="0" err="1"/>
              <a:t>F</a:t>
            </a:r>
            <a:r>
              <a:rPr lang="en" i="1" baseline="-25000" dirty="0" err="1"/>
              <a:t>q</a:t>
            </a:r>
            <a:r>
              <a:rPr lang="en" i="1" dirty="0"/>
              <a:t>​ → G </a:t>
            </a:r>
            <a:endParaRPr i="1" dirty="0"/>
          </a:p>
          <a:p>
            <a:pPr marL="1371600" lvl="0" indent="0" algn="l" rtl="0">
              <a:lnSpc>
                <a:spcPct val="100000"/>
              </a:lnSpc>
              <a:spcBef>
                <a:spcPts val="0"/>
              </a:spcBef>
              <a:spcAft>
                <a:spcPts val="0"/>
              </a:spcAft>
              <a:buNone/>
            </a:pPr>
            <a:endParaRPr i="1" dirty="0"/>
          </a:p>
          <a:p>
            <a:pPr marL="0" lvl="0" indent="0" algn="l" rtl="0">
              <a:lnSpc>
                <a:spcPct val="100000"/>
              </a:lnSpc>
              <a:spcBef>
                <a:spcPts val="0"/>
              </a:spcBef>
              <a:spcAft>
                <a:spcPts val="0"/>
              </a:spcAft>
              <a:buNone/>
            </a:pPr>
            <a:r>
              <a:rPr lang="en" b="1" dirty="0"/>
              <a:t>Classical construction </a:t>
            </a:r>
            <a:endParaRPr b="1" dirty="0"/>
          </a:p>
          <a:p>
            <a:pPr marL="0" lvl="0" indent="457200" algn="l" rtl="0">
              <a:lnSpc>
                <a:spcPct val="100000"/>
              </a:lnSpc>
              <a:spcBef>
                <a:spcPts val="0"/>
              </a:spcBef>
              <a:spcAft>
                <a:spcPts val="0"/>
              </a:spcAft>
              <a:buNone/>
            </a:pPr>
            <a:r>
              <a:rPr lang="en" b="1" dirty="0"/>
              <a:t>Procedure:</a:t>
            </a:r>
            <a:r>
              <a:rPr lang="en" dirty="0"/>
              <a:t> Let </a:t>
            </a:r>
            <a:r>
              <a:rPr lang="en" i="1" dirty="0"/>
              <a:t>h = hash(m), (x, y) = </a:t>
            </a:r>
            <a:r>
              <a:rPr lang="en" i="1" dirty="0" err="1"/>
              <a:t>MapToGroup</a:t>
            </a:r>
            <a:r>
              <a:rPr lang="en" i="1" dirty="0"/>
              <a:t>(h).</a:t>
            </a:r>
            <a:endParaRPr i="1" dirty="0"/>
          </a:p>
          <a:p>
            <a:pPr marL="0" lvl="0" indent="457200" algn="l" rtl="0">
              <a:lnSpc>
                <a:spcPct val="100000"/>
              </a:lnSpc>
              <a:spcBef>
                <a:spcPts val="0"/>
              </a:spcBef>
              <a:spcAft>
                <a:spcPts val="0"/>
              </a:spcAft>
              <a:buNone/>
            </a:pPr>
            <a:r>
              <a:rPr lang="en" i="1" dirty="0" err="1"/>
              <a:t>HashToGroup</a:t>
            </a:r>
            <a:r>
              <a:rPr lang="en" dirty="0"/>
              <a:t> is just a hash function + </a:t>
            </a:r>
            <a:r>
              <a:rPr lang="en" i="1" dirty="0" err="1"/>
              <a:t>MapToGroup</a:t>
            </a:r>
            <a:endParaRPr i="1" dirty="0"/>
          </a:p>
          <a:p>
            <a:pPr marL="0" lvl="0" indent="0" algn="l" rtl="0">
              <a:lnSpc>
                <a:spcPct val="100000"/>
              </a:lnSpc>
              <a:spcBef>
                <a:spcPts val="0"/>
              </a:spcBef>
              <a:spcAft>
                <a:spcPts val="0"/>
              </a:spcAft>
              <a:buNone/>
            </a:pPr>
            <a:endParaRPr b="1" dirty="0"/>
          </a:p>
          <a:p>
            <a:pPr marL="0" lvl="0" indent="0" algn="l" rtl="0">
              <a:lnSpc>
                <a:spcPct val="100000"/>
              </a:lnSpc>
              <a:spcBef>
                <a:spcPts val="0"/>
              </a:spcBef>
              <a:spcAft>
                <a:spcPts val="0"/>
              </a:spcAft>
              <a:buNone/>
            </a:pPr>
            <a:r>
              <a:rPr lang="en" b="1" i="1" u="sng" dirty="0"/>
              <a:t>Constraints/SNARK/Proof system:</a:t>
            </a:r>
            <a:endParaRPr b="1" i="1" u="sng" dirty="0"/>
          </a:p>
          <a:p>
            <a:pPr marL="0" lvl="0" indent="0" algn="l" rtl="0">
              <a:lnSpc>
                <a:spcPct val="100000"/>
              </a:lnSpc>
              <a:spcBef>
                <a:spcPts val="0"/>
              </a:spcBef>
              <a:spcAft>
                <a:spcPts val="0"/>
              </a:spcAft>
              <a:buNone/>
            </a:pPr>
            <a:r>
              <a:rPr lang="en" b="1" dirty="0"/>
              <a:t>Input/witness: </a:t>
            </a:r>
            <a:r>
              <a:rPr lang="en" i="1" dirty="0"/>
              <a:t>m, x, y</a:t>
            </a:r>
            <a:endParaRPr i="1" dirty="0"/>
          </a:p>
          <a:p>
            <a:pPr marL="0" lvl="0" indent="0" algn="l" rtl="0">
              <a:lnSpc>
                <a:spcPct val="100000"/>
              </a:lnSpc>
              <a:spcBef>
                <a:spcPts val="0"/>
              </a:spcBef>
              <a:spcAft>
                <a:spcPts val="0"/>
              </a:spcAft>
              <a:buNone/>
            </a:pPr>
            <a:r>
              <a:rPr lang="en" b="1" dirty="0"/>
              <a:t>Verification: </a:t>
            </a:r>
            <a:r>
              <a:rPr lang="en" i="1" dirty="0"/>
              <a:t>h = hash(m), (x, y) = </a:t>
            </a:r>
            <a:r>
              <a:rPr lang="en" i="1" dirty="0" err="1"/>
              <a:t>MapToGroup</a:t>
            </a:r>
            <a:r>
              <a:rPr lang="en" i="1" dirty="0"/>
              <a:t>(h)</a:t>
            </a:r>
            <a:endParaRPr b="1" i="1" dirty="0"/>
          </a:p>
          <a:p>
            <a:pPr marL="0" lvl="0" indent="0" algn="l" rtl="0">
              <a:lnSpc>
                <a:spcPct val="100000"/>
              </a:lnSpc>
              <a:spcBef>
                <a:spcPts val="0"/>
              </a:spcBef>
              <a:spcAft>
                <a:spcPts val="0"/>
              </a:spcAft>
              <a:buNone/>
            </a:pPr>
            <a:endParaRPr lang="en" dirty="0"/>
          </a:p>
          <a:p>
            <a:pPr marL="0" lvl="0" indent="0" algn="l" rtl="0">
              <a:lnSpc>
                <a:spcPct val="100000"/>
              </a:lnSpc>
              <a:spcBef>
                <a:spcPts val="0"/>
              </a:spcBef>
              <a:spcAft>
                <a:spcPts val="0"/>
              </a:spcAft>
              <a:buNone/>
            </a:pPr>
            <a:r>
              <a:rPr lang="en" b="1" u="sng" dirty="0"/>
              <a:t>Issue:</a:t>
            </a:r>
            <a:r>
              <a:rPr lang="en" b="1" dirty="0"/>
              <a:t> </a:t>
            </a:r>
            <a:r>
              <a:rPr lang="en" dirty="0"/>
              <a:t>You have to compute </a:t>
            </a:r>
            <a:r>
              <a:rPr lang="en" i="1" dirty="0"/>
              <a:t>hash(m)</a:t>
            </a:r>
            <a:r>
              <a:rPr lang="en" dirty="0"/>
              <a:t> as part of the proof.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Hash-to-Group is a Problem in Circuits</a:t>
            </a:r>
            <a:endParaRPr/>
          </a:p>
        </p:txBody>
      </p:sp>
      <p:graphicFrame>
        <p:nvGraphicFramePr>
          <p:cNvPr id="131" name="Google Shape;131;p25"/>
          <p:cNvGraphicFramePr/>
          <p:nvPr/>
        </p:nvGraphicFramePr>
        <p:xfrm>
          <a:off x="952500" y="1809750"/>
          <a:ext cx="7239000" cy="1584840"/>
        </p:xfrm>
        <a:graphic>
          <a:graphicData uri="http://schemas.openxmlformats.org/drawingml/2006/table">
            <a:tbl>
              <a:tblPr>
                <a:noFill/>
                <a:tableStyleId>{74CC306E-BBAB-4992-8190-F750539B1319}</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b="1"/>
                        <a:t>Hash Function</a:t>
                      </a:r>
                      <a:endParaRPr b="1"/>
                    </a:p>
                  </a:txBody>
                  <a:tcPr marL="91425" marR="91425" marT="91425" marB="91425"/>
                </a:tc>
                <a:tc>
                  <a:txBody>
                    <a:bodyPr/>
                    <a:lstStyle/>
                    <a:p>
                      <a:pPr marL="0" lvl="0" indent="0" algn="l" rtl="0">
                        <a:spcBef>
                          <a:spcPts val="0"/>
                        </a:spcBef>
                        <a:spcAft>
                          <a:spcPts val="0"/>
                        </a:spcAft>
                        <a:buNone/>
                      </a:pPr>
                      <a:r>
                        <a:rPr lang="en" b="1"/>
                        <a:t>Constraints: 1 iter.</a:t>
                      </a:r>
                      <a:endParaRPr b="1"/>
                    </a:p>
                  </a:txBody>
                  <a:tcPr marL="91425" marR="91425" marT="91425" marB="91425"/>
                </a:tc>
                <a:tc>
                  <a:txBody>
                    <a:bodyPr/>
                    <a:lstStyle/>
                    <a:p>
                      <a:pPr marL="0" lvl="0" indent="0" algn="l" rtl="0">
                        <a:spcBef>
                          <a:spcPts val="0"/>
                        </a:spcBef>
                        <a:spcAft>
                          <a:spcPts val="0"/>
                        </a:spcAft>
                        <a:buNone/>
                      </a:pPr>
                      <a:r>
                        <a:rPr lang="en" b="1"/>
                        <a:t>Constraints: 2</a:t>
                      </a:r>
                      <a:r>
                        <a:rPr lang="en" b="1" baseline="30000"/>
                        <a:t>10</a:t>
                      </a:r>
                      <a:r>
                        <a:rPr lang="en" b="1"/>
                        <a:t> iters.</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SHA-256</a:t>
                      </a:r>
                      <a:endParaRPr/>
                    </a:p>
                  </a:txBody>
                  <a:tcPr marL="91425" marR="91425" marT="91425" marB="91425"/>
                </a:tc>
                <a:tc>
                  <a:txBody>
                    <a:bodyPr/>
                    <a:lstStyle/>
                    <a:p>
                      <a:pPr marL="0" lvl="0" indent="0" algn="l" rtl="0">
                        <a:spcBef>
                          <a:spcPts val="0"/>
                        </a:spcBef>
                        <a:spcAft>
                          <a:spcPts val="0"/>
                        </a:spcAft>
                        <a:buNone/>
                      </a:pPr>
                      <a:r>
                        <a:rPr lang="en"/>
                        <a:t>7,095</a:t>
                      </a:r>
                      <a:endParaRPr/>
                    </a:p>
                  </a:txBody>
                  <a:tcPr marL="91425" marR="91425" marT="91425" marB="91425"/>
                </a:tc>
                <a:tc>
                  <a:txBody>
                    <a:bodyPr/>
                    <a:lstStyle/>
                    <a:p>
                      <a:pPr marL="0" lvl="0" indent="0" algn="l" rtl="0">
                        <a:spcBef>
                          <a:spcPts val="0"/>
                        </a:spcBef>
                        <a:spcAft>
                          <a:spcPts val="0"/>
                        </a:spcAft>
                        <a:buNone/>
                      </a:pPr>
                      <a:r>
                        <a:rPr lang="en"/>
                        <a:t>4,196,023</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Poseidon</a:t>
                      </a:r>
                      <a:endParaRPr/>
                    </a:p>
                  </a:txBody>
                  <a:tcPr marL="91425" marR="91425" marT="91425" marB="91425"/>
                </a:tc>
                <a:tc>
                  <a:txBody>
                    <a:bodyPr/>
                    <a:lstStyle/>
                    <a:p>
                      <a:pPr marL="0" lvl="0" indent="0" algn="l" rtl="0">
                        <a:spcBef>
                          <a:spcPts val="0"/>
                        </a:spcBef>
                        <a:spcAft>
                          <a:spcPts val="0"/>
                        </a:spcAft>
                        <a:buNone/>
                      </a:pPr>
                      <a:r>
                        <a:rPr lang="en"/>
                        <a:t>948</a:t>
                      </a:r>
                      <a:endParaRPr/>
                    </a:p>
                  </a:txBody>
                  <a:tcPr marL="91425" marR="91425" marT="91425" marB="91425"/>
                </a:tc>
                <a:tc>
                  <a:txBody>
                    <a:bodyPr/>
                    <a:lstStyle/>
                    <a:p>
                      <a:pPr marL="0" lvl="0" indent="0" algn="l" rtl="0">
                        <a:spcBef>
                          <a:spcPts val="0"/>
                        </a:spcBef>
                        <a:spcAft>
                          <a:spcPts val="0"/>
                        </a:spcAft>
                        <a:buNone/>
                      </a:pPr>
                      <a:r>
                        <a:rPr lang="en"/>
                        <a:t>954,384</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MiMC</a:t>
                      </a:r>
                      <a:endParaRPr/>
                    </a:p>
                  </a:txBody>
                  <a:tcPr marL="91425" marR="91425" marT="91425" marB="91425"/>
                </a:tc>
                <a:tc>
                  <a:txBody>
                    <a:bodyPr/>
                    <a:lstStyle/>
                    <a:p>
                      <a:pPr marL="0" lvl="0" indent="0" algn="l" rtl="0">
                        <a:spcBef>
                          <a:spcPts val="0"/>
                        </a:spcBef>
                        <a:spcAft>
                          <a:spcPts val="0"/>
                        </a:spcAft>
                        <a:buNone/>
                      </a:pPr>
                      <a:r>
                        <a:rPr lang="en"/>
                        <a:t>351</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a:t>343,056</a:t>
                      </a:r>
                      <a:endParaRPr/>
                    </a:p>
                  </a:txBody>
                  <a:tcPr marL="91425" marR="91425" marT="91425" marB="91425"/>
                </a:tc>
                <a:extLst>
                  <a:ext uri="{0D108BD9-81ED-4DB2-BD59-A6C34878D82A}">
                    <a16:rowId xmlns:a16="http://schemas.microsoft.com/office/drawing/2014/main" val="10003"/>
                  </a:ext>
                </a:extLst>
              </a:tr>
            </a:tbl>
          </a:graphicData>
        </a:graphic>
      </p:graphicFrame>
      <p:sp>
        <p:nvSpPr>
          <p:cNvPr id="132" name="Google Shape;132;p25"/>
          <p:cNvSpPr txBox="1"/>
          <p:nvPr/>
        </p:nvSpPr>
        <p:spPr>
          <a:xfrm>
            <a:off x="249550" y="3574542"/>
            <a:ext cx="8639100" cy="14052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0"/>
              </a:spcAft>
              <a:buNone/>
            </a:pPr>
            <a:r>
              <a:rPr lang="en" sz="2100" u="sng" dirty="0">
                <a:solidFill>
                  <a:schemeClr val="dk1"/>
                </a:solidFill>
              </a:rPr>
              <a:t>CHALLENGE: </a:t>
            </a:r>
            <a:endParaRPr sz="2100" u="sng" dirty="0">
              <a:solidFill>
                <a:schemeClr val="dk1"/>
              </a:solidFill>
            </a:endParaRPr>
          </a:p>
          <a:p>
            <a:pPr marL="914400" lvl="0" indent="0" algn="l" rtl="0">
              <a:lnSpc>
                <a:spcPct val="115000"/>
              </a:lnSpc>
              <a:spcBef>
                <a:spcPts val="1200"/>
              </a:spcBef>
              <a:spcAft>
                <a:spcPts val="1200"/>
              </a:spcAft>
              <a:buNone/>
            </a:pPr>
            <a:r>
              <a:rPr lang="en" sz="2100" i="1" dirty="0">
                <a:solidFill>
                  <a:schemeClr val="dk1"/>
                </a:solidFill>
              </a:rPr>
              <a:t>Can we remove the use of cryptographic hash, while still building a multiset hash function?</a:t>
            </a:r>
            <a:endParaRPr sz="2100" i="1" dirty="0">
              <a:solidFill>
                <a:schemeClr val="dk1"/>
              </a:solidFill>
            </a:endParaRPr>
          </a:p>
        </p:txBody>
      </p:sp>
      <p:sp>
        <p:nvSpPr>
          <p:cNvPr id="133" name="Google Shape;133;p25"/>
          <p:cNvSpPr txBox="1"/>
          <p:nvPr/>
        </p:nvSpPr>
        <p:spPr>
          <a:xfrm>
            <a:off x="763900" y="1137275"/>
            <a:ext cx="6438900" cy="42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Hash functions have high circuit constraint cost!</a:t>
            </a:r>
            <a:endParaRPr sz="1800" dirty="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do we need the hash function? (Part I) </a:t>
            </a:r>
            <a:endParaRPr/>
          </a:p>
        </p:txBody>
      </p:sp>
      <p:sp>
        <p:nvSpPr>
          <p:cNvPr id="139" name="Google Shape;139;p26"/>
          <p:cNvSpPr txBox="1">
            <a:spLocks noGrp="1"/>
          </p:cNvSpPr>
          <p:nvPr>
            <p:ph type="body" idx="1"/>
          </p:nvPr>
        </p:nvSpPr>
        <p:spPr>
          <a:xfrm>
            <a:off x="311700" y="1152475"/>
            <a:ext cx="8520600" cy="3728100"/>
          </a:xfrm>
          <a:prstGeom prst="rect">
            <a:avLst/>
          </a:prstGeom>
        </p:spPr>
        <p:txBody>
          <a:bodyPr spcFirstLastPara="1" wrap="square" lIns="91425" tIns="91425" rIns="91425" bIns="91425" anchor="t" anchorCtr="0">
            <a:normAutofit/>
          </a:bodyPr>
          <a:lstStyle/>
          <a:p>
            <a:pPr marL="457200" lvl="0" indent="-336550" algn="l" rtl="0">
              <a:lnSpc>
                <a:spcPct val="100000"/>
              </a:lnSpc>
              <a:spcBef>
                <a:spcPts val="0"/>
              </a:spcBef>
              <a:spcAft>
                <a:spcPts val="0"/>
              </a:spcAft>
              <a:buSzPts val="1700"/>
              <a:buChar char="●"/>
            </a:pPr>
            <a:r>
              <a:rPr lang="en" dirty="0"/>
              <a:t>In an elliptic curve group of order </a:t>
            </a:r>
            <a:r>
              <a:rPr lang="en" i="1" dirty="0"/>
              <a:t>p</a:t>
            </a:r>
            <a:r>
              <a:rPr lang="en" dirty="0"/>
              <a:t>, each group element can be identified by its unique discrete log in </a:t>
            </a:r>
            <a:r>
              <a:rPr lang="en" i="1" dirty="0"/>
              <a:t>F</a:t>
            </a:r>
            <a:r>
              <a:rPr lang="en" i="1" baseline="-25000" dirty="0"/>
              <a:t>p</a:t>
            </a:r>
            <a:r>
              <a:rPr lang="en" dirty="0"/>
              <a:t>.</a:t>
            </a:r>
            <a:endParaRPr dirty="0"/>
          </a:p>
          <a:p>
            <a:pPr marL="457200" lvl="0" indent="-336550" algn="l" rtl="0">
              <a:lnSpc>
                <a:spcPct val="100000"/>
              </a:lnSpc>
              <a:spcBef>
                <a:spcPts val="0"/>
              </a:spcBef>
              <a:spcAft>
                <a:spcPts val="0"/>
              </a:spcAft>
              <a:buSzPts val="1700"/>
              <a:buChar char="●"/>
            </a:pPr>
            <a:r>
              <a:rPr lang="en" dirty="0"/>
              <a:t>To ensure collision-resistance of the multiset hash, the only thing we need is a random oracle from message space </a:t>
            </a:r>
            <a:r>
              <a:rPr lang="en" i="1" dirty="0"/>
              <a:t>M</a:t>
            </a:r>
            <a:r>
              <a:rPr lang="en" dirty="0"/>
              <a:t> to the discrete logs in </a:t>
            </a:r>
            <a:r>
              <a:rPr lang="en" i="1" dirty="0"/>
              <a:t>F</a:t>
            </a:r>
            <a:r>
              <a:rPr lang="en" i="1" baseline="-25000" dirty="0"/>
              <a:t>p</a:t>
            </a:r>
            <a:r>
              <a:rPr lang="en" dirty="0"/>
              <a:t>. </a:t>
            </a:r>
            <a:endParaRPr dirty="0"/>
          </a:p>
        </p:txBody>
      </p:sp>
      <p:sp>
        <p:nvSpPr>
          <p:cNvPr id="140" name="Google Shape;140;p26"/>
          <p:cNvSpPr/>
          <p:nvPr/>
        </p:nvSpPr>
        <p:spPr>
          <a:xfrm>
            <a:off x="956125" y="2526375"/>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41" name="Google Shape;141;p26"/>
          <p:cNvSpPr txBox="1"/>
          <p:nvPr/>
        </p:nvSpPr>
        <p:spPr>
          <a:xfrm>
            <a:off x="1109650" y="3189400"/>
            <a:ext cx="1591200" cy="50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Proxima Nova"/>
                <a:ea typeface="Proxima Nova"/>
                <a:cs typeface="Proxima Nova"/>
                <a:sym typeface="Proxima Nova"/>
              </a:rPr>
              <a:t>Message </a:t>
            </a:r>
            <a:r>
              <a:rPr lang="en" sz="1800" i="1" dirty="0">
                <a:solidFill>
                  <a:schemeClr val="dk2"/>
                </a:solidFill>
                <a:latin typeface="Proxima Nova"/>
                <a:ea typeface="Proxima Nova"/>
                <a:cs typeface="Proxima Nova"/>
                <a:sym typeface="Proxima Nova"/>
              </a:rPr>
              <a:t>M</a:t>
            </a:r>
            <a:endParaRPr sz="1800" i="1" dirty="0">
              <a:solidFill>
                <a:schemeClr val="dk2"/>
              </a:solidFill>
              <a:latin typeface="Proxima Nova"/>
              <a:ea typeface="Proxima Nova"/>
              <a:cs typeface="Proxima Nova"/>
              <a:sym typeface="Proxima Nova"/>
            </a:endParaRPr>
          </a:p>
        </p:txBody>
      </p:sp>
      <p:sp>
        <p:nvSpPr>
          <p:cNvPr id="142" name="Google Shape;142;p26"/>
          <p:cNvSpPr/>
          <p:nvPr/>
        </p:nvSpPr>
        <p:spPr>
          <a:xfrm>
            <a:off x="2874861" y="3021900"/>
            <a:ext cx="2170500" cy="1001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43" name="Google Shape;143;p26"/>
          <p:cNvSpPr/>
          <p:nvPr/>
        </p:nvSpPr>
        <p:spPr>
          <a:xfrm>
            <a:off x="5072575" y="25472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mc:AlternateContent xmlns:mc="http://schemas.openxmlformats.org/markup-compatibility/2006" xmlns:a14="http://schemas.microsoft.com/office/drawing/2010/main">
        <mc:Choice Requires="a14">
          <p:sp>
            <p:nvSpPr>
              <p:cNvPr id="144" name="Google Shape;144;p26"/>
              <p:cNvSpPr txBox="1"/>
              <p:nvPr/>
            </p:nvSpPr>
            <p:spPr>
              <a:xfrm>
                <a:off x="5226100" y="3056800"/>
                <a:ext cx="1591200" cy="663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Proxima Nova"/>
                    <a:ea typeface="Proxima Nova"/>
                    <a:cs typeface="Proxima Nova"/>
                    <a:sym typeface="Proxima Nova"/>
                  </a:rPr>
                  <a:t>Discrete logs </a:t>
                </a:r>
                <a14:m>
                  <m:oMath xmlns:m="http://schemas.openxmlformats.org/officeDocument/2006/math">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𝐹</m:t>
                        </m:r>
                      </m:e>
                      <m:sub>
                        <m:r>
                          <a:rPr lang="en-US" sz="1800" b="0" i="1" smtClean="0">
                            <a:solidFill>
                              <a:schemeClr val="dk2"/>
                            </a:solidFill>
                            <a:latin typeface="Cambria Math" panose="02040503050406030204" pitchFamily="18" charset="0"/>
                          </a:rPr>
                          <m:t>𝑝</m:t>
                        </m:r>
                      </m:sub>
                    </m:sSub>
                  </m:oMath>
                </a14:m>
                <a:endParaRPr sz="1800" dirty="0">
                  <a:solidFill>
                    <a:schemeClr val="dk2"/>
                  </a:solidFill>
                  <a:latin typeface="Proxima Nova"/>
                  <a:ea typeface="Proxima Nova"/>
                  <a:cs typeface="Proxima Nova"/>
                  <a:sym typeface="Proxima Nova"/>
                </a:endParaRPr>
              </a:p>
            </p:txBody>
          </p:sp>
        </mc:Choice>
        <mc:Fallback xmlns="">
          <p:sp>
            <p:nvSpPr>
              <p:cNvPr id="144" name="Google Shape;144;p26"/>
              <p:cNvSpPr txBox="1">
                <a:spLocks noRot="1" noChangeAspect="1" noMove="1" noResize="1" noEditPoints="1" noAdjustHandles="1" noChangeArrowheads="1" noChangeShapeType="1" noTextEdit="1"/>
              </p:cNvSpPr>
              <p:nvPr/>
            </p:nvSpPr>
            <p:spPr>
              <a:xfrm>
                <a:off x="5226100" y="3056800"/>
                <a:ext cx="1591200" cy="663000"/>
              </a:xfrm>
              <a:prstGeom prst="rect">
                <a:avLst/>
              </a:prstGeom>
              <a:blipFill>
                <a:blip r:embed="rId3"/>
                <a:stretch>
                  <a:fillRect r="-3968" b="-11321"/>
                </a:stretch>
              </a:blipFill>
              <a:ln>
                <a:noFill/>
              </a:ln>
            </p:spPr>
            <p:txBody>
              <a:bodyPr/>
              <a:lstStyle/>
              <a:p>
                <a:r>
                  <a:rPr lang="en-US">
                    <a:noFill/>
                  </a:rPr>
                  <a:t> </a:t>
                </a:r>
              </a:p>
            </p:txBody>
          </p:sp>
        </mc:Fallback>
      </mc:AlternateContent>
      <p:sp>
        <p:nvSpPr>
          <p:cNvPr id="145" name="Google Shape;145;p26"/>
          <p:cNvSpPr txBox="1"/>
          <p:nvPr/>
        </p:nvSpPr>
        <p:spPr>
          <a:xfrm>
            <a:off x="3377825" y="3140525"/>
            <a:ext cx="1298100" cy="32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Proxima Nova"/>
                <a:ea typeface="Proxima Nova"/>
                <a:cs typeface="Proxima Nova"/>
                <a:sym typeface="Proxima Nova"/>
              </a:rPr>
              <a:t>Random Oracle</a:t>
            </a:r>
            <a:endParaRPr sz="1800">
              <a:solidFill>
                <a:schemeClr val="dk2"/>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do we need the hash function? (Part II) </a:t>
            </a:r>
            <a:endParaRPr/>
          </a:p>
        </p:txBody>
      </p:sp>
      <mc:AlternateContent xmlns:mc="http://schemas.openxmlformats.org/markup-compatibility/2006" xmlns:a14="http://schemas.microsoft.com/office/drawing/2010/main">
        <mc:Choice Requires="a14">
          <p:sp>
            <p:nvSpPr>
              <p:cNvPr id="151" name="Google Shape;151;p27"/>
              <p:cNvSpPr txBox="1">
                <a:spLocks noGrp="1"/>
              </p:cNvSpPr>
              <p:nvPr>
                <p:ph type="body" idx="1"/>
              </p:nvPr>
            </p:nvSpPr>
            <p:spPr>
              <a:xfrm>
                <a:off x="311700" y="1152475"/>
                <a:ext cx="8520600" cy="3728100"/>
              </a:xfrm>
              <a:prstGeom prst="rect">
                <a:avLst/>
              </a:prstGeom>
            </p:spPr>
            <p:txBody>
              <a:bodyPr spcFirstLastPara="1" wrap="square" lIns="91425" tIns="91425" rIns="91425" bIns="91425" anchor="t" anchorCtr="0">
                <a:normAutofit/>
              </a:bodyPr>
              <a:lstStyle/>
              <a:p>
                <a:pPr lvl="0" indent="-336550">
                  <a:lnSpc>
                    <a:spcPct val="100000"/>
                  </a:lnSpc>
                  <a:buSzPts val="1700"/>
                </a:pPr>
                <a:r>
                  <a:rPr lang="en" sz="1700" dirty="0"/>
                  <a:t>In the classical hash-to-group construction: the hash function is a random oracle from message space </a:t>
                </a:r>
                <a:r>
                  <a:rPr lang="en" sz="1700" i="1" dirty="0"/>
                  <a:t>M</a:t>
                </a:r>
                <a:r>
                  <a:rPr lang="en" sz="1700" dirty="0"/>
                  <a:t> to </a:t>
                </a:r>
                <a14:m>
                  <m:oMath xmlns:m="http://schemas.openxmlformats.org/officeDocument/2006/math">
                    <m:sSub>
                      <m:sSubPr>
                        <m:ctrlPr>
                          <a:rPr lang="en-US" sz="1700" i="1">
                            <a:latin typeface="Cambria Math" panose="02040503050406030204" pitchFamily="18" charset="0"/>
                          </a:rPr>
                        </m:ctrlPr>
                      </m:sSubPr>
                      <m:e>
                        <m:r>
                          <a:rPr lang="en-US" sz="1700" i="1">
                            <a:latin typeface="Cambria Math" panose="02040503050406030204" pitchFamily="18" charset="0"/>
                          </a:rPr>
                          <m:t>𝐹</m:t>
                        </m:r>
                      </m:e>
                      <m:sub>
                        <m:r>
                          <a:rPr lang="en-US" sz="1700" i="1">
                            <a:latin typeface="Cambria Math" panose="02040503050406030204" pitchFamily="18" charset="0"/>
                          </a:rPr>
                          <m:t>𝑞</m:t>
                        </m:r>
                      </m:sub>
                    </m:sSub>
                  </m:oMath>
                </a14:m>
                <a:r>
                  <a:rPr lang="en" sz="1700" dirty="0"/>
                  <a:t>.</a:t>
                </a:r>
                <a:endParaRPr sz="1700" dirty="0"/>
              </a:p>
              <a:p>
                <a:pPr marL="457200" lvl="0" indent="-336550" algn="l" rtl="0">
                  <a:lnSpc>
                    <a:spcPct val="100000"/>
                  </a:lnSpc>
                  <a:spcBef>
                    <a:spcPts val="0"/>
                  </a:spcBef>
                  <a:spcAft>
                    <a:spcPts val="0"/>
                  </a:spcAft>
                  <a:buSzPts val="1700"/>
                  <a:buChar char="●"/>
                </a:pPr>
                <a:r>
                  <a:rPr lang="en" sz="1700" dirty="0"/>
                  <a:t>This is followed by an injective map-to-elliptic-curve group function.</a:t>
                </a:r>
                <a:endParaRPr sz="1700" dirty="0"/>
              </a:p>
              <a:p>
                <a:pPr marL="457200" lvl="0" indent="-336550" algn="l" rtl="0">
                  <a:lnSpc>
                    <a:spcPct val="100000"/>
                  </a:lnSpc>
                  <a:spcBef>
                    <a:spcPts val="0"/>
                  </a:spcBef>
                  <a:spcAft>
                    <a:spcPts val="0"/>
                  </a:spcAft>
                  <a:buSzPts val="1700"/>
                  <a:buChar char="●"/>
                </a:pPr>
                <a:r>
                  <a:rPr lang="en" sz="1700" dirty="0"/>
                  <a:t>Composing a random oracle with an injective function is still a random oracle.</a:t>
                </a:r>
                <a:endParaRPr sz="1700" dirty="0"/>
              </a:p>
            </p:txBody>
          </p:sp>
        </mc:Choice>
        <mc:Fallback xmlns="">
          <p:sp>
            <p:nvSpPr>
              <p:cNvPr id="151" name="Google Shape;151;p27"/>
              <p:cNvSpPr txBox="1">
                <a:spLocks noGrp="1" noRot="1" noChangeAspect="1" noMove="1" noResize="1" noEditPoints="1" noAdjustHandles="1" noChangeArrowheads="1" noChangeShapeType="1" noTextEdit="1"/>
              </p:cNvSpPr>
              <p:nvPr>
                <p:ph type="body" idx="1"/>
              </p:nvPr>
            </p:nvSpPr>
            <p:spPr>
              <a:xfrm>
                <a:off x="311700" y="1152475"/>
                <a:ext cx="8520600" cy="3728100"/>
              </a:xfrm>
              <a:prstGeom prst="rect">
                <a:avLst/>
              </a:prstGeom>
              <a:blipFill>
                <a:blip r:embed="rId3"/>
                <a:stretch>
                  <a:fillRect/>
                </a:stretch>
              </a:blipFill>
            </p:spPr>
            <p:txBody>
              <a:bodyPr/>
              <a:lstStyle/>
              <a:p>
                <a:r>
                  <a:rPr lang="en-US">
                    <a:noFill/>
                  </a:rPr>
                  <a:t> </a:t>
                </a:r>
              </a:p>
            </p:txBody>
          </p:sp>
        </mc:Fallback>
      </mc:AlternateContent>
      <p:sp>
        <p:nvSpPr>
          <p:cNvPr id="152" name="Google Shape;152;p27"/>
          <p:cNvSpPr/>
          <p:nvPr/>
        </p:nvSpPr>
        <p:spPr>
          <a:xfrm>
            <a:off x="118650" y="2414681"/>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53" name="Google Shape;153;p27"/>
          <p:cNvSpPr txBox="1"/>
          <p:nvPr/>
        </p:nvSpPr>
        <p:spPr>
          <a:xfrm>
            <a:off x="237275" y="2922865"/>
            <a:ext cx="1591200" cy="50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Proxima Nova"/>
                <a:ea typeface="Proxima Nova"/>
                <a:cs typeface="Proxima Nova"/>
                <a:sym typeface="Proxima Nova"/>
              </a:rPr>
              <a:t>Message Space</a:t>
            </a:r>
            <a:endParaRPr sz="1800" dirty="0">
              <a:solidFill>
                <a:schemeClr val="dk2"/>
              </a:solidFill>
              <a:latin typeface="Proxima Nova"/>
              <a:ea typeface="Proxima Nova"/>
              <a:cs typeface="Proxima Nova"/>
              <a:sym typeface="Proxima Nova"/>
            </a:endParaRPr>
          </a:p>
          <a:p>
            <a:pPr marL="0" lvl="0" indent="0" algn="ctr" rtl="0">
              <a:spcBef>
                <a:spcPts val="0"/>
              </a:spcBef>
              <a:spcAft>
                <a:spcPts val="0"/>
              </a:spcAft>
              <a:buNone/>
            </a:pPr>
            <a:r>
              <a:rPr lang="en" sz="1800" i="1" dirty="0">
                <a:solidFill>
                  <a:schemeClr val="dk2"/>
                </a:solidFill>
                <a:latin typeface="Proxima Nova"/>
                <a:ea typeface="Proxima Nova"/>
                <a:cs typeface="Proxima Nova"/>
                <a:sym typeface="Proxima Nova"/>
              </a:rPr>
              <a:t>M</a:t>
            </a:r>
            <a:endParaRPr sz="1800" i="1" dirty="0">
              <a:solidFill>
                <a:schemeClr val="dk2"/>
              </a:solidFill>
              <a:latin typeface="Proxima Nova"/>
              <a:ea typeface="Proxima Nova"/>
              <a:cs typeface="Proxima Nova"/>
              <a:sym typeface="Proxima Nova"/>
            </a:endParaRPr>
          </a:p>
        </p:txBody>
      </p:sp>
      <p:sp>
        <p:nvSpPr>
          <p:cNvPr id="154" name="Google Shape;154;p27"/>
          <p:cNvSpPr/>
          <p:nvPr/>
        </p:nvSpPr>
        <p:spPr>
          <a:xfrm>
            <a:off x="2045732" y="2922375"/>
            <a:ext cx="1509300" cy="957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55" name="Google Shape;155;p27"/>
          <p:cNvSpPr/>
          <p:nvPr/>
        </p:nvSpPr>
        <p:spPr>
          <a:xfrm>
            <a:off x="7187200" y="2414681"/>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mc:AlternateContent xmlns:mc="http://schemas.openxmlformats.org/markup-compatibility/2006" xmlns:a14="http://schemas.microsoft.com/office/drawing/2010/main">
        <mc:Choice Requires="a14">
          <p:sp>
            <p:nvSpPr>
              <p:cNvPr id="156" name="Google Shape;156;p27"/>
              <p:cNvSpPr txBox="1"/>
              <p:nvPr/>
            </p:nvSpPr>
            <p:spPr>
              <a:xfrm>
                <a:off x="7273900" y="2982203"/>
                <a:ext cx="1710900" cy="69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Proxima Nova"/>
                    <a:ea typeface="Proxima Nova"/>
                    <a:cs typeface="Proxima Nova"/>
                    <a:sym typeface="Proxima Nova"/>
                  </a:rPr>
                  <a:t>Discrete logs </a:t>
                </a:r>
                <a14:m>
                  <m:oMath xmlns:m="http://schemas.openxmlformats.org/officeDocument/2006/math">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𝐹</m:t>
                        </m:r>
                      </m:e>
                      <m:sub>
                        <m:r>
                          <a:rPr lang="en-US" sz="1800" b="0" i="1" smtClean="0">
                            <a:solidFill>
                              <a:schemeClr val="dk2"/>
                            </a:solidFill>
                            <a:latin typeface="Cambria Math" panose="02040503050406030204" pitchFamily="18" charset="0"/>
                          </a:rPr>
                          <m:t>𝑝</m:t>
                        </m:r>
                      </m:sub>
                    </m:sSub>
                  </m:oMath>
                </a14:m>
                <a:endParaRPr sz="1800" dirty="0">
                  <a:solidFill>
                    <a:schemeClr val="dk2"/>
                  </a:solidFill>
                  <a:latin typeface="Proxima Nova"/>
                  <a:ea typeface="Proxima Nova"/>
                  <a:cs typeface="Proxima Nova"/>
                  <a:sym typeface="Proxima Nova"/>
                </a:endParaRPr>
              </a:p>
            </p:txBody>
          </p:sp>
        </mc:Choice>
        <mc:Fallback xmlns="">
          <p:sp>
            <p:nvSpPr>
              <p:cNvPr id="156" name="Google Shape;156;p27"/>
              <p:cNvSpPr txBox="1">
                <a:spLocks noRot="1" noChangeAspect="1" noMove="1" noResize="1" noEditPoints="1" noAdjustHandles="1" noChangeArrowheads="1" noChangeShapeType="1" noTextEdit="1"/>
              </p:cNvSpPr>
              <p:nvPr/>
            </p:nvSpPr>
            <p:spPr>
              <a:xfrm>
                <a:off x="7273900" y="2982203"/>
                <a:ext cx="1710900" cy="697800"/>
              </a:xfrm>
              <a:prstGeom prst="rect">
                <a:avLst/>
              </a:prstGeom>
              <a:blipFill>
                <a:blip r:embed="rId4"/>
                <a:stretch>
                  <a:fillRect b="-5357"/>
                </a:stretch>
              </a:blipFill>
              <a:ln>
                <a:noFill/>
              </a:ln>
            </p:spPr>
            <p:txBody>
              <a:bodyPr/>
              <a:lstStyle/>
              <a:p>
                <a:r>
                  <a:rPr lang="en-US">
                    <a:noFill/>
                  </a:rPr>
                  <a:t> </a:t>
                </a:r>
              </a:p>
            </p:txBody>
          </p:sp>
        </mc:Fallback>
      </mc:AlternateContent>
      <p:sp>
        <p:nvSpPr>
          <p:cNvPr id="157" name="Google Shape;157;p27"/>
          <p:cNvSpPr txBox="1"/>
          <p:nvPr/>
        </p:nvSpPr>
        <p:spPr>
          <a:xfrm>
            <a:off x="2156032" y="3149200"/>
            <a:ext cx="12981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Proxima Nova"/>
                <a:ea typeface="Proxima Nova"/>
                <a:cs typeface="Proxima Nova"/>
                <a:sym typeface="Proxima Nova"/>
              </a:rPr>
              <a:t>Hash</a:t>
            </a:r>
            <a:endParaRPr sz="1800">
              <a:solidFill>
                <a:schemeClr val="dk2"/>
              </a:solidFill>
              <a:latin typeface="Proxima Nova"/>
              <a:ea typeface="Proxima Nova"/>
              <a:cs typeface="Proxima Nova"/>
              <a:sym typeface="Proxima Nova"/>
            </a:endParaRPr>
          </a:p>
        </p:txBody>
      </p:sp>
      <p:sp>
        <p:nvSpPr>
          <p:cNvPr id="158" name="Google Shape;158;p27"/>
          <p:cNvSpPr/>
          <p:nvPr/>
        </p:nvSpPr>
        <p:spPr>
          <a:xfrm>
            <a:off x="3527600" y="2494981"/>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mc:AlternateContent xmlns:mc="http://schemas.openxmlformats.org/markup-compatibility/2006" xmlns:a14="http://schemas.microsoft.com/office/drawing/2010/main">
        <mc:Choice Requires="a14">
          <p:sp>
            <p:nvSpPr>
              <p:cNvPr id="159" name="Google Shape;159;p27"/>
              <p:cNvSpPr txBox="1"/>
              <p:nvPr/>
            </p:nvSpPr>
            <p:spPr>
              <a:xfrm>
                <a:off x="3674150" y="2923109"/>
                <a:ext cx="1591200" cy="75689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Base Field</a:t>
                </a:r>
              </a:p>
              <a:p>
                <a:pPr algn="ctr"/>
                <a14:m>
                  <m:oMathPara xmlns:m="http://schemas.openxmlformats.org/officeDocument/2006/math">
                    <m:oMathParaPr>
                      <m:jc m:val="centerGroup"/>
                    </m:oMathParaPr>
                    <m:oMath xmlns:m="http://schemas.openxmlformats.org/officeDocument/2006/math">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𝐹</m:t>
                          </m:r>
                        </m:e>
                        <m:sub>
                          <m:r>
                            <a:rPr lang="en-US" sz="1800" b="0" i="1" smtClean="0">
                              <a:solidFill>
                                <a:schemeClr val="dk2"/>
                              </a:solidFill>
                              <a:latin typeface="Cambria Math" panose="02040503050406030204" pitchFamily="18" charset="0"/>
                            </a:rPr>
                            <m:t>𝑞</m:t>
                          </m:r>
                        </m:sub>
                      </m:sSub>
                    </m:oMath>
                  </m:oMathPara>
                </a14:m>
                <a:endParaRPr sz="1800" dirty="0">
                  <a:solidFill>
                    <a:schemeClr val="dk2"/>
                  </a:solidFill>
                  <a:latin typeface="Proxima Nova"/>
                  <a:sym typeface="Proxima Nova"/>
                </a:endParaRPr>
              </a:p>
            </p:txBody>
          </p:sp>
        </mc:Choice>
        <mc:Fallback xmlns="">
          <p:sp>
            <p:nvSpPr>
              <p:cNvPr id="159" name="Google Shape;159;p27"/>
              <p:cNvSpPr txBox="1">
                <a:spLocks noRot="1" noChangeAspect="1" noMove="1" noResize="1" noEditPoints="1" noAdjustHandles="1" noChangeArrowheads="1" noChangeShapeType="1" noTextEdit="1"/>
              </p:cNvSpPr>
              <p:nvPr/>
            </p:nvSpPr>
            <p:spPr>
              <a:xfrm>
                <a:off x="3674150" y="2923109"/>
                <a:ext cx="1591200" cy="756894"/>
              </a:xfrm>
              <a:prstGeom prst="rect">
                <a:avLst/>
              </a:prstGeom>
              <a:blipFill>
                <a:blip r:embed="rId5"/>
                <a:stretch>
                  <a:fillRect/>
                </a:stretch>
              </a:blipFill>
              <a:ln>
                <a:noFill/>
              </a:ln>
            </p:spPr>
            <p:txBody>
              <a:bodyPr/>
              <a:lstStyle/>
              <a:p>
                <a:r>
                  <a:rPr lang="en-US">
                    <a:noFill/>
                  </a:rPr>
                  <a:t> </a:t>
                </a:r>
              </a:p>
            </p:txBody>
          </p:sp>
        </mc:Fallback>
      </mc:AlternateContent>
      <p:sp>
        <p:nvSpPr>
          <p:cNvPr id="160" name="Google Shape;160;p27"/>
          <p:cNvSpPr/>
          <p:nvPr/>
        </p:nvSpPr>
        <p:spPr>
          <a:xfrm>
            <a:off x="5512801" y="2832575"/>
            <a:ext cx="1591200" cy="957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61" name="Google Shape;161;p27"/>
          <p:cNvSpPr txBox="1"/>
          <p:nvPr/>
        </p:nvSpPr>
        <p:spPr>
          <a:xfrm>
            <a:off x="5638450" y="3044053"/>
            <a:ext cx="12981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Proxima Nova"/>
                <a:ea typeface="Proxima Nova"/>
                <a:cs typeface="Proxima Nova"/>
                <a:sym typeface="Proxima Nova"/>
              </a:rPr>
              <a:t>Map-to-G</a:t>
            </a:r>
            <a:endParaRPr sz="1800">
              <a:solidFill>
                <a:schemeClr val="dk2"/>
              </a:solidFill>
              <a:latin typeface="Proxima Nova"/>
              <a:ea typeface="Proxima Nova"/>
              <a:cs typeface="Proxima Nova"/>
              <a:sym typeface="Proxima Nova"/>
            </a:endParaRPr>
          </a:p>
        </p:txBody>
      </p:sp>
      <p:sp>
        <p:nvSpPr>
          <p:cNvPr id="162" name="Google Shape;162;p27"/>
          <p:cNvSpPr txBox="1"/>
          <p:nvPr/>
        </p:nvSpPr>
        <p:spPr>
          <a:xfrm>
            <a:off x="1889814" y="3746303"/>
            <a:ext cx="1710900" cy="25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2"/>
                </a:solidFill>
                <a:latin typeface="Proxima Nova"/>
                <a:ea typeface="Proxima Nova"/>
                <a:cs typeface="Proxima Nova"/>
                <a:sym typeface="Proxima Nova"/>
              </a:rPr>
              <a:t>Random oracle</a:t>
            </a:r>
            <a:endParaRPr sz="1200" dirty="0">
              <a:solidFill>
                <a:schemeClr val="dk2"/>
              </a:solidFill>
              <a:latin typeface="Proxima Nova"/>
              <a:ea typeface="Proxima Nova"/>
              <a:cs typeface="Proxima Nova"/>
              <a:sym typeface="Proxima Nova"/>
            </a:endParaRPr>
          </a:p>
        </p:txBody>
      </p:sp>
      <p:sp>
        <p:nvSpPr>
          <p:cNvPr id="163" name="Google Shape;163;p27"/>
          <p:cNvSpPr txBox="1"/>
          <p:nvPr/>
        </p:nvSpPr>
        <p:spPr>
          <a:xfrm>
            <a:off x="5444100" y="3788153"/>
            <a:ext cx="1710900" cy="25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Proxima Nova"/>
                <a:ea typeface="Proxima Nova"/>
                <a:cs typeface="Proxima Nova"/>
                <a:sym typeface="Proxima Nova"/>
              </a:rPr>
              <a:t>Injective Function</a:t>
            </a:r>
            <a:endParaRPr sz="1200">
              <a:solidFill>
                <a:schemeClr val="dk2"/>
              </a:solidFill>
              <a:latin typeface="Proxima Nova"/>
              <a:ea typeface="Proxima Nova"/>
              <a:cs typeface="Proxima Nova"/>
              <a:sym typeface="Proxima Nova"/>
            </a:endParaRPr>
          </a:p>
        </p:txBody>
      </p:sp>
      <p:grpSp>
        <p:nvGrpSpPr>
          <p:cNvPr id="2" name="Group 1">
            <a:extLst>
              <a:ext uri="{FF2B5EF4-FFF2-40B4-BE49-F238E27FC236}">
                <a16:creationId xmlns:a16="http://schemas.microsoft.com/office/drawing/2014/main" id="{767A27C6-BCEF-5D43-94C6-205022178A06}"/>
              </a:ext>
            </a:extLst>
          </p:cNvPr>
          <p:cNvGrpSpPr/>
          <p:nvPr/>
        </p:nvGrpSpPr>
        <p:grpSpPr>
          <a:xfrm>
            <a:off x="939650" y="4197553"/>
            <a:ext cx="7365600" cy="813910"/>
            <a:chOff x="939650" y="4197553"/>
            <a:chExt cx="7365600" cy="813910"/>
          </a:xfrm>
        </p:grpSpPr>
        <p:sp>
          <p:nvSpPr>
            <p:cNvPr id="164" name="Google Shape;164;p27"/>
            <p:cNvSpPr/>
            <p:nvPr/>
          </p:nvSpPr>
          <p:spPr>
            <a:xfrm rot="10800000" flipH="1">
              <a:off x="939650" y="4197553"/>
              <a:ext cx="7365600" cy="813900"/>
            </a:xfrm>
            <a:prstGeom prst="uturnArrow">
              <a:avLst>
                <a:gd name="adj1" fmla="val 33202"/>
                <a:gd name="adj2" fmla="val 24845"/>
                <a:gd name="adj3" fmla="val 27898"/>
                <a:gd name="adj4" fmla="val 47724"/>
                <a:gd name="adj5" fmla="val 10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65" name="Google Shape;165;p27"/>
            <p:cNvSpPr txBox="1"/>
            <p:nvPr/>
          </p:nvSpPr>
          <p:spPr>
            <a:xfrm>
              <a:off x="3718700" y="4642763"/>
              <a:ext cx="1807500" cy="36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2"/>
                  </a:solidFill>
                  <a:latin typeface="Proxima Nova"/>
                  <a:ea typeface="Proxima Nova"/>
                  <a:cs typeface="Proxima Nova"/>
                  <a:sym typeface="Proxima Nova"/>
                </a:rPr>
                <a:t>Random Oracle</a:t>
              </a:r>
              <a:endParaRPr sz="1800" b="1">
                <a:solidFill>
                  <a:schemeClr val="dk2"/>
                </a:solidFill>
                <a:latin typeface="Proxima Nova"/>
                <a:ea typeface="Proxima Nova"/>
                <a:cs typeface="Proxima Nova"/>
                <a:sym typeface="Proxima Nov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Generic Group Model</a:t>
            </a:r>
            <a:endParaRPr/>
          </a:p>
        </p:txBody>
      </p:sp>
      <p:sp>
        <p:nvSpPr>
          <p:cNvPr id="171" name="Google Shape;171;p28"/>
          <p:cNvSpPr txBox="1">
            <a:spLocks noGrp="1"/>
          </p:cNvSpPr>
          <p:nvPr>
            <p:ph type="body" idx="1"/>
          </p:nvPr>
        </p:nvSpPr>
        <p:spPr>
          <a:xfrm>
            <a:off x="311700" y="1152475"/>
            <a:ext cx="8520600" cy="3728100"/>
          </a:xfrm>
          <a:prstGeom prst="rect">
            <a:avLst/>
          </a:prstGeom>
        </p:spPr>
        <p:txBody>
          <a:bodyPr spcFirstLastPara="1" wrap="square" lIns="91425" tIns="91425" rIns="91425" bIns="91425" anchor="t" anchorCtr="0">
            <a:normAutofit/>
          </a:bodyPr>
          <a:lstStyle/>
          <a:p>
            <a:pPr marL="457200" marR="0" lvl="0" indent="-336550" algn="l" rtl="0">
              <a:lnSpc>
                <a:spcPct val="100000"/>
              </a:lnSpc>
              <a:spcBef>
                <a:spcPts val="0"/>
              </a:spcBef>
              <a:spcAft>
                <a:spcPts val="0"/>
              </a:spcAft>
              <a:buSzPts val="1700"/>
              <a:buChar char="●"/>
            </a:pPr>
            <a:r>
              <a:rPr lang="en" sz="1700" dirty="0"/>
              <a:t>To drop the hash function, we must identify another source of random oracle!</a:t>
            </a:r>
            <a:endParaRPr sz="1700" dirty="0"/>
          </a:p>
          <a:p>
            <a:pPr marL="457200" marR="0" lvl="0" indent="-336550" algn="l" rtl="0">
              <a:lnSpc>
                <a:spcPct val="100000"/>
              </a:lnSpc>
              <a:spcBef>
                <a:spcPts val="0"/>
              </a:spcBef>
              <a:spcAft>
                <a:spcPts val="0"/>
              </a:spcAft>
              <a:buSzPts val="1700"/>
              <a:buChar char="●"/>
            </a:pPr>
            <a:r>
              <a:rPr lang="en" sz="1700" dirty="0"/>
              <a:t>We achieve this by relying on the Elliptic Curve Generic Group Model (EC-GGM). </a:t>
            </a:r>
            <a:endParaRPr sz="1700" dirty="0"/>
          </a:p>
          <a:p>
            <a:pPr marL="457200" marR="0" lvl="0" indent="-336550" algn="l" rtl="0">
              <a:lnSpc>
                <a:spcPct val="100000"/>
              </a:lnSpc>
              <a:spcBef>
                <a:spcPts val="0"/>
              </a:spcBef>
              <a:spcAft>
                <a:spcPts val="0"/>
              </a:spcAft>
              <a:buSzPts val="1700"/>
              <a:buChar char="●"/>
            </a:pPr>
            <a:r>
              <a:rPr lang="en" sz="1700" dirty="0"/>
              <a:t>In this model, the Map-to-elliptic curve group function can be almost seen as a random oracle!</a:t>
            </a:r>
            <a:endParaRPr sz="1600" b="1" u="sng" dirty="0"/>
          </a:p>
        </p:txBody>
      </p:sp>
      <p:sp>
        <p:nvSpPr>
          <p:cNvPr id="172" name="Google Shape;172;p28"/>
          <p:cNvSpPr/>
          <p:nvPr/>
        </p:nvSpPr>
        <p:spPr>
          <a:xfrm>
            <a:off x="5053080" y="25717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73" name="Google Shape;173;p28"/>
          <p:cNvSpPr/>
          <p:nvPr/>
        </p:nvSpPr>
        <p:spPr>
          <a:xfrm>
            <a:off x="1210600" y="26520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mc:AlternateContent xmlns:mc="http://schemas.openxmlformats.org/markup-compatibility/2006" xmlns:a14="http://schemas.microsoft.com/office/drawing/2010/main">
        <mc:Choice Requires="a14">
          <p:sp>
            <p:nvSpPr>
              <p:cNvPr id="174" name="Google Shape;174;p28"/>
              <p:cNvSpPr txBox="1"/>
              <p:nvPr/>
            </p:nvSpPr>
            <p:spPr>
              <a:xfrm>
                <a:off x="1438588" y="3294200"/>
                <a:ext cx="1591200" cy="50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Proxima Nova"/>
                    <a:ea typeface="Proxima Nova"/>
                    <a:cs typeface="Proxima Nova"/>
                    <a:sym typeface="Proxima Nova"/>
                  </a:rPr>
                  <a:t>Base Field </a:t>
                </a:r>
              </a:p>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𝐹</m:t>
                          </m:r>
                        </m:e>
                        <m:sub>
                          <m:r>
                            <a:rPr lang="en-US" sz="1800" b="0" i="1" smtClean="0">
                              <a:solidFill>
                                <a:schemeClr val="dk2"/>
                              </a:solidFill>
                              <a:latin typeface="Cambria Math" panose="02040503050406030204" pitchFamily="18" charset="0"/>
                            </a:rPr>
                            <m:t>𝑞</m:t>
                          </m:r>
                        </m:sub>
                      </m:sSub>
                    </m:oMath>
                  </m:oMathPara>
                </a14:m>
                <a:endParaRPr sz="1800" dirty="0">
                  <a:solidFill>
                    <a:schemeClr val="dk2"/>
                  </a:solidFill>
                  <a:latin typeface="Proxima Nova"/>
                  <a:ea typeface="Proxima Nova"/>
                  <a:cs typeface="Proxima Nova"/>
                  <a:sym typeface="Proxima Nova"/>
                </a:endParaRPr>
              </a:p>
            </p:txBody>
          </p:sp>
        </mc:Choice>
        <mc:Fallback xmlns="">
          <p:sp>
            <p:nvSpPr>
              <p:cNvPr id="174" name="Google Shape;174;p28"/>
              <p:cNvSpPr txBox="1">
                <a:spLocks noRot="1" noChangeAspect="1" noMove="1" noResize="1" noEditPoints="1" noAdjustHandles="1" noChangeArrowheads="1" noChangeShapeType="1" noTextEdit="1"/>
              </p:cNvSpPr>
              <p:nvPr/>
            </p:nvSpPr>
            <p:spPr>
              <a:xfrm>
                <a:off x="1438588" y="3294200"/>
                <a:ext cx="1591200" cy="509400"/>
              </a:xfrm>
              <a:prstGeom prst="rect">
                <a:avLst/>
              </a:prstGeom>
              <a:blipFill>
                <a:blip r:embed="rId3"/>
                <a:stretch>
                  <a:fillRect l="-3175" b="-41463"/>
                </a:stretch>
              </a:blipFill>
              <a:ln>
                <a:noFill/>
              </a:ln>
            </p:spPr>
            <p:txBody>
              <a:bodyPr/>
              <a:lstStyle/>
              <a:p>
                <a:r>
                  <a:rPr lang="en-US">
                    <a:noFill/>
                  </a:rPr>
                  <a:t> </a:t>
                </a:r>
              </a:p>
            </p:txBody>
          </p:sp>
        </mc:Fallback>
      </mc:AlternateContent>
      <p:sp>
        <p:nvSpPr>
          <p:cNvPr id="175" name="Google Shape;175;p28"/>
          <p:cNvSpPr/>
          <p:nvPr/>
        </p:nvSpPr>
        <p:spPr>
          <a:xfrm>
            <a:off x="3191080" y="2989650"/>
            <a:ext cx="1765819" cy="957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76" name="Google Shape;176;p28"/>
          <p:cNvSpPr txBox="1"/>
          <p:nvPr/>
        </p:nvSpPr>
        <p:spPr>
          <a:xfrm>
            <a:off x="3422034" y="3216475"/>
            <a:ext cx="12981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Proxima Nova"/>
                <a:ea typeface="Proxima Nova"/>
                <a:cs typeface="Proxima Nova"/>
                <a:sym typeface="Proxima Nova"/>
              </a:rPr>
              <a:t>Map-to-G</a:t>
            </a:r>
            <a:endParaRPr sz="1800" dirty="0">
              <a:solidFill>
                <a:schemeClr val="dk2"/>
              </a:solidFill>
              <a:latin typeface="Proxima Nova"/>
              <a:ea typeface="Proxima Nova"/>
              <a:cs typeface="Proxima Nova"/>
              <a:sym typeface="Proxima Nova"/>
            </a:endParaRPr>
          </a:p>
        </p:txBody>
      </p:sp>
      <p:sp>
        <p:nvSpPr>
          <p:cNvPr id="177" name="Google Shape;177;p28"/>
          <p:cNvSpPr txBox="1"/>
          <p:nvPr/>
        </p:nvSpPr>
        <p:spPr>
          <a:xfrm>
            <a:off x="2896800" y="4037325"/>
            <a:ext cx="2671896" cy="25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2"/>
                </a:solidFill>
                <a:latin typeface="Proxima Nova"/>
                <a:ea typeface="Proxima Nova"/>
                <a:cs typeface="Proxima Nova"/>
                <a:sym typeface="Proxima Nova"/>
              </a:rPr>
              <a:t>Almost Random Oracle in EC-GGM</a:t>
            </a:r>
            <a:endParaRPr sz="1200" dirty="0">
              <a:solidFill>
                <a:schemeClr val="dk2"/>
              </a:solidFill>
              <a:latin typeface="Proxima Nova"/>
              <a:ea typeface="Proxima Nova"/>
              <a:cs typeface="Proxima Nova"/>
              <a:sym typeface="Proxima Nova"/>
            </a:endParaRPr>
          </a:p>
        </p:txBody>
      </p:sp>
      <mc:AlternateContent xmlns:mc="http://schemas.openxmlformats.org/markup-compatibility/2006" xmlns:a14="http://schemas.microsoft.com/office/drawing/2010/main">
        <mc:Choice Requires="a14">
          <p:sp>
            <p:nvSpPr>
              <p:cNvPr id="178" name="Google Shape;178;p28"/>
              <p:cNvSpPr txBox="1"/>
              <p:nvPr/>
            </p:nvSpPr>
            <p:spPr>
              <a:xfrm>
                <a:off x="5139780" y="3106675"/>
                <a:ext cx="1710900" cy="69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Proxima Nova"/>
                    <a:ea typeface="Proxima Nova"/>
                    <a:cs typeface="Proxima Nova"/>
                    <a:sym typeface="Proxima Nova"/>
                  </a:rPr>
                  <a:t>Discrete logs </a:t>
                </a:r>
                <a14:m>
                  <m:oMath xmlns:m="http://schemas.openxmlformats.org/officeDocument/2006/math">
                    <m:sSub>
                      <m:sSubPr>
                        <m:ctrlPr>
                          <a:rPr lang="en-US" sz="1800" b="0" i="1" smtClean="0">
                            <a:solidFill>
                              <a:schemeClr val="dk2"/>
                            </a:solidFill>
                            <a:latin typeface="Cambria Math" panose="02040503050406030204" pitchFamily="18" charset="0"/>
                          </a:rPr>
                        </m:ctrlPr>
                      </m:sSubPr>
                      <m:e>
                        <m:r>
                          <a:rPr lang="en-US" sz="1800" b="0" i="1" smtClean="0">
                            <a:solidFill>
                              <a:schemeClr val="dk2"/>
                            </a:solidFill>
                            <a:latin typeface="Cambria Math" panose="02040503050406030204" pitchFamily="18" charset="0"/>
                          </a:rPr>
                          <m:t>𝐹</m:t>
                        </m:r>
                      </m:e>
                      <m:sub>
                        <m:r>
                          <a:rPr lang="en-US" sz="1800" b="0" i="1" smtClean="0">
                            <a:solidFill>
                              <a:schemeClr val="dk2"/>
                            </a:solidFill>
                            <a:latin typeface="Cambria Math" panose="02040503050406030204" pitchFamily="18" charset="0"/>
                          </a:rPr>
                          <m:t>𝑝</m:t>
                        </m:r>
                      </m:sub>
                    </m:sSub>
                  </m:oMath>
                </a14:m>
                <a:endParaRPr sz="1800" dirty="0">
                  <a:solidFill>
                    <a:schemeClr val="dk2"/>
                  </a:solidFill>
                  <a:latin typeface="Proxima Nova"/>
                  <a:ea typeface="Proxima Nova"/>
                  <a:cs typeface="Proxima Nova"/>
                  <a:sym typeface="Proxima Nova"/>
                </a:endParaRPr>
              </a:p>
            </p:txBody>
          </p:sp>
        </mc:Choice>
        <mc:Fallback xmlns="">
          <p:sp>
            <p:nvSpPr>
              <p:cNvPr id="178" name="Google Shape;178;p28"/>
              <p:cNvSpPr txBox="1">
                <a:spLocks noRot="1" noChangeAspect="1" noMove="1" noResize="1" noEditPoints="1" noAdjustHandles="1" noChangeArrowheads="1" noChangeShapeType="1" noTextEdit="1"/>
              </p:cNvSpPr>
              <p:nvPr/>
            </p:nvSpPr>
            <p:spPr>
              <a:xfrm>
                <a:off x="5139780" y="3106675"/>
                <a:ext cx="1710900" cy="697800"/>
              </a:xfrm>
              <a:prstGeom prst="rect">
                <a:avLst/>
              </a:prstGeom>
              <a:blipFill>
                <a:blip r:embed="rId4"/>
                <a:stretch>
                  <a:fillRect b="-5357"/>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Map-to-Group is ALL YOU NEED</a:t>
            </a:r>
            <a:endParaRPr/>
          </a:p>
        </p:txBody>
      </p:sp>
      <p:sp>
        <p:nvSpPr>
          <p:cNvPr id="184" name="Google Shape;184;p29"/>
          <p:cNvSpPr txBox="1">
            <a:spLocks noGrp="1"/>
          </p:cNvSpPr>
          <p:nvPr>
            <p:ph type="body" idx="1"/>
          </p:nvPr>
        </p:nvSpPr>
        <p:spPr>
          <a:xfrm>
            <a:off x="311700" y="1152475"/>
            <a:ext cx="8520600" cy="3728100"/>
          </a:xfrm>
          <a:prstGeom prst="rect">
            <a:avLst/>
          </a:prstGeom>
        </p:spPr>
        <p:txBody>
          <a:bodyPr spcFirstLastPara="1" wrap="square" lIns="91425" tIns="91425" rIns="91425" bIns="91425" anchor="t" anchorCtr="0">
            <a:normAutofit/>
          </a:bodyPr>
          <a:lstStyle/>
          <a:p>
            <a:pPr marL="457200" marR="0" lvl="0" indent="-336550" algn="l" rtl="0">
              <a:lnSpc>
                <a:spcPct val="100000"/>
              </a:lnSpc>
              <a:spcBef>
                <a:spcPts val="0"/>
              </a:spcBef>
              <a:spcAft>
                <a:spcPts val="0"/>
              </a:spcAft>
              <a:buSzPts val="1700"/>
              <a:buChar char="●"/>
            </a:pPr>
            <a:r>
              <a:rPr lang="en" sz="1700" dirty="0"/>
              <a:t>Let’s zoom back to the classical hash-to-group function. </a:t>
            </a:r>
            <a:endParaRPr sz="1700" dirty="0"/>
          </a:p>
          <a:p>
            <a:pPr marL="457200" marR="0" lvl="0" indent="-336550" algn="l" rtl="0">
              <a:lnSpc>
                <a:spcPct val="100000"/>
              </a:lnSpc>
              <a:spcBef>
                <a:spcPts val="0"/>
              </a:spcBef>
              <a:spcAft>
                <a:spcPts val="0"/>
              </a:spcAft>
              <a:buSzPts val="1700"/>
              <a:buChar char="●"/>
            </a:pPr>
            <a:r>
              <a:rPr lang="en" sz="1700" dirty="0"/>
              <a:t>In the EC-GGM, we have two random oracles now. </a:t>
            </a:r>
            <a:endParaRPr sz="1700" dirty="0"/>
          </a:p>
        </p:txBody>
      </p:sp>
      <p:sp>
        <p:nvSpPr>
          <p:cNvPr id="185" name="Google Shape;185;p29"/>
          <p:cNvSpPr/>
          <p:nvPr/>
        </p:nvSpPr>
        <p:spPr>
          <a:xfrm>
            <a:off x="118650" y="24914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86" name="Google Shape;186;p29"/>
          <p:cNvSpPr txBox="1"/>
          <p:nvPr/>
        </p:nvSpPr>
        <p:spPr>
          <a:xfrm>
            <a:off x="237896" y="2922375"/>
            <a:ext cx="1591200" cy="50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Proxima Nova"/>
                <a:ea typeface="Proxima Nova"/>
                <a:cs typeface="Proxima Nova"/>
                <a:sym typeface="Proxima Nova"/>
              </a:rPr>
              <a:t>Message </a:t>
            </a:r>
          </a:p>
          <a:p>
            <a:pPr marL="0" lvl="0" indent="0" algn="ctr" rtl="0">
              <a:spcBef>
                <a:spcPts val="0"/>
              </a:spcBef>
              <a:spcAft>
                <a:spcPts val="0"/>
              </a:spcAft>
              <a:buNone/>
            </a:pPr>
            <a:r>
              <a:rPr lang="en" sz="1800" i="1" dirty="0">
                <a:solidFill>
                  <a:schemeClr val="dk2"/>
                </a:solidFill>
                <a:latin typeface="Proxima Nova"/>
                <a:ea typeface="Proxima Nova"/>
                <a:cs typeface="Proxima Nova"/>
                <a:sym typeface="Proxima Nova"/>
              </a:rPr>
              <a:t>Space</a:t>
            </a:r>
          </a:p>
          <a:p>
            <a:pPr marL="0" lvl="0" indent="0" algn="ctr" rtl="0">
              <a:spcBef>
                <a:spcPts val="0"/>
              </a:spcBef>
              <a:spcAft>
                <a:spcPts val="0"/>
              </a:spcAft>
              <a:buNone/>
            </a:pPr>
            <a:r>
              <a:rPr lang="en" sz="1800" i="1" dirty="0">
                <a:solidFill>
                  <a:schemeClr val="dk2"/>
                </a:solidFill>
                <a:latin typeface="Proxima Nova"/>
                <a:ea typeface="Proxima Nova"/>
                <a:cs typeface="Proxima Nova"/>
                <a:sym typeface="Proxima Nova"/>
              </a:rPr>
              <a:t>M</a:t>
            </a:r>
            <a:endParaRPr sz="1800" i="1" dirty="0">
              <a:solidFill>
                <a:schemeClr val="dk2"/>
              </a:solidFill>
              <a:latin typeface="Proxima Nova"/>
              <a:ea typeface="Proxima Nova"/>
              <a:cs typeface="Proxima Nova"/>
              <a:sym typeface="Proxima Nova"/>
            </a:endParaRPr>
          </a:p>
        </p:txBody>
      </p:sp>
      <p:sp>
        <p:nvSpPr>
          <p:cNvPr id="187" name="Google Shape;187;p29"/>
          <p:cNvSpPr/>
          <p:nvPr/>
        </p:nvSpPr>
        <p:spPr>
          <a:xfrm>
            <a:off x="2002946" y="2922375"/>
            <a:ext cx="1374900" cy="957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88" name="Google Shape;188;p29"/>
          <p:cNvSpPr/>
          <p:nvPr/>
        </p:nvSpPr>
        <p:spPr>
          <a:xfrm>
            <a:off x="7187200" y="24914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89" name="Google Shape;189;p29"/>
          <p:cNvSpPr txBox="1"/>
          <p:nvPr/>
        </p:nvSpPr>
        <p:spPr>
          <a:xfrm>
            <a:off x="7273900" y="3074325"/>
            <a:ext cx="1710900" cy="69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Proxima Nova"/>
                <a:ea typeface="Proxima Nova"/>
                <a:cs typeface="Proxima Nova"/>
                <a:sym typeface="Proxima Nova"/>
              </a:rPr>
              <a:t>Discrete logs </a:t>
            </a:r>
            <a:r>
              <a:rPr lang="en" sz="1800" i="1">
                <a:solidFill>
                  <a:schemeClr val="dk2"/>
                </a:solidFill>
                <a:latin typeface="Proxima Nova"/>
                <a:ea typeface="Proxima Nova"/>
                <a:cs typeface="Proxima Nova"/>
                <a:sym typeface="Proxima Nova"/>
              </a:rPr>
              <a:t>F</a:t>
            </a:r>
            <a:r>
              <a:rPr lang="en" sz="1800" i="1" baseline="-25000">
                <a:solidFill>
                  <a:schemeClr val="dk2"/>
                </a:solidFill>
                <a:latin typeface="Proxima Nova"/>
                <a:ea typeface="Proxima Nova"/>
                <a:cs typeface="Proxima Nova"/>
                <a:sym typeface="Proxima Nova"/>
              </a:rPr>
              <a:t>p</a:t>
            </a:r>
            <a:endParaRPr sz="1800">
              <a:solidFill>
                <a:schemeClr val="dk2"/>
              </a:solidFill>
              <a:latin typeface="Proxima Nova"/>
              <a:ea typeface="Proxima Nova"/>
              <a:cs typeface="Proxima Nova"/>
              <a:sym typeface="Proxima Nova"/>
            </a:endParaRPr>
          </a:p>
        </p:txBody>
      </p:sp>
      <p:sp>
        <p:nvSpPr>
          <p:cNvPr id="190" name="Google Shape;190;p29"/>
          <p:cNvSpPr txBox="1"/>
          <p:nvPr/>
        </p:nvSpPr>
        <p:spPr>
          <a:xfrm>
            <a:off x="2128600" y="3149200"/>
            <a:ext cx="12981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latin typeface="Proxima Nova"/>
                <a:ea typeface="Proxima Nova"/>
                <a:cs typeface="Proxima Nova"/>
                <a:sym typeface="Proxima Nova"/>
              </a:rPr>
              <a:t>Hash</a:t>
            </a:r>
            <a:endParaRPr sz="1800" dirty="0">
              <a:solidFill>
                <a:schemeClr val="dk2"/>
              </a:solidFill>
              <a:latin typeface="Proxima Nova"/>
              <a:ea typeface="Proxima Nova"/>
              <a:cs typeface="Proxima Nova"/>
              <a:sym typeface="Proxima Nova"/>
            </a:endParaRPr>
          </a:p>
        </p:txBody>
      </p:sp>
      <p:sp>
        <p:nvSpPr>
          <p:cNvPr id="191" name="Google Shape;191;p29"/>
          <p:cNvSpPr/>
          <p:nvPr/>
        </p:nvSpPr>
        <p:spPr>
          <a:xfrm>
            <a:off x="3527600" y="25717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mc:AlternateContent xmlns:mc="http://schemas.openxmlformats.org/markup-compatibility/2006" xmlns:a14="http://schemas.microsoft.com/office/drawing/2010/main">
        <mc:Choice Requires="a14">
          <p:sp>
            <p:nvSpPr>
              <p:cNvPr id="192" name="Google Shape;192;p29"/>
              <p:cNvSpPr txBox="1"/>
              <p:nvPr/>
            </p:nvSpPr>
            <p:spPr>
              <a:xfrm>
                <a:off x="3682396" y="2959199"/>
                <a:ext cx="1591200" cy="103182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Base Field</a:t>
                </a:r>
              </a:p>
              <a:p>
                <a:pPr lvl="0" algn="ctr"/>
                <a14:m>
                  <m:oMathPara xmlns:m="http://schemas.openxmlformats.org/officeDocument/2006/math">
                    <m:oMathParaPr>
                      <m:jc m:val="centerGroup"/>
                    </m:oMathParaPr>
                    <m:oMath xmlns:m="http://schemas.openxmlformats.org/officeDocument/2006/math">
                      <m:sSub>
                        <m:sSubPr>
                          <m:ctrlPr>
                            <a:rPr lang="en-US" sz="1800" i="1">
                              <a:solidFill>
                                <a:schemeClr val="dk2"/>
                              </a:solidFill>
                              <a:latin typeface="Cambria Math" panose="02040503050406030204" pitchFamily="18" charset="0"/>
                            </a:rPr>
                          </m:ctrlPr>
                        </m:sSubPr>
                        <m:e>
                          <m:r>
                            <a:rPr lang="en-US" sz="1800" i="1">
                              <a:solidFill>
                                <a:schemeClr val="dk2"/>
                              </a:solidFill>
                              <a:latin typeface="Cambria Math" panose="02040503050406030204" pitchFamily="18" charset="0"/>
                            </a:rPr>
                            <m:t>𝐹</m:t>
                          </m:r>
                        </m:e>
                        <m:sub>
                          <m:r>
                            <a:rPr lang="en-US" sz="1800" i="1">
                              <a:solidFill>
                                <a:schemeClr val="dk2"/>
                              </a:solidFill>
                              <a:latin typeface="Cambria Math" panose="02040503050406030204" pitchFamily="18" charset="0"/>
                            </a:rPr>
                            <m:t>𝑞</m:t>
                          </m:r>
                        </m:sub>
                      </m:sSub>
                    </m:oMath>
                  </m:oMathPara>
                </a14:m>
                <a:endParaRPr sz="1800" dirty="0">
                  <a:solidFill>
                    <a:schemeClr val="dk2"/>
                  </a:solidFill>
                  <a:latin typeface="Proxima Nova"/>
                  <a:ea typeface="Proxima Nova"/>
                  <a:cs typeface="Proxima Nova"/>
                  <a:sym typeface="Proxima Nova"/>
                </a:endParaRPr>
              </a:p>
            </p:txBody>
          </p:sp>
        </mc:Choice>
        <mc:Fallback xmlns="">
          <p:sp>
            <p:nvSpPr>
              <p:cNvPr id="192" name="Google Shape;192;p29"/>
              <p:cNvSpPr txBox="1">
                <a:spLocks noRot="1" noChangeAspect="1" noMove="1" noResize="1" noEditPoints="1" noAdjustHandles="1" noChangeArrowheads="1" noChangeShapeType="1" noTextEdit="1"/>
              </p:cNvSpPr>
              <p:nvPr/>
            </p:nvSpPr>
            <p:spPr>
              <a:xfrm>
                <a:off x="3682396" y="2959199"/>
                <a:ext cx="1591200" cy="1031825"/>
              </a:xfrm>
              <a:prstGeom prst="rect">
                <a:avLst/>
              </a:prstGeom>
              <a:blipFill>
                <a:blip r:embed="rId3"/>
                <a:stretch>
                  <a:fillRect/>
                </a:stretch>
              </a:blipFill>
              <a:ln>
                <a:noFill/>
              </a:ln>
            </p:spPr>
            <p:txBody>
              <a:bodyPr/>
              <a:lstStyle/>
              <a:p>
                <a:r>
                  <a:rPr lang="en-US">
                    <a:noFill/>
                  </a:rPr>
                  <a:t> </a:t>
                </a:r>
              </a:p>
            </p:txBody>
          </p:sp>
        </mc:Fallback>
      </mc:AlternateContent>
      <p:sp>
        <p:nvSpPr>
          <p:cNvPr id="193" name="Google Shape;193;p29"/>
          <p:cNvSpPr/>
          <p:nvPr/>
        </p:nvSpPr>
        <p:spPr>
          <a:xfrm>
            <a:off x="5512796" y="2909350"/>
            <a:ext cx="1374900" cy="957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94" name="Google Shape;194;p29"/>
          <p:cNvSpPr txBox="1"/>
          <p:nvPr/>
        </p:nvSpPr>
        <p:spPr>
          <a:xfrm>
            <a:off x="5638450" y="3136175"/>
            <a:ext cx="12981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Proxima Nova"/>
                <a:ea typeface="Proxima Nova"/>
                <a:cs typeface="Proxima Nova"/>
                <a:sym typeface="Proxima Nova"/>
              </a:rPr>
              <a:t>Map-to-G</a:t>
            </a:r>
            <a:endParaRPr sz="1800">
              <a:solidFill>
                <a:schemeClr val="dk2"/>
              </a:solidFill>
              <a:latin typeface="Proxima Nova"/>
              <a:ea typeface="Proxima Nova"/>
              <a:cs typeface="Proxima Nova"/>
              <a:sym typeface="Proxima Nova"/>
            </a:endParaRPr>
          </a:p>
        </p:txBody>
      </p:sp>
      <p:sp>
        <p:nvSpPr>
          <p:cNvPr id="195" name="Google Shape;195;p29"/>
          <p:cNvSpPr txBox="1"/>
          <p:nvPr/>
        </p:nvSpPr>
        <p:spPr>
          <a:xfrm>
            <a:off x="1834950" y="3838425"/>
            <a:ext cx="1710900" cy="25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Proxima Nova"/>
                <a:ea typeface="Proxima Nova"/>
                <a:cs typeface="Proxima Nova"/>
                <a:sym typeface="Proxima Nova"/>
              </a:rPr>
              <a:t>Random oracle</a:t>
            </a:r>
            <a:endParaRPr sz="1200">
              <a:solidFill>
                <a:schemeClr val="dk2"/>
              </a:solidFill>
              <a:latin typeface="Proxima Nova"/>
              <a:ea typeface="Proxima Nova"/>
              <a:cs typeface="Proxima Nova"/>
              <a:sym typeface="Proxima Nova"/>
            </a:endParaRPr>
          </a:p>
        </p:txBody>
      </p:sp>
      <p:sp>
        <p:nvSpPr>
          <p:cNvPr id="196" name="Google Shape;196;p29"/>
          <p:cNvSpPr txBox="1"/>
          <p:nvPr/>
        </p:nvSpPr>
        <p:spPr>
          <a:xfrm>
            <a:off x="5444100" y="3880275"/>
            <a:ext cx="2190900" cy="25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2"/>
                </a:solidFill>
                <a:latin typeface="Proxima Nova"/>
                <a:ea typeface="Proxima Nova"/>
                <a:cs typeface="Proxima Nova"/>
                <a:sym typeface="Proxima Nova"/>
              </a:rPr>
              <a:t>Almost Random oracle </a:t>
            </a:r>
          </a:p>
          <a:p>
            <a:pPr marL="0" lvl="0" indent="0" algn="l" rtl="0">
              <a:spcBef>
                <a:spcPts val="0"/>
              </a:spcBef>
              <a:spcAft>
                <a:spcPts val="0"/>
              </a:spcAft>
              <a:buNone/>
            </a:pPr>
            <a:r>
              <a:rPr lang="en" sz="1200" dirty="0">
                <a:solidFill>
                  <a:schemeClr val="dk2"/>
                </a:solidFill>
                <a:latin typeface="Proxima Nova"/>
                <a:ea typeface="Proxima Nova"/>
                <a:cs typeface="Proxima Nova"/>
                <a:sym typeface="Proxima Nova"/>
              </a:rPr>
              <a:t>(EC-GGM)</a:t>
            </a:r>
            <a:endParaRPr sz="1200" dirty="0">
              <a:solidFill>
                <a:schemeClr val="dk2"/>
              </a:solidFill>
              <a:latin typeface="Proxima Nova"/>
              <a:ea typeface="Proxima Nova"/>
              <a:cs typeface="Proxima Nova"/>
              <a:sym typeface="Proxima Nov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Map-to-Group is ALL YOU NEED</a:t>
            </a:r>
            <a:endParaRPr/>
          </a:p>
        </p:txBody>
      </p:sp>
      <p:sp>
        <p:nvSpPr>
          <p:cNvPr id="184" name="Google Shape;184;p29"/>
          <p:cNvSpPr txBox="1">
            <a:spLocks noGrp="1"/>
          </p:cNvSpPr>
          <p:nvPr>
            <p:ph type="body" idx="1"/>
          </p:nvPr>
        </p:nvSpPr>
        <p:spPr>
          <a:xfrm>
            <a:off x="311700" y="1152475"/>
            <a:ext cx="8520600" cy="3728100"/>
          </a:xfrm>
          <a:prstGeom prst="rect">
            <a:avLst/>
          </a:prstGeom>
        </p:spPr>
        <p:txBody>
          <a:bodyPr spcFirstLastPara="1" wrap="square" lIns="91425" tIns="91425" rIns="91425" bIns="91425" anchor="t" anchorCtr="0">
            <a:normAutofit/>
          </a:bodyPr>
          <a:lstStyle/>
          <a:p>
            <a:pPr marL="457200" marR="0" lvl="0" indent="-336550" algn="l" rtl="0">
              <a:lnSpc>
                <a:spcPct val="100000"/>
              </a:lnSpc>
              <a:spcBef>
                <a:spcPts val="0"/>
              </a:spcBef>
              <a:spcAft>
                <a:spcPts val="0"/>
              </a:spcAft>
              <a:buSzPts val="1700"/>
              <a:buChar char="●"/>
            </a:pPr>
            <a:r>
              <a:rPr lang="en" sz="1700" dirty="0"/>
              <a:t>Let’s zoom back to the classical hash-to-group function. </a:t>
            </a:r>
            <a:endParaRPr sz="1700" dirty="0"/>
          </a:p>
          <a:p>
            <a:pPr marL="457200" marR="0" lvl="0" indent="-336550" algn="l" rtl="0">
              <a:lnSpc>
                <a:spcPct val="100000"/>
              </a:lnSpc>
              <a:spcBef>
                <a:spcPts val="0"/>
              </a:spcBef>
              <a:spcAft>
                <a:spcPts val="0"/>
              </a:spcAft>
              <a:buSzPts val="1700"/>
              <a:buChar char="●"/>
            </a:pPr>
            <a:r>
              <a:rPr lang="en" sz="1700" dirty="0"/>
              <a:t>In the EC-GGM, we have two random oracles now. </a:t>
            </a:r>
            <a:endParaRPr sz="1700" dirty="0"/>
          </a:p>
          <a:p>
            <a:pPr marL="457200" marR="0" lvl="0" indent="-336550" algn="l" rtl="0">
              <a:lnSpc>
                <a:spcPct val="100000"/>
              </a:lnSpc>
              <a:spcBef>
                <a:spcPts val="0"/>
              </a:spcBef>
              <a:spcAft>
                <a:spcPts val="0"/>
              </a:spcAft>
              <a:buSzPts val="1700"/>
              <a:buChar char="●"/>
            </a:pPr>
            <a:r>
              <a:rPr lang="en" sz="1700" dirty="0"/>
              <a:t>Wait… “Map-to-Group is ALL YOU NEED.”</a:t>
            </a:r>
            <a:endParaRPr sz="1600" b="1" u="sng" dirty="0"/>
          </a:p>
        </p:txBody>
      </p:sp>
      <p:sp>
        <p:nvSpPr>
          <p:cNvPr id="185" name="Google Shape;185;p29"/>
          <p:cNvSpPr/>
          <p:nvPr/>
        </p:nvSpPr>
        <p:spPr>
          <a:xfrm>
            <a:off x="118650" y="24914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87" name="Google Shape;187;p29"/>
          <p:cNvSpPr/>
          <p:nvPr/>
        </p:nvSpPr>
        <p:spPr>
          <a:xfrm>
            <a:off x="2002946" y="2922375"/>
            <a:ext cx="1374900" cy="957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88" name="Google Shape;188;p29"/>
          <p:cNvSpPr/>
          <p:nvPr/>
        </p:nvSpPr>
        <p:spPr>
          <a:xfrm>
            <a:off x="7187200" y="24914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89" name="Google Shape;189;p29"/>
          <p:cNvSpPr txBox="1"/>
          <p:nvPr/>
        </p:nvSpPr>
        <p:spPr>
          <a:xfrm>
            <a:off x="7273900" y="3074325"/>
            <a:ext cx="1710900" cy="697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Proxima Nova"/>
                <a:ea typeface="Proxima Nova"/>
                <a:cs typeface="Proxima Nova"/>
                <a:sym typeface="Proxima Nova"/>
              </a:rPr>
              <a:t>Discrete logs </a:t>
            </a:r>
            <a:r>
              <a:rPr lang="en" sz="1800" i="1">
                <a:solidFill>
                  <a:schemeClr val="dk2"/>
                </a:solidFill>
                <a:latin typeface="Proxima Nova"/>
                <a:ea typeface="Proxima Nova"/>
                <a:cs typeface="Proxima Nova"/>
                <a:sym typeface="Proxima Nova"/>
              </a:rPr>
              <a:t>F</a:t>
            </a:r>
            <a:r>
              <a:rPr lang="en" sz="1800" i="1" baseline="-25000">
                <a:solidFill>
                  <a:schemeClr val="dk2"/>
                </a:solidFill>
                <a:latin typeface="Proxima Nova"/>
                <a:ea typeface="Proxima Nova"/>
                <a:cs typeface="Proxima Nova"/>
                <a:sym typeface="Proxima Nova"/>
              </a:rPr>
              <a:t>p</a:t>
            </a:r>
            <a:endParaRPr sz="1800">
              <a:solidFill>
                <a:schemeClr val="dk2"/>
              </a:solidFill>
              <a:latin typeface="Proxima Nova"/>
              <a:ea typeface="Proxima Nova"/>
              <a:cs typeface="Proxima Nova"/>
              <a:sym typeface="Proxima Nova"/>
            </a:endParaRPr>
          </a:p>
        </p:txBody>
      </p:sp>
      <p:sp>
        <p:nvSpPr>
          <p:cNvPr id="190" name="Google Shape;190;p29"/>
          <p:cNvSpPr txBox="1"/>
          <p:nvPr/>
        </p:nvSpPr>
        <p:spPr>
          <a:xfrm>
            <a:off x="2128600" y="3149200"/>
            <a:ext cx="12981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Proxima Nova"/>
                <a:ea typeface="Proxima Nova"/>
                <a:cs typeface="Proxima Nova"/>
                <a:sym typeface="Proxima Nova"/>
              </a:rPr>
              <a:t>Hash</a:t>
            </a:r>
            <a:endParaRPr sz="1800">
              <a:solidFill>
                <a:schemeClr val="dk2"/>
              </a:solidFill>
              <a:latin typeface="Proxima Nova"/>
              <a:ea typeface="Proxima Nova"/>
              <a:cs typeface="Proxima Nova"/>
              <a:sym typeface="Proxima Nova"/>
            </a:endParaRPr>
          </a:p>
        </p:txBody>
      </p:sp>
      <p:sp>
        <p:nvSpPr>
          <p:cNvPr id="191" name="Google Shape;191;p29"/>
          <p:cNvSpPr/>
          <p:nvPr/>
        </p:nvSpPr>
        <p:spPr>
          <a:xfrm>
            <a:off x="3527600" y="2571750"/>
            <a:ext cx="1884300" cy="17937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mc:AlternateContent xmlns:mc="http://schemas.openxmlformats.org/markup-compatibility/2006" xmlns:a14="http://schemas.microsoft.com/office/drawing/2010/main">
        <mc:Choice Requires="a14">
          <p:sp>
            <p:nvSpPr>
              <p:cNvPr id="192" name="Google Shape;192;p29"/>
              <p:cNvSpPr txBox="1"/>
              <p:nvPr/>
            </p:nvSpPr>
            <p:spPr>
              <a:xfrm>
                <a:off x="3682396" y="2959199"/>
                <a:ext cx="1591200" cy="103182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solidFill>
                      <a:schemeClr val="dk2"/>
                    </a:solidFill>
                    <a:latin typeface="Proxima Nova"/>
                    <a:ea typeface="Proxima Nova"/>
                    <a:cs typeface="Proxima Nova"/>
                    <a:sym typeface="Proxima Nova"/>
                  </a:rPr>
                  <a:t>Message Space</a:t>
                </a:r>
              </a:p>
              <a:p>
                <a:pPr lvl="0" algn="ctr"/>
                <a14:m>
                  <m:oMathPara xmlns:m="http://schemas.openxmlformats.org/officeDocument/2006/math">
                    <m:oMathParaPr>
                      <m:jc m:val="centerGroup"/>
                    </m:oMathParaPr>
                    <m:oMath xmlns:m="http://schemas.openxmlformats.org/officeDocument/2006/math">
                      <m:r>
                        <a:rPr lang="en-US" sz="1800" i="1" smtClean="0">
                          <a:solidFill>
                            <a:schemeClr val="dk2"/>
                          </a:solidFill>
                          <a:latin typeface="Cambria Math" panose="02040503050406030204" pitchFamily="18" charset="0"/>
                          <a:ea typeface="Cambria Math" panose="02040503050406030204" pitchFamily="18" charset="0"/>
                          <a:cs typeface="Proxima Nova"/>
                          <a:sym typeface="Proxima Nova"/>
                        </a:rPr>
                        <m:t>𝑀</m:t>
                      </m:r>
                      <m:r>
                        <a:rPr lang="en-US" sz="1800" i="1" smtClean="0">
                          <a:solidFill>
                            <a:schemeClr val="dk2"/>
                          </a:solidFill>
                          <a:latin typeface="Cambria Math" panose="02040503050406030204" pitchFamily="18" charset="0"/>
                          <a:ea typeface="Cambria Math" panose="02040503050406030204" pitchFamily="18" charset="0"/>
                          <a:cs typeface="Proxima Nova"/>
                          <a:sym typeface="Proxima Nova"/>
                        </a:rPr>
                        <m:t>⊆</m:t>
                      </m:r>
                      <m:sSub>
                        <m:sSubPr>
                          <m:ctrlPr>
                            <a:rPr lang="en-US" sz="1800" i="1">
                              <a:solidFill>
                                <a:schemeClr val="dk2"/>
                              </a:solidFill>
                              <a:latin typeface="Cambria Math" panose="02040503050406030204" pitchFamily="18" charset="0"/>
                            </a:rPr>
                          </m:ctrlPr>
                        </m:sSubPr>
                        <m:e>
                          <m:r>
                            <a:rPr lang="en-US" sz="1800" i="1">
                              <a:solidFill>
                                <a:schemeClr val="dk2"/>
                              </a:solidFill>
                              <a:latin typeface="Cambria Math" panose="02040503050406030204" pitchFamily="18" charset="0"/>
                            </a:rPr>
                            <m:t>𝐹</m:t>
                          </m:r>
                        </m:e>
                        <m:sub>
                          <m:r>
                            <a:rPr lang="en-US" sz="1800" i="1">
                              <a:solidFill>
                                <a:schemeClr val="dk2"/>
                              </a:solidFill>
                              <a:latin typeface="Cambria Math" panose="02040503050406030204" pitchFamily="18" charset="0"/>
                            </a:rPr>
                            <m:t>𝑞</m:t>
                          </m:r>
                        </m:sub>
                      </m:sSub>
                    </m:oMath>
                  </m:oMathPara>
                </a14:m>
                <a:endParaRPr sz="1800" dirty="0">
                  <a:solidFill>
                    <a:schemeClr val="dk2"/>
                  </a:solidFill>
                  <a:latin typeface="Proxima Nova"/>
                  <a:ea typeface="Proxima Nova"/>
                  <a:cs typeface="Proxima Nova"/>
                  <a:sym typeface="Proxima Nova"/>
                </a:endParaRPr>
              </a:p>
            </p:txBody>
          </p:sp>
        </mc:Choice>
        <mc:Fallback xmlns="">
          <p:sp>
            <p:nvSpPr>
              <p:cNvPr id="192" name="Google Shape;192;p29"/>
              <p:cNvSpPr txBox="1">
                <a:spLocks noRot="1" noChangeAspect="1" noMove="1" noResize="1" noEditPoints="1" noAdjustHandles="1" noChangeArrowheads="1" noChangeShapeType="1" noTextEdit="1"/>
              </p:cNvSpPr>
              <p:nvPr/>
            </p:nvSpPr>
            <p:spPr>
              <a:xfrm>
                <a:off x="3682396" y="2959199"/>
                <a:ext cx="1591200" cy="1031825"/>
              </a:xfrm>
              <a:prstGeom prst="rect">
                <a:avLst/>
              </a:prstGeom>
              <a:blipFill>
                <a:blip r:embed="rId3"/>
                <a:stretch>
                  <a:fillRect/>
                </a:stretch>
              </a:blipFill>
              <a:ln>
                <a:noFill/>
              </a:ln>
            </p:spPr>
            <p:txBody>
              <a:bodyPr/>
              <a:lstStyle/>
              <a:p>
                <a:r>
                  <a:rPr lang="en-US">
                    <a:noFill/>
                  </a:rPr>
                  <a:t> </a:t>
                </a:r>
              </a:p>
            </p:txBody>
          </p:sp>
        </mc:Fallback>
      </mc:AlternateContent>
      <p:sp>
        <p:nvSpPr>
          <p:cNvPr id="193" name="Google Shape;193;p29"/>
          <p:cNvSpPr/>
          <p:nvPr/>
        </p:nvSpPr>
        <p:spPr>
          <a:xfrm>
            <a:off x="5512796" y="2909350"/>
            <a:ext cx="1374900" cy="957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94" name="Google Shape;194;p29"/>
          <p:cNvSpPr txBox="1"/>
          <p:nvPr/>
        </p:nvSpPr>
        <p:spPr>
          <a:xfrm>
            <a:off x="5638450" y="3136175"/>
            <a:ext cx="1298100" cy="47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Proxima Nova"/>
                <a:ea typeface="Proxima Nova"/>
                <a:cs typeface="Proxima Nova"/>
                <a:sym typeface="Proxima Nova"/>
              </a:rPr>
              <a:t>Map-to-G</a:t>
            </a:r>
            <a:endParaRPr sz="1800">
              <a:solidFill>
                <a:schemeClr val="dk2"/>
              </a:solidFill>
              <a:latin typeface="Proxima Nova"/>
              <a:ea typeface="Proxima Nova"/>
              <a:cs typeface="Proxima Nova"/>
              <a:sym typeface="Proxima Nova"/>
            </a:endParaRPr>
          </a:p>
        </p:txBody>
      </p:sp>
      <p:sp>
        <p:nvSpPr>
          <p:cNvPr id="195" name="Google Shape;195;p29"/>
          <p:cNvSpPr txBox="1"/>
          <p:nvPr/>
        </p:nvSpPr>
        <p:spPr>
          <a:xfrm>
            <a:off x="1834950" y="3838425"/>
            <a:ext cx="1710900" cy="25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Proxima Nova"/>
                <a:ea typeface="Proxima Nova"/>
                <a:cs typeface="Proxima Nova"/>
                <a:sym typeface="Proxima Nova"/>
              </a:rPr>
              <a:t>Random oracle</a:t>
            </a:r>
            <a:endParaRPr sz="1200">
              <a:solidFill>
                <a:schemeClr val="dk2"/>
              </a:solidFill>
              <a:latin typeface="Proxima Nova"/>
              <a:ea typeface="Proxima Nova"/>
              <a:cs typeface="Proxima Nova"/>
              <a:sym typeface="Proxima Nova"/>
            </a:endParaRPr>
          </a:p>
        </p:txBody>
      </p:sp>
      <p:sp>
        <p:nvSpPr>
          <p:cNvPr id="196" name="Google Shape;196;p29"/>
          <p:cNvSpPr txBox="1"/>
          <p:nvPr/>
        </p:nvSpPr>
        <p:spPr>
          <a:xfrm>
            <a:off x="5444100" y="3880275"/>
            <a:ext cx="2190900" cy="25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2"/>
                </a:solidFill>
                <a:latin typeface="Proxima Nova"/>
                <a:ea typeface="Proxima Nova"/>
                <a:cs typeface="Proxima Nova"/>
                <a:sym typeface="Proxima Nova"/>
              </a:rPr>
              <a:t>Almost Random oracle </a:t>
            </a:r>
          </a:p>
          <a:p>
            <a:pPr marL="0" lvl="0" indent="0" algn="l" rtl="0">
              <a:spcBef>
                <a:spcPts val="0"/>
              </a:spcBef>
              <a:spcAft>
                <a:spcPts val="0"/>
              </a:spcAft>
              <a:buNone/>
            </a:pPr>
            <a:r>
              <a:rPr lang="en" sz="1200" dirty="0">
                <a:solidFill>
                  <a:schemeClr val="dk2"/>
                </a:solidFill>
                <a:latin typeface="Proxima Nova"/>
                <a:ea typeface="Proxima Nova"/>
                <a:cs typeface="Proxima Nova"/>
                <a:sym typeface="Proxima Nova"/>
              </a:rPr>
              <a:t>(EC-GGM)</a:t>
            </a:r>
            <a:endParaRPr sz="1200" dirty="0">
              <a:solidFill>
                <a:schemeClr val="dk2"/>
              </a:solidFill>
              <a:latin typeface="Proxima Nova"/>
              <a:ea typeface="Proxima Nova"/>
              <a:cs typeface="Proxima Nova"/>
              <a:sym typeface="Proxima Nova"/>
            </a:endParaRPr>
          </a:p>
        </p:txBody>
      </p:sp>
      <p:sp>
        <p:nvSpPr>
          <p:cNvPr id="19" name="Google Shape;186;p29">
            <a:extLst>
              <a:ext uri="{FF2B5EF4-FFF2-40B4-BE49-F238E27FC236}">
                <a16:creationId xmlns:a16="http://schemas.microsoft.com/office/drawing/2014/main" id="{3DD56733-A6D7-CC47-B0FC-80B1691BA78B}"/>
              </a:ext>
            </a:extLst>
          </p:cNvPr>
          <p:cNvSpPr txBox="1"/>
          <p:nvPr/>
        </p:nvSpPr>
        <p:spPr>
          <a:xfrm>
            <a:off x="237896" y="2922375"/>
            <a:ext cx="1591200" cy="50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Proxima Nova"/>
                <a:ea typeface="Proxima Nova"/>
                <a:cs typeface="Proxima Nova"/>
                <a:sym typeface="Proxima Nova"/>
              </a:rPr>
              <a:t>Message </a:t>
            </a:r>
          </a:p>
          <a:p>
            <a:pPr marL="0" lvl="0" indent="0" algn="ctr" rtl="0">
              <a:spcBef>
                <a:spcPts val="0"/>
              </a:spcBef>
              <a:spcAft>
                <a:spcPts val="0"/>
              </a:spcAft>
              <a:buNone/>
            </a:pPr>
            <a:r>
              <a:rPr lang="en" sz="1800" i="1" dirty="0">
                <a:solidFill>
                  <a:schemeClr val="dk2"/>
                </a:solidFill>
                <a:latin typeface="Proxima Nova"/>
                <a:ea typeface="Proxima Nova"/>
                <a:cs typeface="Proxima Nova"/>
                <a:sym typeface="Proxima Nova"/>
              </a:rPr>
              <a:t>Space</a:t>
            </a:r>
          </a:p>
          <a:p>
            <a:pPr marL="0" lvl="0" indent="0" algn="ctr" rtl="0">
              <a:spcBef>
                <a:spcPts val="0"/>
              </a:spcBef>
              <a:spcAft>
                <a:spcPts val="0"/>
              </a:spcAft>
              <a:buNone/>
            </a:pPr>
            <a:r>
              <a:rPr lang="en" sz="1800" i="1" dirty="0">
                <a:solidFill>
                  <a:schemeClr val="dk2"/>
                </a:solidFill>
                <a:latin typeface="Proxima Nova"/>
                <a:ea typeface="Proxima Nova"/>
                <a:cs typeface="Proxima Nova"/>
                <a:sym typeface="Proxima Nova"/>
              </a:rPr>
              <a:t>M</a:t>
            </a:r>
            <a:endParaRPr sz="1800" i="1" dirty="0">
              <a:solidFill>
                <a:schemeClr val="dk2"/>
              </a:solidFill>
              <a:latin typeface="Proxima Nova"/>
              <a:ea typeface="Proxima Nova"/>
              <a:cs typeface="Proxima Nova"/>
              <a:sym typeface="Proxima Nova"/>
            </a:endParaRPr>
          </a:p>
        </p:txBody>
      </p:sp>
      <p:grpSp>
        <p:nvGrpSpPr>
          <p:cNvPr id="197" name="Google Shape;197;p29"/>
          <p:cNvGrpSpPr/>
          <p:nvPr/>
        </p:nvGrpSpPr>
        <p:grpSpPr>
          <a:xfrm>
            <a:off x="430752" y="2210279"/>
            <a:ext cx="2761091" cy="2749200"/>
            <a:chOff x="430752" y="2210279"/>
            <a:chExt cx="2761091" cy="2749200"/>
          </a:xfrm>
        </p:grpSpPr>
        <p:sp>
          <p:nvSpPr>
            <p:cNvPr id="198" name="Google Shape;198;p29"/>
            <p:cNvSpPr/>
            <p:nvPr/>
          </p:nvSpPr>
          <p:spPr>
            <a:xfrm rot="2700000">
              <a:off x="-71483" y="3518430"/>
              <a:ext cx="3750070" cy="132795"/>
            </a:xfrm>
            <a:prstGeom prst="rect">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sp>
          <p:nvSpPr>
            <p:cNvPr id="199" name="Google Shape;199;p29"/>
            <p:cNvSpPr/>
            <p:nvPr/>
          </p:nvSpPr>
          <p:spPr>
            <a:xfrm rot="8095333">
              <a:off x="-54194" y="3518482"/>
              <a:ext cx="3750074" cy="132795"/>
            </a:xfrm>
            <a:prstGeom prst="rect">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roxima Nova"/>
                <a:ea typeface="Proxima Nova"/>
                <a:cs typeface="Proxima Nova"/>
                <a:sym typeface="Proxima Nova"/>
              </a:endParaRPr>
            </a:p>
          </p:txBody>
        </p:sp>
      </p:grpSp>
    </p:spTree>
    <p:extLst>
      <p:ext uri="{BB962C8B-B14F-4D97-AF65-F5344CB8AC3E}">
        <p14:creationId xmlns:p14="http://schemas.microsoft.com/office/powerpoint/2010/main" val="425697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00" dirty="0"/>
              <a:t>Map-to-Group Function [BLS’01]</a:t>
            </a:r>
            <a:endParaRPr sz="2600" dirty="0"/>
          </a:p>
        </p:txBody>
      </p:sp>
      <p:sp>
        <p:nvSpPr>
          <p:cNvPr id="205" name="Google Shape;205;p30"/>
          <p:cNvSpPr txBox="1">
            <a:spLocks noGrp="1"/>
          </p:cNvSpPr>
          <p:nvPr>
            <p:ph type="body" idx="1"/>
          </p:nvPr>
        </p:nvSpPr>
        <p:spPr>
          <a:xfrm>
            <a:off x="311700" y="1118857"/>
            <a:ext cx="8520600" cy="3990900"/>
          </a:xfrm>
          <a:prstGeom prst="rect">
            <a:avLst/>
          </a:prstGeom>
        </p:spPr>
        <p:txBody>
          <a:bodyPr spcFirstLastPara="1" wrap="square" lIns="91425" tIns="91425" rIns="91425" bIns="91425" anchor="t" anchorCtr="0">
            <a:normAutofit fontScale="92500" lnSpcReduction="10000"/>
          </a:bodyPr>
          <a:lstStyle/>
          <a:p>
            <a:pPr marL="0" lvl="0" indent="0" algn="l" rtl="0">
              <a:lnSpc>
                <a:spcPct val="100000"/>
              </a:lnSpc>
              <a:spcBef>
                <a:spcPts val="0"/>
              </a:spcBef>
              <a:spcAft>
                <a:spcPts val="0"/>
              </a:spcAft>
              <a:buNone/>
            </a:pPr>
            <a:r>
              <a:rPr lang="en" b="1" dirty="0"/>
              <a:t>Parameters: </a:t>
            </a:r>
            <a:r>
              <a:rPr lang="en" dirty="0"/>
              <a:t>Group G is an elliptic curve group </a:t>
            </a:r>
            <a:r>
              <a:rPr lang="en" i="1" dirty="0"/>
              <a:t>E(</a:t>
            </a:r>
            <a:r>
              <a:rPr lang="en" i="1" dirty="0" err="1"/>
              <a:t>F</a:t>
            </a:r>
            <a:r>
              <a:rPr lang="en" i="1" baseline="-25000" dirty="0" err="1"/>
              <a:t>q</a:t>
            </a:r>
            <a:r>
              <a:rPr lang="en" i="1" dirty="0"/>
              <a:t>): y</a:t>
            </a:r>
            <a:r>
              <a:rPr lang="en" i="1" baseline="30000" dirty="0"/>
              <a:t>2</a:t>
            </a:r>
            <a:r>
              <a:rPr lang="en" i="1" dirty="0"/>
              <a:t> = x</a:t>
            </a:r>
            <a:r>
              <a:rPr lang="en" i="1" baseline="30000" dirty="0"/>
              <a:t>3</a:t>
            </a:r>
            <a:r>
              <a:rPr lang="en" i="1" dirty="0"/>
              <a:t> + ax + b</a:t>
            </a:r>
            <a:r>
              <a:rPr lang="en" dirty="0"/>
              <a:t> with </a:t>
            </a:r>
            <a:r>
              <a:rPr lang="en" i="1" dirty="0"/>
              <a:t>p</a:t>
            </a:r>
            <a:r>
              <a:rPr lang="en" dirty="0"/>
              <a:t> points, </a:t>
            </a:r>
            <a:endParaRPr dirty="0"/>
          </a:p>
          <a:p>
            <a:pPr marL="1371600" lvl="0" indent="0" algn="l" rtl="0">
              <a:lnSpc>
                <a:spcPct val="100000"/>
              </a:lnSpc>
              <a:spcBef>
                <a:spcPts val="0"/>
              </a:spcBef>
              <a:spcAft>
                <a:spcPts val="0"/>
              </a:spcAft>
              <a:buNone/>
            </a:pPr>
            <a:r>
              <a:rPr lang="en" dirty="0"/>
              <a:t>Message space </a:t>
            </a:r>
            <a:r>
              <a:rPr lang="en" i="1" dirty="0"/>
              <a:t>M = {0, 1, …, 2</a:t>
            </a:r>
            <a:r>
              <a:rPr lang="en" i="1" baseline="30000" dirty="0"/>
              <a:t>k</a:t>
            </a:r>
            <a:r>
              <a:rPr lang="en" i="1" dirty="0"/>
              <a:t> - 1}</a:t>
            </a:r>
            <a:r>
              <a:rPr lang="en" dirty="0"/>
              <a:t>   </a:t>
            </a:r>
            <a:r>
              <a:rPr lang="en" dirty="0">
                <a:solidFill>
                  <a:schemeClr val="accent3"/>
                </a:solidFill>
              </a:rPr>
              <a:t>e.g. in a </a:t>
            </a:r>
            <a:r>
              <a:rPr lang="en" dirty="0" err="1">
                <a:solidFill>
                  <a:schemeClr val="accent3"/>
                </a:solidFill>
              </a:rPr>
              <a:t>zk-vm</a:t>
            </a:r>
            <a:r>
              <a:rPr lang="en" dirty="0">
                <a:solidFill>
                  <a:schemeClr val="accent3"/>
                </a:solidFill>
              </a:rPr>
              <a:t> k = 96, so we get 3 32 byte words     </a:t>
            </a:r>
            <a:endParaRPr dirty="0">
              <a:solidFill>
                <a:schemeClr val="accent3"/>
              </a:solidFill>
            </a:endParaRPr>
          </a:p>
          <a:p>
            <a:pPr marL="1371600" lvl="0" indent="0" algn="l" rtl="0">
              <a:lnSpc>
                <a:spcPct val="100000"/>
              </a:lnSpc>
              <a:spcBef>
                <a:spcPts val="0"/>
              </a:spcBef>
              <a:spcAft>
                <a:spcPts val="0"/>
              </a:spcAft>
              <a:buNone/>
            </a:pPr>
            <a:r>
              <a:rPr lang="en" dirty="0"/>
              <a:t>Tweak space </a:t>
            </a:r>
            <a:r>
              <a:rPr lang="en" i="1" dirty="0"/>
              <a:t>T = {0, 1, …, 2</a:t>
            </a:r>
            <a:r>
              <a:rPr lang="en" i="1" baseline="30000" dirty="0"/>
              <a:t>u</a:t>
            </a:r>
            <a:r>
              <a:rPr lang="en" i="1" dirty="0"/>
              <a:t> - 1}</a:t>
            </a:r>
            <a:r>
              <a:rPr lang="en" dirty="0"/>
              <a:t>   </a:t>
            </a:r>
            <a:r>
              <a:rPr lang="en" dirty="0">
                <a:solidFill>
                  <a:schemeClr val="accent3"/>
                </a:solidFill>
              </a:rPr>
              <a:t>e.g. u = 8 (1 byte tweak). </a:t>
            </a:r>
            <a:endParaRPr dirty="0"/>
          </a:p>
          <a:p>
            <a:pPr marL="0" lvl="0" indent="0" algn="l" rtl="0">
              <a:lnSpc>
                <a:spcPct val="115000"/>
              </a:lnSpc>
              <a:spcBef>
                <a:spcPts val="0"/>
              </a:spcBef>
              <a:spcAft>
                <a:spcPts val="0"/>
              </a:spcAft>
              <a:buNone/>
            </a:pPr>
            <a:r>
              <a:rPr lang="en" b="1" dirty="0"/>
              <a:t>Procedure:</a:t>
            </a:r>
            <a:r>
              <a:rPr lang="en" dirty="0"/>
              <a:t> to compute </a:t>
            </a:r>
            <a:r>
              <a:rPr lang="en" i="1" dirty="0" err="1"/>
              <a:t>MapToGroup</a:t>
            </a:r>
            <a:r>
              <a:rPr lang="en" i="1" dirty="0"/>
              <a:t>(m)</a:t>
            </a:r>
            <a:r>
              <a:rPr lang="en" dirty="0"/>
              <a:t>:</a:t>
            </a:r>
            <a:endParaRPr dirty="0"/>
          </a:p>
          <a:p>
            <a:pPr marL="457200" lvl="0" indent="-342900" algn="l" rtl="0">
              <a:lnSpc>
                <a:spcPct val="115000"/>
              </a:lnSpc>
              <a:spcBef>
                <a:spcPts val="0"/>
              </a:spcBef>
              <a:spcAft>
                <a:spcPts val="0"/>
              </a:spcAft>
              <a:buSzPts val="1800"/>
              <a:buChar char="●"/>
            </a:pPr>
            <a:r>
              <a:rPr lang="en" i="1" dirty="0"/>
              <a:t>t = 0</a:t>
            </a:r>
            <a:r>
              <a:rPr lang="en" dirty="0"/>
              <a:t>, </a:t>
            </a:r>
            <a:endParaRPr dirty="0"/>
          </a:p>
          <a:p>
            <a:pPr marL="457200" lvl="0" indent="-342900" algn="l" rtl="0">
              <a:lnSpc>
                <a:spcPct val="115000"/>
              </a:lnSpc>
              <a:spcBef>
                <a:spcPts val="0"/>
              </a:spcBef>
              <a:spcAft>
                <a:spcPts val="0"/>
              </a:spcAft>
              <a:buSzPts val="1800"/>
              <a:buChar char="●"/>
            </a:pPr>
            <a:r>
              <a:rPr lang="en" i="1" dirty="0"/>
              <a:t>x = t + m |T|</a:t>
            </a:r>
            <a:r>
              <a:rPr lang="en" dirty="0"/>
              <a:t>  and  </a:t>
            </a:r>
            <a:r>
              <a:rPr lang="en" i="1" dirty="0"/>
              <a:t>y</a:t>
            </a:r>
            <a:r>
              <a:rPr lang="en" dirty="0"/>
              <a:t> is computed using the curve eq.</a:t>
            </a:r>
            <a:endParaRPr dirty="0"/>
          </a:p>
          <a:p>
            <a:pPr marL="457200" lvl="0" indent="-342900" algn="l" rtl="0">
              <a:lnSpc>
                <a:spcPct val="115000"/>
              </a:lnSpc>
              <a:spcBef>
                <a:spcPts val="0"/>
              </a:spcBef>
              <a:spcAft>
                <a:spcPts val="0"/>
              </a:spcAft>
              <a:buSzPts val="1800"/>
              <a:buChar char="●"/>
            </a:pPr>
            <a:r>
              <a:rPr lang="en" dirty="0"/>
              <a:t>While (x, y) is not a valid curve </a:t>
            </a:r>
            <a:r>
              <a:rPr lang="en" dirty="0" err="1"/>
              <a:t>pt</a:t>
            </a:r>
            <a:r>
              <a:rPr lang="en" dirty="0"/>
              <a:t>: </a:t>
            </a:r>
            <a:endParaRPr dirty="0"/>
          </a:p>
          <a:p>
            <a:pPr marL="914400" lvl="1" indent="-342900" algn="l" rtl="0">
              <a:lnSpc>
                <a:spcPct val="115000"/>
              </a:lnSpc>
              <a:spcBef>
                <a:spcPts val="0"/>
              </a:spcBef>
              <a:spcAft>
                <a:spcPts val="0"/>
              </a:spcAft>
              <a:buSzPts val="1800"/>
              <a:buChar char="○"/>
            </a:pPr>
            <a:r>
              <a:rPr lang="en" sz="1800" i="1" dirty="0"/>
              <a:t>t = t + 1</a:t>
            </a:r>
            <a:endParaRPr sz="1800" i="1" dirty="0"/>
          </a:p>
          <a:p>
            <a:pPr marL="914400" lvl="1" indent="-342900" algn="l" rtl="0">
              <a:lnSpc>
                <a:spcPct val="115000"/>
              </a:lnSpc>
              <a:spcBef>
                <a:spcPts val="0"/>
              </a:spcBef>
              <a:spcAft>
                <a:spcPts val="0"/>
              </a:spcAft>
              <a:buSzPts val="1800"/>
              <a:buChar char="○"/>
            </a:pPr>
            <a:r>
              <a:rPr lang="en" sz="1800" i="1" dirty="0"/>
              <a:t>x = t + m |T|</a:t>
            </a:r>
            <a:r>
              <a:rPr lang="en" sz="1800" dirty="0"/>
              <a:t>, </a:t>
            </a:r>
            <a:r>
              <a:rPr lang="en" sz="1800" i="1" dirty="0"/>
              <a:t>y</a:t>
            </a:r>
            <a:r>
              <a:rPr lang="en" sz="1800" dirty="0"/>
              <a:t> is computed using the curve eq.</a:t>
            </a:r>
            <a:endParaRPr sz="1800" dirty="0"/>
          </a:p>
          <a:p>
            <a:pPr marL="457200" lvl="0" indent="-342900" algn="l" rtl="0">
              <a:lnSpc>
                <a:spcPct val="115000"/>
              </a:lnSpc>
              <a:spcBef>
                <a:spcPts val="0"/>
              </a:spcBef>
              <a:spcAft>
                <a:spcPts val="0"/>
              </a:spcAft>
              <a:buSzPts val="1800"/>
              <a:buChar char="●"/>
            </a:pPr>
            <a:r>
              <a:rPr lang="en" dirty="0"/>
              <a:t>Return </a:t>
            </a:r>
            <a:r>
              <a:rPr lang="en" i="1" dirty="0"/>
              <a:t>(x, y).</a:t>
            </a:r>
            <a:endParaRPr i="1" dirty="0"/>
          </a:p>
          <a:p>
            <a:pPr marL="0" lvl="0" indent="0" algn="l" rtl="0">
              <a:lnSpc>
                <a:spcPct val="100000"/>
              </a:lnSpc>
              <a:spcBef>
                <a:spcPts val="0"/>
              </a:spcBef>
              <a:spcAft>
                <a:spcPts val="0"/>
              </a:spcAft>
              <a:buNone/>
            </a:pPr>
            <a:endParaRPr b="1" u="sng" dirty="0"/>
          </a:p>
          <a:p>
            <a:pPr marL="0" lvl="0" indent="0" algn="l" rtl="0">
              <a:lnSpc>
                <a:spcPct val="100000"/>
              </a:lnSpc>
              <a:spcBef>
                <a:spcPts val="0"/>
              </a:spcBef>
              <a:spcAft>
                <a:spcPts val="0"/>
              </a:spcAft>
              <a:buNone/>
            </a:pPr>
            <a:r>
              <a:rPr lang="en" b="1" u="sng" dirty="0"/>
              <a:t>Issues:</a:t>
            </a:r>
            <a:endParaRPr lang="en" b="1" dirty="0"/>
          </a:p>
          <a:p>
            <a:pPr marL="0" lvl="0" indent="0" algn="l" rtl="0">
              <a:lnSpc>
                <a:spcPct val="100000"/>
              </a:lnSpc>
              <a:spcBef>
                <a:spcPts val="0"/>
              </a:spcBef>
              <a:spcAft>
                <a:spcPts val="0"/>
              </a:spcAft>
              <a:buNone/>
            </a:pPr>
            <a:r>
              <a:rPr lang="en" b="1" dirty="0"/>
              <a:t>	</a:t>
            </a:r>
            <a:r>
              <a:rPr lang="en" dirty="0"/>
              <a:t>1. This map-to-group function is non-deterministic.</a:t>
            </a:r>
            <a:endParaRPr dirty="0"/>
          </a:p>
          <a:p>
            <a:pPr marL="0" lvl="0" indent="0" algn="l" rtl="0">
              <a:lnSpc>
                <a:spcPct val="100000"/>
              </a:lnSpc>
              <a:spcBef>
                <a:spcPts val="0"/>
              </a:spcBef>
              <a:spcAft>
                <a:spcPts val="0"/>
              </a:spcAft>
              <a:buNone/>
            </a:pPr>
            <a:r>
              <a:rPr lang="en" dirty="0"/>
              <a:t>	2. The “while loop” uses many constraints. </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5">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0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Map-to-Group Languages and Relations</a:t>
            </a:r>
            <a:endParaRPr/>
          </a:p>
        </p:txBody>
      </p:sp>
      <p:sp>
        <p:nvSpPr>
          <p:cNvPr id="211" name="Google Shape;211;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t>Idea: </a:t>
            </a:r>
            <a:r>
              <a:rPr lang="en" dirty="0"/>
              <a:t>In constraint programming, we can allow for </a:t>
            </a:r>
            <a:r>
              <a:rPr lang="en" dirty="0" err="1"/>
              <a:t>nondeterministism</a:t>
            </a:r>
            <a:r>
              <a:rPr lang="en" dirty="0"/>
              <a:t>.</a:t>
            </a:r>
            <a:endParaRPr dirty="0"/>
          </a:p>
          <a:p>
            <a:pPr marL="0" lvl="0" indent="0" algn="l" rtl="0">
              <a:spcBef>
                <a:spcPts val="1200"/>
              </a:spcBef>
              <a:spcAft>
                <a:spcPts val="0"/>
              </a:spcAft>
              <a:buNone/>
            </a:pPr>
            <a:r>
              <a:rPr lang="en" b="1" dirty="0"/>
              <a:t>Instead of viewing Map-to-Group as a function, we view it as a </a:t>
            </a:r>
            <a:r>
              <a:rPr lang="en" b="1" i="1" dirty="0"/>
              <a:t>relation</a:t>
            </a:r>
            <a:r>
              <a:rPr lang="en" b="1" dirty="0"/>
              <a:t>! </a:t>
            </a:r>
            <a:endParaRPr dirty="0"/>
          </a:p>
          <a:p>
            <a:pPr marL="457200" lvl="0" indent="-342900" algn="l" rtl="0">
              <a:lnSpc>
                <a:spcPct val="100000"/>
              </a:lnSpc>
              <a:spcBef>
                <a:spcPts val="1200"/>
              </a:spcBef>
              <a:spcAft>
                <a:spcPts val="0"/>
              </a:spcAft>
              <a:buSzPts val="1800"/>
              <a:buChar char="●"/>
            </a:pPr>
            <a:r>
              <a:rPr lang="en" dirty="0"/>
              <a:t>Relation </a:t>
            </a:r>
            <a:r>
              <a:rPr lang="en" i="1" dirty="0"/>
              <a:t>R</a:t>
            </a:r>
            <a:r>
              <a:rPr lang="en" i="1" baseline="-25000" dirty="0"/>
              <a:t>M2G</a:t>
            </a:r>
            <a:r>
              <a:rPr lang="en" i="1" dirty="0"/>
              <a:t>(m, P, w)</a:t>
            </a:r>
            <a:r>
              <a:rPr lang="en" dirty="0"/>
              <a:t> with:</a:t>
            </a:r>
            <a:endParaRPr dirty="0"/>
          </a:p>
          <a:p>
            <a:pPr marL="914400" lvl="1" indent="-336550" algn="l" rtl="0">
              <a:lnSpc>
                <a:spcPct val="100000"/>
              </a:lnSpc>
              <a:spcBef>
                <a:spcPts val="1000"/>
              </a:spcBef>
              <a:spcAft>
                <a:spcPts val="0"/>
              </a:spcAft>
              <a:buSzPts val="1700"/>
              <a:buChar char="○"/>
            </a:pPr>
            <a:r>
              <a:rPr lang="en" sz="1700" dirty="0"/>
              <a:t>Point constraint: </a:t>
            </a:r>
            <a:r>
              <a:rPr lang="en" sz="1700" i="1" dirty="0"/>
              <a:t>P∈ G</a:t>
            </a:r>
            <a:r>
              <a:rPr lang="en" sz="1700" dirty="0"/>
              <a:t>.</a:t>
            </a:r>
            <a:endParaRPr sz="1700" dirty="0"/>
          </a:p>
          <a:p>
            <a:pPr marL="914400" lvl="1" indent="-336550" algn="l" rtl="0">
              <a:lnSpc>
                <a:spcPct val="100000"/>
              </a:lnSpc>
              <a:spcBef>
                <a:spcPts val="1000"/>
              </a:spcBef>
              <a:spcAft>
                <a:spcPts val="0"/>
              </a:spcAft>
              <a:buSzPts val="1700"/>
              <a:buChar char="○"/>
            </a:pPr>
            <a:r>
              <a:rPr lang="en" sz="1700" dirty="0"/>
              <a:t>x-constraint: ensures injectivity </a:t>
            </a:r>
            <a:r>
              <a:rPr lang="en" sz="1700" dirty="0" err="1"/>
              <a:t>wrt</a:t>
            </a:r>
            <a:r>
              <a:rPr lang="en" sz="1700" dirty="0"/>
              <a:t> m.</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Map-to-Group Languages and Relations</a:t>
            </a:r>
            <a:endParaRPr/>
          </a:p>
        </p:txBody>
      </p:sp>
      <p:sp>
        <p:nvSpPr>
          <p:cNvPr id="217" name="Google Shape;217;p32"/>
          <p:cNvSpPr txBox="1">
            <a:spLocks noGrp="1"/>
          </p:cNvSpPr>
          <p:nvPr>
            <p:ph type="body" idx="1"/>
          </p:nvPr>
        </p:nvSpPr>
        <p:spPr>
          <a:xfrm>
            <a:off x="311700" y="1152475"/>
            <a:ext cx="8520600" cy="18339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b="1" dirty="0"/>
              <a:t>Idea: </a:t>
            </a:r>
            <a:r>
              <a:rPr lang="en" dirty="0"/>
              <a:t>allow </a:t>
            </a:r>
            <a:r>
              <a:rPr lang="en" i="1" dirty="0"/>
              <a:t>nondeterministic</a:t>
            </a:r>
            <a:r>
              <a:rPr lang="en" dirty="0"/>
              <a:t> map-to-group outputs in the circuit:</a:t>
            </a:r>
            <a:endParaRPr dirty="0"/>
          </a:p>
          <a:p>
            <a:pPr marL="457200" lvl="0" indent="-325755" algn="l" rtl="0">
              <a:spcBef>
                <a:spcPts val="1200"/>
              </a:spcBef>
              <a:spcAft>
                <a:spcPts val="0"/>
              </a:spcAft>
              <a:buSzPct val="100000"/>
              <a:buChar char="●"/>
            </a:pPr>
            <a:r>
              <a:rPr lang="en" dirty="0"/>
              <a:t>A map-to-group language </a:t>
            </a:r>
            <a:r>
              <a:rPr lang="en" i="1" dirty="0"/>
              <a:t>L: pairs (m, P)</a:t>
            </a:r>
            <a:r>
              <a:rPr lang="en" dirty="0"/>
              <a:t> that are allowed.</a:t>
            </a:r>
            <a:endParaRPr dirty="0"/>
          </a:p>
          <a:p>
            <a:pPr marL="457200" lvl="0" indent="-325755" algn="l" rtl="0">
              <a:lnSpc>
                <a:spcPct val="100000"/>
              </a:lnSpc>
              <a:spcBef>
                <a:spcPts val="1000"/>
              </a:spcBef>
              <a:spcAft>
                <a:spcPts val="0"/>
              </a:spcAft>
              <a:buSzPct val="100000"/>
              <a:buChar char="●"/>
            </a:pPr>
            <a:r>
              <a:rPr lang="en" dirty="0"/>
              <a:t>Relation </a:t>
            </a:r>
            <a:r>
              <a:rPr lang="en" i="1" dirty="0"/>
              <a:t>R</a:t>
            </a:r>
            <a:r>
              <a:rPr lang="en" i="1" baseline="-25000" dirty="0"/>
              <a:t>M2G</a:t>
            </a:r>
            <a:r>
              <a:rPr lang="en" i="1" dirty="0"/>
              <a:t>(m, P, w)</a:t>
            </a:r>
            <a:r>
              <a:rPr lang="en" dirty="0"/>
              <a:t> with:</a:t>
            </a:r>
            <a:endParaRPr dirty="0"/>
          </a:p>
          <a:p>
            <a:pPr marL="914400" lvl="1" indent="-308687" algn="l" rtl="0">
              <a:lnSpc>
                <a:spcPct val="70000"/>
              </a:lnSpc>
              <a:spcBef>
                <a:spcPts val="1000"/>
              </a:spcBef>
              <a:spcAft>
                <a:spcPts val="0"/>
              </a:spcAft>
              <a:buSzPct val="100000"/>
              <a:buChar char="○"/>
            </a:pPr>
            <a:r>
              <a:rPr lang="en" sz="1483" dirty="0"/>
              <a:t>Point constraint: </a:t>
            </a:r>
            <a:r>
              <a:rPr lang="en" sz="1483" i="1" dirty="0"/>
              <a:t>P∈ G</a:t>
            </a:r>
            <a:r>
              <a:rPr lang="en" sz="1483" dirty="0"/>
              <a:t>.</a:t>
            </a:r>
            <a:endParaRPr sz="1483" dirty="0"/>
          </a:p>
          <a:p>
            <a:pPr marL="914400" lvl="1" indent="-308687" algn="l" rtl="0">
              <a:lnSpc>
                <a:spcPct val="70000"/>
              </a:lnSpc>
              <a:spcBef>
                <a:spcPts val="1000"/>
              </a:spcBef>
              <a:spcAft>
                <a:spcPts val="0"/>
              </a:spcAft>
              <a:buSzPct val="100000"/>
              <a:buChar char="○"/>
            </a:pPr>
            <a:r>
              <a:rPr lang="en" sz="1483" dirty="0"/>
              <a:t>x-constraint: ensures injectivity </a:t>
            </a:r>
            <a:r>
              <a:rPr lang="en" sz="1483" dirty="0" err="1"/>
              <a:t>wrt</a:t>
            </a:r>
            <a:r>
              <a:rPr lang="en" sz="1483" dirty="0"/>
              <a:t> m.</a:t>
            </a:r>
            <a:endParaRPr sz="1700" dirty="0"/>
          </a:p>
        </p:txBody>
      </p:sp>
      <p:sp>
        <p:nvSpPr>
          <p:cNvPr id="218" name="Google Shape;218;p32"/>
          <p:cNvSpPr txBox="1">
            <a:spLocks noGrp="1"/>
          </p:cNvSpPr>
          <p:nvPr>
            <p:ph type="body" idx="1"/>
          </p:nvPr>
        </p:nvSpPr>
        <p:spPr>
          <a:xfrm>
            <a:off x="311700" y="2911624"/>
            <a:ext cx="7849200" cy="22569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b="1" dirty="0"/>
              <a:t>In the circuit:</a:t>
            </a:r>
            <a:endParaRPr b="1" dirty="0"/>
          </a:p>
          <a:p>
            <a:pPr marL="457200" lvl="0" indent="-342900" algn="l" rtl="0">
              <a:spcBef>
                <a:spcPts val="1200"/>
              </a:spcBef>
              <a:spcAft>
                <a:spcPts val="0"/>
              </a:spcAft>
              <a:buSzPts val="1800"/>
              <a:buChar char="●"/>
            </a:pPr>
            <a:r>
              <a:rPr lang="en" dirty="0"/>
              <a:t>Prover picks witness </a:t>
            </a:r>
            <a:r>
              <a:rPr lang="en" i="1" dirty="0"/>
              <a:t>w = t</a:t>
            </a:r>
            <a:r>
              <a:rPr lang="en" dirty="0"/>
              <a:t> “for free” (</a:t>
            </a:r>
            <a:r>
              <a:rPr lang="en" dirty="0" err="1"/>
              <a:t>nondeterministically</a:t>
            </a:r>
            <a:r>
              <a:rPr lang="en" dirty="0"/>
              <a:t>) and inputs </a:t>
            </a:r>
            <a:r>
              <a:rPr lang="en" i="1" dirty="0"/>
              <a:t>(m, (x, y)), w</a:t>
            </a:r>
            <a:r>
              <a:rPr lang="en" dirty="0"/>
              <a:t>: </a:t>
            </a:r>
            <a:endParaRPr dirty="0"/>
          </a:p>
          <a:p>
            <a:pPr marL="457200" lvl="0" indent="-342900" algn="l" rtl="0">
              <a:spcBef>
                <a:spcPts val="0"/>
              </a:spcBef>
              <a:spcAft>
                <a:spcPts val="0"/>
              </a:spcAft>
              <a:buSzPts val="1800"/>
              <a:buChar char="●"/>
            </a:pPr>
            <a:r>
              <a:rPr lang="en" dirty="0"/>
              <a:t>Verifier just checks </a:t>
            </a:r>
            <a:endParaRPr dirty="0"/>
          </a:p>
          <a:p>
            <a:pPr marL="914400" lvl="1" indent="-324970" algn="l" rtl="0">
              <a:spcBef>
                <a:spcPts val="0"/>
              </a:spcBef>
              <a:spcAft>
                <a:spcPts val="0"/>
              </a:spcAft>
              <a:buSzPts val="1518"/>
              <a:buAutoNum type="alphaLcPeriod"/>
            </a:pPr>
            <a:r>
              <a:rPr lang="en" sz="1517" i="1" dirty="0"/>
              <a:t>x  = t + m |T|,</a:t>
            </a:r>
            <a:endParaRPr sz="1517" i="1" dirty="0"/>
          </a:p>
          <a:p>
            <a:pPr marL="914400" lvl="1" indent="-324970" algn="l" rtl="0">
              <a:spcBef>
                <a:spcPts val="0"/>
              </a:spcBef>
              <a:spcAft>
                <a:spcPts val="0"/>
              </a:spcAft>
              <a:buSzPts val="1518"/>
              <a:buAutoNum type="alphaLcPeriod"/>
            </a:pPr>
            <a:r>
              <a:rPr lang="en" sz="1517" i="1" dirty="0"/>
              <a:t>y</a:t>
            </a:r>
            <a:r>
              <a:rPr lang="en" sz="1517" i="1" baseline="30000" dirty="0"/>
              <a:t>2</a:t>
            </a:r>
            <a:r>
              <a:rPr lang="en" sz="1517" i="1" dirty="0"/>
              <a:t> = x</a:t>
            </a:r>
            <a:r>
              <a:rPr lang="en" sz="1517" i="1" baseline="30000" dirty="0"/>
              <a:t>3</a:t>
            </a:r>
            <a:r>
              <a:rPr lang="en" sz="1517" i="1" dirty="0"/>
              <a:t> + ax + b</a:t>
            </a:r>
            <a:r>
              <a:rPr lang="en" sz="1517" dirty="0"/>
              <a:t>,   // Group law</a:t>
            </a:r>
            <a:endParaRPr sz="1517" i="1" dirty="0"/>
          </a:p>
          <a:p>
            <a:pPr marL="0" lvl="0" indent="0" algn="l" rtl="0">
              <a:spcBef>
                <a:spcPts val="1200"/>
              </a:spcBef>
              <a:spcAft>
                <a:spcPts val="1200"/>
              </a:spcAft>
              <a:buNone/>
            </a:pPr>
            <a:r>
              <a:rPr lang="en" dirty="0"/>
              <a:t>We’ve traded a heavy hash-to-curve function for a light relation 🙂</a:t>
            </a:r>
            <a:endParaRPr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22"/>
        <p:cNvGrpSpPr/>
        <p:nvPr/>
      </p:nvGrpSpPr>
      <p:grpSpPr>
        <a:xfrm>
          <a:off x="0" y="0"/>
          <a:ext cx="0" cy="0"/>
          <a:chOff x="0" y="0"/>
          <a:chExt cx="0" cy="0"/>
        </a:xfrm>
      </p:grpSpPr>
      <p:sp>
        <p:nvSpPr>
          <p:cNvPr id="223" name="Google Shape;223;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Map-to-Elliptic Curve</a:t>
            </a:r>
            <a:endParaRPr/>
          </a:p>
        </p:txBody>
      </p:sp>
      <p:pic>
        <p:nvPicPr>
          <p:cNvPr id="224" name="Google Shape;224;p33"/>
          <p:cNvPicPr preferRelativeResize="0"/>
          <p:nvPr/>
        </p:nvPicPr>
        <p:blipFill>
          <a:blip r:embed="rId3">
            <a:alphaModFix/>
          </a:blip>
          <a:stretch>
            <a:fillRect/>
          </a:stretch>
        </p:blipFill>
        <p:spPr>
          <a:xfrm>
            <a:off x="970625" y="864900"/>
            <a:ext cx="7338875" cy="4113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Map-to-group is efficient: #1</a:t>
            </a:r>
            <a:endParaRPr/>
          </a:p>
        </p:txBody>
      </p:sp>
      <p:graphicFrame>
        <p:nvGraphicFramePr>
          <p:cNvPr id="230" name="Google Shape;230;p34"/>
          <p:cNvGraphicFramePr/>
          <p:nvPr/>
        </p:nvGraphicFramePr>
        <p:xfrm>
          <a:off x="952500" y="1809750"/>
          <a:ext cx="7239000" cy="1981050"/>
        </p:xfrm>
        <a:graphic>
          <a:graphicData uri="http://schemas.openxmlformats.org/drawingml/2006/table">
            <a:tbl>
              <a:tblPr>
                <a:noFill/>
                <a:tableStyleId>{74CC306E-BBAB-4992-8190-F750539B1319}</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b="1"/>
                        <a:t>Instantiation</a:t>
                      </a:r>
                      <a:endParaRPr b="1"/>
                    </a:p>
                  </a:txBody>
                  <a:tcPr marL="91425" marR="91425" marT="91425" marB="91425"/>
                </a:tc>
                <a:tc>
                  <a:txBody>
                    <a:bodyPr/>
                    <a:lstStyle/>
                    <a:p>
                      <a:pPr marL="0" lvl="0" indent="0" algn="l" rtl="0">
                        <a:spcBef>
                          <a:spcPts val="0"/>
                        </a:spcBef>
                        <a:spcAft>
                          <a:spcPts val="0"/>
                        </a:spcAft>
                        <a:buNone/>
                      </a:pPr>
                      <a:r>
                        <a:rPr lang="en" b="1"/>
                        <a:t>Constraints: 1 iter.</a:t>
                      </a:r>
                      <a:endParaRPr b="1"/>
                    </a:p>
                  </a:txBody>
                  <a:tcPr marL="91425" marR="91425" marT="91425" marB="91425"/>
                </a:tc>
                <a:tc>
                  <a:txBody>
                    <a:bodyPr/>
                    <a:lstStyle/>
                    <a:p>
                      <a:pPr marL="0" lvl="0" indent="0" algn="l" rtl="0">
                        <a:spcBef>
                          <a:spcPts val="0"/>
                        </a:spcBef>
                        <a:spcAft>
                          <a:spcPts val="0"/>
                        </a:spcAft>
                        <a:buNone/>
                      </a:pPr>
                      <a:r>
                        <a:rPr lang="en" b="1"/>
                        <a:t>Constraints: 2</a:t>
                      </a:r>
                      <a:r>
                        <a:rPr lang="en" b="1" baseline="30000"/>
                        <a:t>10</a:t>
                      </a:r>
                      <a:r>
                        <a:rPr lang="en" b="1"/>
                        <a:t> iters.</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SHA-256 hash-to-group</a:t>
                      </a:r>
                      <a:endParaRPr/>
                    </a:p>
                  </a:txBody>
                  <a:tcPr marL="91425" marR="91425" marT="91425" marB="91425"/>
                </a:tc>
                <a:tc>
                  <a:txBody>
                    <a:bodyPr/>
                    <a:lstStyle/>
                    <a:p>
                      <a:pPr marL="0" lvl="0" indent="0" algn="l" rtl="0">
                        <a:spcBef>
                          <a:spcPts val="0"/>
                        </a:spcBef>
                        <a:spcAft>
                          <a:spcPts val="0"/>
                        </a:spcAft>
                        <a:buNone/>
                      </a:pPr>
                      <a:r>
                        <a:rPr lang="en"/>
                        <a:t>7,095</a:t>
                      </a:r>
                      <a:endParaRPr/>
                    </a:p>
                  </a:txBody>
                  <a:tcPr marL="91425" marR="91425" marT="91425" marB="91425"/>
                </a:tc>
                <a:tc>
                  <a:txBody>
                    <a:bodyPr/>
                    <a:lstStyle/>
                    <a:p>
                      <a:pPr marL="0" lvl="0" indent="0" algn="l" rtl="0">
                        <a:spcBef>
                          <a:spcPts val="0"/>
                        </a:spcBef>
                        <a:spcAft>
                          <a:spcPts val="0"/>
                        </a:spcAft>
                        <a:buNone/>
                      </a:pPr>
                      <a:r>
                        <a:rPr lang="en"/>
                        <a:t>4,196,023</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Poseidon hash-to-group</a:t>
                      </a:r>
                      <a:endParaRPr/>
                    </a:p>
                  </a:txBody>
                  <a:tcPr marL="91425" marR="91425" marT="91425" marB="91425"/>
                </a:tc>
                <a:tc>
                  <a:txBody>
                    <a:bodyPr/>
                    <a:lstStyle/>
                    <a:p>
                      <a:pPr marL="0" lvl="0" indent="0" algn="l" rtl="0">
                        <a:spcBef>
                          <a:spcPts val="0"/>
                        </a:spcBef>
                        <a:spcAft>
                          <a:spcPts val="0"/>
                        </a:spcAft>
                        <a:buNone/>
                      </a:pPr>
                      <a:r>
                        <a:rPr lang="en"/>
                        <a:t>948</a:t>
                      </a:r>
                      <a:endParaRPr/>
                    </a:p>
                  </a:txBody>
                  <a:tcPr marL="91425" marR="91425" marT="91425" marB="91425"/>
                </a:tc>
                <a:tc>
                  <a:txBody>
                    <a:bodyPr/>
                    <a:lstStyle/>
                    <a:p>
                      <a:pPr marL="0" lvl="0" indent="0" algn="l" rtl="0">
                        <a:spcBef>
                          <a:spcPts val="0"/>
                        </a:spcBef>
                        <a:spcAft>
                          <a:spcPts val="0"/>
                        </a:spcAft>
                        <a:buNone/>
                      </a:pPr>
                      <a:r>
                        <a:rPr lang="en"/>
                        <a:t>954,384</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MiMC hash-to-group</a:t>
                      </a:r>
                      <a:endParaRPr/>
                    </a:p>
                  </a:txBody>
                  <a:tcPr marL="91425" marR="91425" marT="91425" marB="91425"/>
                </a:tc>
                <a:tc>
                  <a:txBody>
                    <a:bodyPr/>
                    <a:lstStyle/>
                    <a:p>
                      <a:pPr marL="0" lvl="0" indent="0" algn="l" rtl="0">
                        <a:spcBef>
                          <a:spcPts val="0"/>
                        </a:spcBef>
                        <a:spcAft>
                          <a:spcPts val="0"/>
                        </a:spcAft>
                        <a:buNone/>
                      </a:pPr>
                      <a:r>
                        <a:rPr lang="en"/>
                        <a:t>351</a:t>
                      </a:r>
                      <a:endParaRPr/>
                    </a:p>
                  </a:txBody>
                  <a:tcPr marL="91425" marR="91425" marT="91425" marB="91425"/>
                </a:tc>
                <a:tc>
                  <a:txBody>
                    <a:bodyPr/>
                    <a:lstStyle/>
                    <a:p>
                      <a:pPr marL="0" lvl="0" indent="0" algn="l" rtl="0">
                        <a:spcBef>
                          <a:spcPts val="0"/>
                        </a:spcBef>
                        <a:spcAft>
                          <a:spcPts val="0"/>
                        </a:spcAft>
                        <a:buNone/>
                      </a:pPr>
                      <a:r>
                        <a:rPr lang="en"/>
                        <a:t>343,056</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Map-to-group relation</a:t>
                      </a:r>
                      <a:endParaRPr/>
                    </a:p>
                  </a:txBody>
                  <a:tcPr marL="91425" marR="91425" marT="91425" marB="91425"/>
                </a:tc>
                <a:tc>
                  <a:txBody>
                    <a:bodyPr/>
                    <a:lstStyle/>
                    <a:p>
                      <a:pPr marL="0" lvl="0" indent="0" algn="l" rtl="0">
                        <a:spcBef>
                          <a:spcPts val="0"/>
                        </a:spcBef>
                        <a:spcAft>
                          <a:spcPts val="0"/>
                        </a:spcAft>
                        <a:buNone/>
                      </a:pPr>
                      <a:r>
                        <a:rPr lang="en"/>
                        <a:t>30</a:t>
                      </a:r>
                      <a:endParaRPr/>
                    </a:p>
                  </a:txBody>
                  <a:tcPr marL="91425" marR="91425" marT="91425" marB="91425"/>
                </a:tc>
                <a:tc>
                  <a:txBody>
                    <a:bodyPr/>
                    <a:lstStyle/>
                    <a:p>
                      <a:pPr marL="0" lvl="0" indent="0" algn="l" rtl="0">
                        <a:spcBef>
                          <a:spcPts val="0"/>
                        </a:spcBef>
                        <a:spcAft>
                          <a:spcPts val="0"/>
                        </a:spcAft>
                        <a:buNone/>
                      </a:pPr>
                      <a:r>
                        <a:rPr lang="en"/>
                        <a:t>14,352</a:t>
                      </a:r>
                      <a:endParaRPr/>
                    </a:p>
                  </a:txBody>
                  <a:tcPr marL="91425" marR="91425" marT="91425" marB="91425"/>
                </a:tc>
                <a:extLst>
                  <a:ext uri="{0D108BD9-81ED-4DB2-BD59-A6C34878D82A}">
                    <a16:rowId xmlns:a16="http://schemas.microsoft.com/office/drawing/2014/main" val="10004"/>
                  </a:ext>
                </a:extLst>
              </a:tr>
            </a:tbl>
          </a:graphicData>
        </a:graphic>
      </p:graphicFrame>
      <p:sp>
        <p:nvSpPr>
          <p:cNvPr id="231" name="Google Shape;231;p34"/>
          <p:cNvSpPr txBox="1"/>
          <p:nvPr/>
        </p:nvSpPr>
        <p:spPr>
          <a:xfrm>
            <a:off x="763900" y="1137275"/>
            <a:ext cx="7427600" cy="428400"/>
          </a:xfrm>
          <a:prstGeom prst="rect">
            <a:avLst/>
          </a:prstGeom>
          <a:noFill/>
          <a:ln>
            <a:noFill/>
          </a:ln>
        </p:spPr>
        <p:txBody>
          <a:bodyPr spcFirstLastPara="1" wrap="square" lIns="91425" tIns="91425" rIns="91425" bIns="91425" anchor="t" anchorCtr="0">
            <a:noAutofit/>
          </a:bodyPr>
          <a:lstStyle/>
          <a:p>
            <a:pPr lvl="0"/>
            <a:r>
              <a:rPr lang="en" sz="1800" dirty="0">
                <a:solidFill>
                  <a:schemeClr val="dk2"/>
                </a:solidFill>
              </a:rPr>
              <a:t>PLONK constraints from Noir over </a:t>
            </a:r>
            <a:r>
              <a:rPr lang="en" sz="1800" dirty="0" err="1">
                <a:solidFill>
                  <a:schemeClr val="dk2"/>
                </a:solidFill>
              </a:rPr>
              <a:t>Grumpkin</a:t>
            </a:r>
            <a:r>
              <a:rPr lang="en" sz="1800" dirty="0">
                <a:solidFill>
                  <a:schemeClr val="dk2"/>
                </a:solidFill>
              </a:rPr>
              <a:t> (</a:t>
            </a:r>
            <a:r>
              <a:rPr lang="en-US" sz="1800" dirty="0">
                <a:solidFill>
                  <a:schemeClr val="dk2"/>
                </a:solidFill>
              </a:rPr>
              <a:t>a 254-bit prime field)</a:t>
            </a:r>
            <a:endParaRPr sz="1800" dirty="0">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Map-to-group is efficient: #2</a:t>
            </a:r>
            <a:endParaRPr/>
          </a:p>
        </p:txBody>
      </p:sp>
      <p:pic>
        <p:nvPicPr>
          <p:cNvPr id="237" name="Google Shape;237;p35"/>
          <p:cNvPicPr preferRelativeResize="0"/>
          <p:nvPr/>
        </p:nvPicPr>
        <p:blipFill>
          <a:blip r:embed="rId3">
            <a:alphaModFix/>
          </a:blip>
          <a:stretch>
            <a:fillRect/>
          </a:stretch>
        </p:blipFill>
        <p:spPr>
          <a:xfrm>
            <a:off x="1781213" y="1122500"/>
            <a:ext cx="5581568" cy="38209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Map-to-group is efficient: #3</a:t>
            </a:r>
            <a:endParaRPr/>
          </a:p>
        </p:txBody>
      </p:sp>
      <p:pic>
        <p:nvPicPr>
          <p:cNvPr id="243" name="Google Shape;243;p36"/>
          <p:cNvPicPr preferRelativeResize="0"/>
          <p:nvPr/>
        </p:nvPicPr>
        <p:blipFill>
          <a:blip r:embed="rId3">
            <a:alphaModFix/>
          </a:blip>
          <a:stretch>
            <a:fillRect/>
          </a:stretch>
        </p:blipFill>
        <p:spPr>
          <a:xfrm>
            <a:off x="1914525" y="1065350"/>
            <a:ext cx="5161846" cy="38209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7"/>
          <p:cNvSpPr txBox="1">
            <a:spLocks noGrp="1"/>
          </p:cNvSpPr>
          <p:nvPr>
            <p:ph type="title"/>
          </p:nvPr>
        </p:nvSpPr>
        <p:spPr>
          <a:xfrm>
            <a:off x="540300" y="25717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Thank you!</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8"/>
          <p:cNvSpPr txBox="1">
            <a:spLocks noGrp="1"/>
          </p:cNvSpPr>
          <p:nvPr>
            <p:ph type="title"/>
          </p:nvPr>
        </p:nvSpPr>
        <p:spPr>
          <a:xfrm>
            <a:off x="540300" y="140131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PS I’m on the tenure-track faculty job market!</a:t>
            </a:r>
            <a:endParaRPr dirty="0"/>
          </a:p>
        </p:txBody>
      </p:sp>
      <p:pic>
        <p:nvPicPr>
          <p:cNvPr id="2" name="Picture 1">
            <a:extLst>
              <a:ext uri="{FF2B5EF4-FFF2-40B4-BE49-F238E27FC236}">
                <a16:creationId xmlns:a16="http://schemas.microsoft.com/office/drawing/2014/main" id="{77BBE0CD-E663-454E-95AA-6497021E6958}"/>
              </a:ext>
            </a:extLst>
          </p:cNvPr>
          <p:cNvPicPr>
            <a:picLocks noChangeAspect="1"/>
          </p:cNvPicPr>
          <p:nvPr/>
        </p:nvPicPr>
        <p:blipFill>
          <a:blip r:embed="rId3"/>
          <a:stretch>
            <a:fillRect/>
          </a:stretch>
        </p:blipFill>
        <p:spPr>
          <a:xfrm>
            <a:off x="4617719" y="2095668"/>
            <a:ext cx="2293689" cy="2288880"/>
          </a:xfrm>
          <a:prstGeom prst="rect">
            <a:avLst/>
          </a:prstGeom>
        </p:spPr>
      </p:pic>
      <p:sp>
        <p:nvSpPr>
          <p:cNvPr id="3" name="TextBox 2">
            <a:extLst>
              <a:ext uri="{FF2B5EF4-FFF2-40B4-BE49-F238E27FC236}">
                <a16:creationId xmlns:a16="http://schemas.microsoft.com/office/drawing/2014/main" id="{11B34B0D-B0AB-8D4A-9F09-C817EE910A5B}"/>
              </a:ext>
            </a:extLst>
          </p:cNvPr>
          <p:cNvSpPr txBox="1"/>
          <p:nvPr/>
        </p:nvSpPr>
        <p:spPr>
          <a:xfrm>
            <a:off x="3807747" y="4506198"/>
            <a:ext cx="3913632" cy="400110"/>
          </a:xfrm>
          <a:prstGeom prst="rect">
            <a:avLst/>
          </a:prstGeom>
          <a:noFill/>
        </p:spPr>
        <p:txBody>
          <a:bodyPr wrap="square" rtlCol="0">
            <a:spAutoFit/>
          </a:bodyPr>
          <a:lstStyle/>
          <a:p>
            <a:pPr algn="ctr"/>
            <a:r>
              <a:rPr lang="en-US" sz="2000" dirty="0">
                <a:solidFill>
                  <a:schemeClr val="dk2"/>
                </a:solidFill>
                <a:latin typeface="Proxima Nova"/>
              </a:rPr>
              <a:t>My </a:t>
            </a:r>
            <a:r>
              <a:rPr lang="en-US" sz="2000" dirty="0">
                <a:solidFill>
                  <a:schemeClr val="dk2"/>
                </a:solidFill>
                <a:latin typeface="Proxima Nova"/>
                <a:sym typeface="Proxima Nova"/>
              </a:rPr>
              <a:t>website</a:t>
            </a:r>
            <a:r>
              <a:rPr lang="en-US" sz="2000" dirty="0">
                <a:solidFill>
                  <a:schemeClr val="dk2"/>
                </a:solidFill>
                <a:latin typeface="Proxima Nova"/>
              </a:rPr>
              <a:t>: </a:t>
            </a:r>
            <a:r>
              <a:rPr lang="en-US" sz="2000" b="1" dirty="0" err="1">
                <a:solidFill>
                  <a:schemeClr val="dk2"/>
                </a:solidFill>
                <a:latin typeface="Proxima Nova"/>
              </a:rPr>
              <a:t>jasleenmalvai.com</a:t>
            </a:r>
            <a:endParaRPr lang="en-US" sz="2000" b="1" dirty="0">
              <a:solidFill>
                <a:schemeClr val="dk2"/>
              </a:solidFill>
              <a:latin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311700" y="25717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Security &amp; Multiset Hashing in zkVMs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262"/>
        <p:cNvGrpSpPr/>
        <p:nvPr/>
      </p:nvGrpSpPr>
      <p:grpSpPr>
        <a:xfrm>
          <a:off x="0" y="0"/>
          <a:ext cx="0" cy="0"/>
          <a:chOff x="0" y="0"/>
          <a:chExt cx="0" cy="0"/>
        </a:xfrm>
      </p:grpSpPr>
      <p:sp>
        <p:nvSpPr>
          <p:cNvPr id="263" name="Google Shape;263;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EC Generic Group Model for Elliptic Curves</a:t>
            </a:r>
            <a:endParaRPr/>
          </a:p>
        </p:txBody>
      </p:sp>
      <p:sp>
        <p:nvSpPr>
          <p:cNvPr id="264" name="Google Shape;264;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68"/>
        <p:cNvGrpSpPr/>
        <p:nvPr/>
      </p:nvGrpSpPr>
      <p:grpSpPr>
        <a:xfrm>
          <a:off x="0" y="0"/>
          <a:ext cx="0" cy="0"/>
          <a:chOff x="0" y="0"/>
          <a:chExt cx="0" cy="0"/>
        </a:xfrm>
      </p:grpSpPr>
      <p:sp>
        <p:nvSpPr>
          <p:cNvPr id="269" name="Google Shape;269;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Constraint-Friendly Multiset Hashing for zkVM Memory</a:t>
            </a:r>
            <a:endParaRPr/>
          </a:p>
        </p:txBody>
      </p:sp>
      <p:sp>
        <p:nvSpPr>
          <p:cNvPr id="270" name="Google Shape;270;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Read/Write Set: Drawback</a:t>
            </a:r>
            <a:endParaRPr/>
          </a:p>
        </p:txBody>
      </p:sp>
      <p:sp>
        <p:nvSpPr>
          <p:cNvPr id="276" name="Google Shape;276;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Existing solutions consist of a primitive called “Multiset Hashing”.</a:t>
            </a:r>
            <a:endParaRPr/>
          </a:p>
          <a:p>
            <a:pPr marL="457200" lvl="0" indent="-342900" algn="l" rtl="0">
              <a:spcBef>
                <a:spcPts val="0"/>
              </a:spcBef>
              <a:spcAft>
                <a:spcPts val="0"/>
              </a:spcAft>
              <a:buSzPts val="1800"/>
              <a:buChar char="●"/>
            </a:pPr>
            <a:endParaRPr/>
          </a:p>
        </p:txBody>
      </p:sp>
      <p:pic>
        <p:nvPicPr>
          <p:cNvPr id="277" name="Google Shape;277;p42"/>
          <p:cNvPicPr preferRelativeResize="0"/>
          <p:nvPr/>
        </p:nvPicPr>
        <p:blipFill>
          <a:blip r:embed="rId3">
            <a:alphaModFix/>
          </a:blip>
          <a:stretch>
            <a:fillRect/>
          </a:stretch>
        </p:blipFill>
        <p:spPr>
          <a:xfrm>
            <a:off x="311700" y="2338474"/>
            <a:ext cx="3992873" cy="2230400"/>
          </a:xfrm>
          <a:prstGeom prst="rect">
            <a:avLst/>
          </a:prstGeom>
          <a:noFill/>
          <a:ln>
            <a:noFill/>
          </a:ln>
        </p:spPr>
      </p:pic>
      <p:pic>
        <p:nvPicPr>
          <p:cNvPr id="278" name="Google Shape;278;p42"/>
          <p:cNvPicPr preferRelativeResize="0"/>
          <p:nvPr/>
        </p:nvPicPr>
        <p:blipFill>
          <a:blip r:embed="rId4">
            <a:alphaModFix/>
          </a:blip>
          <a:stretch>
            <a:fillRect/>
          </a:stretch>
        </p:blipFill>
        <p:spPr>
          <a:xfrm>
            <a:off x="4741625" y="2616850"/>
            <a:ext cx="4137201" cy="21372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282"/>
        <p:cNvGrpSpPr/>
        <p:nvPr/>
      </p:nvGrpSpPr>
      <p:grpSpPr>
        <a:xfrm>
          <a:off x="0" y="0"/>
          <a:ext cx="0" cy="0"/>
          <a:chOff x="0" y="0"/>
          <a:chExt cx="0" cy="0"/>
        </a:xfrm>
      </p:grpSpPr>
      <p:sp>
        <p:nvSpPr>
          <p:cNvPr id="283" name="Google Shape;283;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Minimal Requirements &amp; New Dangers</a:t>
            </a:r>
            <a:endParaRPr/>
          </a:p>
        </p:txBody>
      </p:sp>
      <p:sp>
        <p:nvSpPr>
          <p:cNvPr id="284" name="Google Shape;284;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a:solidFill>
                  <a:schemeClr val="dk1"/>
                </a:solidFill>
              </a:rPr>
              <a:t>First, the good news:</a:t>
            </a:r>
            <a:endParaRPr sz="1100">
              <a:solidFill>
                <a:schemeClr val="dk1"/>
              </a:solidFill>
            </a:endParaRPr>
          </a:p>
          <a:p>
            <a:pPr marL="457200" lvl="0" indent="-298450" algn="l" rtl="0">
              <a:spcBef>
                <a:spcPts val="1200"/>
              </a:spcBef>
              <a:spcAft>
                <a:spcPts val="0"/>
              </a:spcAft>
              <a:buClr>
                <a:schemeClr val="dk1"/>
              </a:buClr>
              <a:buSzPts val="1100"/>
              <a:buChar char="●"/>
            </a:pPr>
            <a:r>
              <a:rPr lang="en" sz="1100">
                <a:solidFill>
                  <a:schemeClr val="dk1"/>
                </a:solidFill>
              </a:rPr>
              <a:t>If we have an injective map-to-group f:M→G, then</a:t>
            </a:r>
            <a:br>
              <a:rPr lang="en" sz="1100">
                <a:solidFill>
                  <a:schemeClr val="dk1"/>
                </a:solidFill>
              </a:rPr>
            </a:br>
            <a:r>
              <a:rPr lang="en" sz="1100">
                <a:solidFill>
                  <a:schemeClr val="dk1"/>
                </a:solidFill>
              </a:rPr>
              <a:t>	MSH(S)=∑m∈Sf(m) </a:t>
            </a:r>
            <a:br>
              <a:rPr lang="en" sz="1100">
                <a:solidFill>
                  <a:schemeClr val="dk1"/>
                </a:solidFill>
              </a:rPr>
            </a:br>
            <a:r>
              <a:rPr lang="en" sz="1100">
                <a:solidFill>
                  <a:schemeClr val="dk1"/>
                </a:solidFill>
              </a:rPr>
              <a:t>still gives compression &amp; incrementality.</a:t>
            </a:r>
            <a:endParaRPr sz="1100">
              <a:solidFill>
                <a:schemeClr val="dk1"/>
              </a:solidFill>
            </a:endParaRPr>
          </a:p>
          <a:p>
            <a:pPr marL="457200" lvl="0" indent="-298450" algn="l" rtl="0">
              <a:spcBef>
                <a:spcPts val="0"/>
              </a:spcBef>
              <a:spcAft>
                <a:spcPts val="0"/>
              </a:spcAft>
              <a:buClr>
                <a:schemeClr val="dk1"/>
              </a:buClr>
              <a:buSzPts val="1100"/>
              <a:buChar char="●"/>
            </a:pPr>
            <a:r>
              <a:rPr lang="en" sz="1100">
                <a:solidFill>
                  <a:schemeClr val="dk1"/>
                </a:solidFill>
              </a:rPr>
              <a:t>In EC-GGM, collision-finding reduces to breaking a linear relation in random group elements.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chemeClr val="dk1"/>
                </a:solidFill>
              </a:rPr>
              <a:t>Then the “danger”:</a:t>
            </a:r>
            <a:endParaRPr sz="1100">
              <a:solidFill>
                <a:schemeClr val="dk1"/>
              </a:solidFill>
            </a:endParaRPr>
          </a:p>
          <a:p>
            <a:pPr marL="457200" lvl="0" indent="-298450" algn="l" rtl="0">
              <a:spcBef>
                <a:spcPts val="1200"/>
              </a:spcBef>
              <a:spcAft>
                <a:spcPts val="0"/>
              </a:spcAft>
              <a:buClr>
                <a:schemeClr val="dk1"/>
              </a:buClr>
              <a:buSzPts val="1100"/>
              <a:buChar char="●"/>
            </a:pPr>
            <a:r>
              <a:rPr lang="en" sz="1100">
                <a:solidFill>
                  <a:schemeClr val="dk1"/>
                </a:solidFill>
              </a:rPr>
              <a:t>If f is not </a:t>
            </a:r>
            <a:r>
              <a:rPr lang="en" sz="1100" i="1">
                <a:solidFill>
                  <a:schemeClr val="dk1"/>
                </a:solidFill>
              </a:rPr>
              <a:t>inverse-excluding</a:t>
            </a:r>
            <a:r>
              <a:rPr lang="en" sz="1100">
                <a:solidFill>
                  <a:schemeClr val="dk1"/>
                </a:solidFill>
              </a:rPr>
              <a:t> (e.g. it maps both mm and m′m′ to PP and −P−P), a low-weight relation can give trivial collisions.</a:t>
            </a:r>
            <a:endParaRPr sz="1100">
              <a:solidFill>
                <a:schemeClr val="dk1"/>
              </a:solidFill>
            </a:endParaRPr>
          </a:p>
          <a:p>
            <a:pPr marL="0" lvl="0" indent="0" algn="l" rtl="0">
              <a:spcBef>
                <a:spcPts val="1200"/>
              </a:spcBef>
              <a:spcAft>
                <a:spcPts val="0"/>
              </a:spcAft>
              <a:buClr>
                <a:schemeClr val="dk1"/>
              </a:buClr>
              <a:buSzPts val="1100"/>
              <a:buFont typeface="Arial"/>
              <a:buNone/>
            </a:pPr>
            <a:r>
              <a:rPr lang="en" sz="1100">
                <a:solidFill>
                  <a:schemeClr val="dk1"/>
                </a:solidFill>
              </a:rPr>
              <a:t>Define on-slide:</a:t>
            </a:r>
            <a:endParaRPr sz="1100">
              <a:solidFill>
                <a:schemeClr val="dk1"/>
              </a:solidFill>
            </a:endParaRPr>
          </a:p>
          <a:p>
            <a:pPr marL="457200" lvl="0" indent="-298450" algn="l" rtl="0">
              <a:spcBef>
                <a:spcPts val="1200"/>
              </a:spcBef>
              <a:spcAft>
                <a:spcPts val="0"/>
              </a:spcAft>
              <a:buClr>
                <a:schemeClr val="dk1"/>
              </a:buClr>
              <a:buSzPts val="1100"/>
              <a:buChar char="●"/>
            </a:pPr>
            <a:r>
              <a:rPr lang="en" sz="1100">
                <a:solidFill>
                  <a:schemeClr val="dk1"/>
                </a:solidFill>
              </a:rPr>
              <a:t>Injective and </a:t>
            </a:r>
            <a:r>
              <a:rPr lang="en" sz="1100" b="1">
                <a:solidFill>
                  <a:schemeClr val="dk1"/>
                </a:solidFill>
              </a:rPr>
              <a:t>inverse-excluding</a:t>
            </a:r>
            <a:r>
              <a:rPr lang="en" sz="1100">
                <a:solidFill>
                  <a:schemeClr val="dk1"/>
                </a:solidFill>
              </a:rPr>
              <a:t> (no message maps to both PP and −P−P).</a:t>
            </a:r>
            <a:endParaRPr sz="1100">
              <a:solidFill>
                <a:schemeClr val="dk1"/>
              </a:solidFill>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1675</TotalTime>
  <Words>3881</Words>
  <Application>Microsoft Macintosh PowerPoint</Application>
  <PresentationFormat>On-screen Show (16:9)</PresentationFormat>
  <Paragraphs>457</Paragraphs>
  <Slides>32</Slides>
  <Notes>32</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Cambria Math</vt:lpstr>
      <vt:lpstr>Proxima Nova</vt:lpstr>
      <vt:lpstr>Arial</vt:lpstr>
      <vt:lpstr>Alfa Slab One</vt:lpstr>
      <vt:lpstr>Gameday</vt:lpstr>
      <vt:lpstr>Constraint-Friendly Map-to-Elliptic-Curve-Group Relations (and Their Applications)</vt:lpstr>
      <vt:lpstr>Multiset Hash Functions</vt:lpstr>
      <vt:lpstr>Multiset Hash Functions</vt:lpstr>
      <vt:lpstr>Multiset Hash Function: Classical Construction</vt:lpstr>
      <vt:lpstr>Multiset Hash Functions</vt:lpstr>
      <vt:lpstr>Programming Model for Proof Systems: Constraint Programming</vt:lpstr>
      <vt:lpstr>Constraint system motivation: zkVM Memory Consistency</vt:lpstr>
      <vt:lpstr>zkVM Memory Consistency via Multiset Hashes </vt:lpstr>
      <vt:lpstr>zkVM Memory Consistency via Multiset Hashes </vt:lpstr>
      <vt:lpstr>From Hash-to-Group to Map-to-Group Relations</vt:lpstr>
      <vt:lpstr>Hash-to-Group Example Construction</vt:lpstr>
      <vt:lpstr>Hash-to-Group Example Construction</vt:lpstr>
      <vt:lpstr>Why Hash-to-Group is a Problem in Circuits</vt:lpstr>
      <vt:lpstr>Why do we need the hash function? (Part I) </vt:lpstr>
      <vt:lpstr>Why do we need the hash function? (Part II) </vt:lpstr>
      <vt:lpstr>The Generic Group Model</vt:lpstr>
      <vt:lpstr>Map-to-Group is ALL YOU NEED</vt:lpstr>
      <vt:lpstr>Map-to-Group is ALL YOU NEED</vt:lpstr>
      <vt:lpstr>Map-to-Group Function [BLS’01]</vt:lpstr>
      <vt:lpstr>Map-to-Group Languages and Relations</vt:lpstr>
      <vt:lpstr>Map-to-Group Languages and Relations</vt:lpstr>
      <vt:lpstr>Map-to-Elliptic Curve</vt:lpstr>
      <vt:lpstr>Map-to-group is efficient: #1</vt:lpstr>
      <vt:lpstr>Map-to-group is efficient: #2</vt:lpstr>
      <vt:lpstr>Map-to-group is efficient: #3</vt:lpstr>
      <vt:lpstr>Thank you!</vt:lpstr>
      <vt:lpstr>PS I’m on the tenure-track faculty job market!</vt:lpstr>
      <vt:lpstr>Security &amp; Multiset Hashing in zkVMs</vt:lpstr>
      <vt:lpstr>EC Generic Group Model for Elliptic Curves</vt:lpstr>
      <vt:lpstr>Constraint-Friendly Multiset Hashing for zkVM Memory</vt:lpstr>
      <vt:lpstr>Read/Write Set: Drawback</vt:lpstr>
      <vt:lpstr>Minimal Requirements &amp; New Dangers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Constraint-Friendly Map-to-Elliptic-Curve-Group Relations (and Their Applications)</dc:title>
  <cp:lastModifiedBy>Harjasleen Malvai</cp:lastModifiedBy>
  <cp:revision>23</cp:revision>
  <cp:lastPrinted>2025-12-09T22:13:17Z</cp:lastPrinted>
  <dcterms:modified xsi:type="dcterms:W3CDTF">2025-12-09T22:15:00Z</dcterms:modified>
</cp:coreProperties>
</file>